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80" r:id="rId2"/>
    <p:sldId id="505" r:id="rId3"/>
    <p:sldId id="506" r:id="rId4"/>
    <p:sldId id="507" r:id="rId5"/>
    <p:sldId id="511" r:id="rId6"/>
    <p:sldId id="513" r:id="rId7"/>
    <p:sldId id="508" r:id="rId8"/>
    <p:sldId id="514" r:id="rId9"/>
    <p:sldId id="515" r:id="rId10"/>
    <p:sldId id="518" r:id="rId11"/>
    <p:sldId id="520" r:id="rId12"/>
    <p:sldId id="521" r:id="rId13"/>
    <p:sldId id="522" r:id="rId14"/>
    <p:sldId id="509" r:id="rId15"/>
    <p:sldId id="516" r:id="rId16"/>
    <p:sldId id="523" r:id="rId17"/>
    <p:sldId id="517" r:id="rId18"/>
    <p:sldId id="510" r:id="rId19"/>
    <p:sldId id="504" r:id="rId20"/>
    <p:sldId id="434" r:id="rId21"/>
  </p:sldIdLst>
  <p:sldSz cx="9144000" cy="6858000" type="screen4x3"/>
  <p:notesSz cx="7099300" cy="102346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0033CC"/>
    <a:srgbClr val="FF9966"/>
    <a:srgbClr val="3366CC"/>
    <a:srgbClr val="0066CC"/>
    <a:srgbClr val="33CCFF"/>
    <a:srgbClr val="66CC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25" autoAdjust="0"/>
    <p:restoredTop sz="76327" autoAdjust="0"/>
  </p:normalViewPr>
  <p:slideViewPr>
    <p:cSldViewPr>
      <p:cViewPr varScale="1">
        <p:scale>
          <a:sx n="131" d="100"/>
          <a:sy n="131" d="100"/>
        </p:scale>
        <p:origin x="2536" y="176"/>
      </p:cViewPr>
      <p:guideLst>
        <p:guide orient="horz" pos="2160"/>
        <p:guide pos="1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818" y="-7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0523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9325" y="4892675"/>
            <a:ext cx="5200650" cy="426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663" tIns="44536" rIns="90663" bIns="445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Haga clic para editar el estilo del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5225" y="898525"/>
            <a:ext cx="4767263" cy="3575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40185837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nuestro caso nuestros agentes no son especialmente inteligentes (ni mucho menos BDI) pero esta metodología nos permitirá ordenar un poco las ideas y tener una visión más clara a nivel general de nuestro sistema, nos permitirá generar diagramas para la documentación, nos permitirá pensar sobre el problema y plantear dudas en las primeras fases.</a:t>
            </a:r>
          </a:p>
        </p:txBody>
      </p:sp>
    </p:spTree>
    <p:extLst>
      <p:ext uri="{BB962C8B-B14F-4D97-AF65-F5344CB8AC3E}">
        <p14:creationId xmlns:p14="http://schemas.microsoft.com/office/powerpoint/2010/main" val="1123737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 haremos diseño detallado. Usaremos </a:t>
            </a:r>
            <a:r>
              <a:rPr lang="es-ES" dirty="0" err="1"/>
              <a:t>Prometheus</a:t>
            </a:r>
            <a:r>
              <a:rPr lang="es-ES" dirty="0"/>
              <a:t> con varios propósitos:</a:t>
            </a:r>
          </a:p>
          <a:p>
            <a:endParaRPr lang="es-ES" dirty="0"/>
          </a:p>
          <a:p>
            <a:pPr marL="171450" indent="-171450">
              <a:buFontTx/>
              <a:buChar char="-"/>
            </a:pPr>
            <a:r>
              <a:rPr lang="es-ES" dirty="0"/>
              <a:t>Tener una visión clara del sistema a alto nivel (general)</a:t>
            </a:r>
          </a:p>
          <a:p>
            <a:pPr marL="171450" indent="-171450">
              <a:buFontTx/>
              <a:buChar char="-"/>
            </a:pPr>
            <a:r>
              <a:rPr lang="es-ES" dirty="0"/>
              <a:t>Usar parcialmente una metodología de diseño y aprender sobre PDT</a:t>
            </a:r>
          </a:p>
          <a:p>
            <a:pPr marL="171450" indent="-171450">
              <a:buFontTx/>
              <a:buChar char="-"/>
            </a:pPr>
            <a:r>
              <a:rPr lang="es-ES" dirty="0"/>
              <a:t>Para generar algunos diagramas/artefactos para la documentación</a:t>
            </a:r>
          </a:p>
        </p:txBody>
      </p:sp>
    </p:spTree>
    <p:extLst>
      <p:ext uri="{BB962C8B-B14F-4D97-AF65-F5344CB8AC3E}">
        <p14:creationId xmlns:p14="http://schemas.microsoft.com/office/powerpoint/2010/main" val="3813755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32017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Trabajaremos con un ejemplo de un tutorial https://</a:t>
            </a:r>
            <a:r>
              <a:rPr lang="es-ES" dirty="0" err="1"/>
              <a:t>sites.google.com</a:t>
            </a:r>
            <a:r>
              <a:rPr lang="es-ES" dirty="0"/>
              <a:t>/</a:t>
            </a:r>
            <a:r>
              <a:rPr lang="es-ES" dirty="0" err="1"/>
              <a:t>site</a:t>
            </a:r>
            <a:r>
              <a:rPr lang="es-ES" dirty="0"/>
              <a:t>/</a:t>
            </a:r>
            <a:r>
              <a:rPr lang="es-ES" dirty="0" err="1"/>
              <a:t>rmitagents</a:t>
            </a:r>
            <a:r>
              <a:rPr lang="es-ES" dirty="0"/>
              <a:t>/software/</a:t>
            </a:r>
            <a:r>
              <a:rPr lang="es-ES" dirty="0" err="1"/>
              <a:t>prometheusPDT</a:t>
            </a:r>
            <a:r>
              <a:rPr lang="es-ES" dirty="0"/>
              <a:t>/</a:t>
            </a:r>
            <a:r>
              <a:rPr lang="es-ES" dirty="0" err="1"/>
              <a:t>tutorials</a:t>
            </a:r>
            <a:r>
              <a:rPr lang="es-ES" dirty="0"/>
              <a:t>/</a:t>
            </a:r>
            <a:r>
              <a:rPr lang="es-ES" dirty="0" err="1"/>
              <a:t>meteorology</a:t>
            </a:r>
            <a:endParaRPr lang="es-ES" dirty="0"/>
          </a:p>
          <a:p>
            <a:r>
              <a:rPr lang="es-ES" dirty="0"/>
              <a:t>Básicamente un sistema de alertas de climatología en aeropuertos. Tenemos un servicio/persona que predice el tiempo para una serie de aeropuertos (cada 12 horas) al que nos podemos suscribir</a:t>
            </a:r>
          </a:p>
          <a:p>
            <a:r>
              <a:rPr lang="es-ES" dirty="0"/>
              <a:t>Tenemos Sensores de climatología de aeropuertos (AWS) que proporcionan el estado climatológico del aeropuerto cada 15 minutos o bajo demanda (mide a cada minuto). Tenemos Usuarios que mediante una GUI accederán a la información de alertas y de suscripciones.</a:t>
            </a:r>
          </a:p>
          <a:p>
            <a:endParaRPr lang="es-ES" dirty="0"/>
          </a:p>
          <a:p>
            <a:endParaRPr lang="es-ES" dirty="0"/>
          </a:p>
          <a:p>
            <a:pPr marL="171450" indent="-171450">
              <a:buFontTx/>
              <a:buChar char="-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889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Actores: Usuario, AWS aeropuerto y </a:t>
            </a:r>
            <a:r>
              <a:rPr lang="es-ES" dirty="0" err="1"/>
              <a:t>Forescaster</a:t>
            </a:r>
            <a:endParaRPr lang="es-ES" dirty="0"/>
          </a:p>
          <a:p>
            <a:endParaRPr lang="es-ES" dirty="0"/>
          </a:p>
          <a:p>
            <a:r>
              <a:rPr lang="es-ES" dirty="0"/>
              <a:t>Tenemos 3 escenarios a alto nivel:</a:t>
            </a:r>
          </a:p>
          <a:p>
            <a:r>
              <a:rPr lang="es-ES" dirty="0"/>
              <a:t>Suscripción de usuario</a:t>
            </a:r>
          </a:p>
          <a:p>
            <a:r>
              <a:rPr lang="es-ES" dirty="0"/>
              <a:t>Alertar usuario</a:t>
            </a:r>
          </a:p>
          <a:p>
            <a:r>
              <a:rPr lang="es-ES" dirty="0"/>
              <a:t>Obtener datos</a:t>
            </a:r>
          </a:p>
          <a:p>
            <a:endParaRPr lang="es-ES" dirty="0"/>
          </a:p>
          <a:p>
            <a:r>
              <a:rPr lang="es-ES" dirty="0"/>
              <a:t>Percepciones:</a:t>
            </a:r>
          </a:p>
          <a:p>
            <a:pPr marL="171450" indent="-171450">
              <a:buFontTx/>
              <a:buChar char="-"/>
            </a:pPr>
            <a:r>
              <a:rPr lang="es-ES" dirty="0"/>
              <a:t>Suscripción</a:t>
            </a:r>
          </a:p>
          <a:p>
            <a:pPr marL="171450" indent="-171450">
              <a:buFontTx/>
              <a:buChar char="-"/>
            </a:pPr>
            <a:r>
              <a:rPr lang="es-ES" dirty="0"/>
              <a:t>Lectura de AWS</a:t>
            </a:r>
          </a:p>
          <a:p>
            <a:pPr marL="171450" indent="-171450">
              <a:buFontTx/>
              <a:buChar char="-"/>
            </a:pPr>
            <a:r>
              <a:rPr lang="es-ES" dirty="0"/>
              <a:t>Datos de predicción (TAF)</a:t>
            </a:r>
          </a:p>
          <a:p>
            <a:pPr marL="171450" indent="-171450">
              <a:buFontTx/>
              <a:buChar char="-"/>
            </a:pPr>
            <a:endParaRPr lang="es-ES" dirty="0"/>
          </a:p>
          <a:p>
            <a:pPr marL="0" indent="0">
              <a:buFontTx/>
              <a:buNone/>
            </a:pPr>
            <a:r>
              <a:rPr lang="es-ES" dirty="0"/>
              <a:t>Acciones</a:t>
            </a:r>
          </a:p>
          <a:p>
            <a:pPr marL="171450" indent="-171450">
              <a:buFontTx/>
              <a:buChar char="-"/>
            </a:pPr>
            <a:r>
              <a:rPr lang="es-ES" dirty="0"/>
              <a:t>Mostrar aviso</a:t>
            </a:r>
          </a:p>
          <a:p>
            <a:pPr marL="171450" indent="-171450">
              <a:buFontTx/>
              <a:buChar char="-"/>
            </a:pPr>
            <a:r>
              <a:rPr lang="es-ES" dirty="0"/>
              <a:t>Suscripción a AWS / Suscripción a TAF</a:t>
            </a:r>
          </a:p>
          <a:p>
            <a:pPr marL="171450" indent="-171450">
              <a:buFontTx/>
              <a:buChar char="-"/>
            </a:pPr>
            <a:r>
              <a:rPr lang="es-ES" dirty="0"/>
              <a:t>Petición de datos</a:t>
            </a:r>
          </a:p>
        </p:txBody>
      </p:sp>
    </p:spTree>
    <p:extLst>
      <p:ext uri="{BB962C8B-B14F-4D97-AF65-F5344CB8AC3E}">
        <p14:creationId xmlns:p14="http://schemas.microsoft.com/office/powerpoint/2010/main" val="909331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Al definir los escenarios en el </a:t>
            </a:r>
            <a:r>
              <a:rPr lang="es-ES" dirty="0" err="1"/>
              <a:t>Analysis</a:t>
            </a:r>
            <a:r>
              <a:rPr lang="es-ES" dirty="0"/>
              <a:t> </a:t>
            </a:r>
            <a:r>
              <a:rPr lang="es-ES" dirty="0" err="1"/>
              <a:t>Overview</a:t>
            </a:r>
            <a:r>
              <a:rPr lang="es-ES" dirty="0"/>
              <a:t>, aparecerán en </a:t>
            </a:r>
            <a:r>
              <a:rPr lang="es-ES" dirty="0" err="1"/>
              <a:t>Scenarios</a:t>
            </a:r>
            <a:r>
              <a:rPr lang="es-ES" dirty="0"/>
              <a:t> </a:t>
            </a:r>
            <a:r>
              <a:rPr lang="es-ES" dirty="0" err="1"/>
              <a:t>Overview</a:t>
            </a:r>
            <a:r>
              <a:rPr lang="es-ES" dirty="0"/>
              <a:t>. Cada escenario se le generará automáticamente un </a:t>
            </a:r>
            <a:r>
              <a:rPr lang="es-ES" dirty="0" err="1"/>
              <a:t>Goal</a:t>
            </a:r>
            <a:r>
              <a:rPr lang="es-ES" dirty="0"/>
              <a:t> (mirar en </a:t>
            </a:r>
            <a:r>
              <a:rPr lang="es-ES" dirty="0" err="1"/>
              <a:t>Goal</a:t>
            </a:r>
            <a:r>
              <a:rPr lang="es-ES" dirty="0"/>
              <a:t> </a:t>
            </a:r>
            <a:r>
              <a:rPr lang="es-ES" dirty="0" err="1"/>
              <a:t>overview</a:t>
            </a:r>
            <a:r>
              <a:rPr lang="es-ES" dirty="0"/>
              <a:t>) quitando la palabra </a:t>
            </a:r>
            <a:r>
              <a:rPr lang="es-ES" dirty="0" err="1"/>
              <a:t>scenario</a:t>
            </a:r>
            <a:r>
              <a:rPr lang="es-ES" dirty="0"/>
              <a:t> del final y poniendo </a:t>
            </a:r>
            <a:r>
              <a:rPr lang="es-ES" dirty="0" err="1"/>
              <a:t>goal</a:t>
            </a:r>
            <a:r>
              <a:rPr lang="es-ES" dirty="0"/>
              <a:t>. Se puede cambiar el nombre en las propiedades del </a:t>
            </a:r>
            <a:r>
              <a:rPr lang="es-ES" dirty="0" err="1"/>
              <a:t>Goal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8004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Al definir los escenarios en el </a:t>
            </a:r>
            <a:r>
              <a:rPr lang="es-ES" dirty="0" err="1"/>
              <a:t>Analysis</a:t>
            </a:r>
            <a:r>
              <a:rPr lang="es-ES" dirty="0"/>
              <a:t> </a:t>
            </a:r>
            <a:r>
              <a:rPr lang="es-ES" dirty="0" err="1"/>
              <a:t>Overview</a:t>
            </a:r>
            <a:r>
              <a:rPr lang="es-ES" dirty="0"/>
              <a:t>, aparecerán en </a:t>
            </a:r>
            <a:r>
              <a:rPr lang="es-ES" dirty="0" err="1"/>
              <a:t>Scenarios</a:t>
            </a:r>
            <a:r>
              <a:rPr lang="es-ES" dirty="0"/>
              <a:t> </a:t>
            </a:r>
            <a:r>
              <a:rPr lang="es-ES" dirty="0" err="1"/>
              <a:t>Overview</a:t>
            </a:r>
            <a:r>
              <a:rPr lang="es-ES" dirty="0"/>
              <a:t>. Cada escenario se le generará automáticamente un </a:t>
            </a:r>
            <a:r>
              <a:rPr lang="es-ES" dirty="0" err="1"/>
              <a:t>Goal</a:t>
            </a:r>
            <a:r>
              <a:rPr lang="es-ES" dirty="0"/>
              <a:t> (mirar en </a:t>
            </a:r>
            <a:r>
              <a:rPr lang="es-ES" dirty="0" err="1"/>
              <a:t>Goal</a:t>
            </a:r>
            <a:r>
              <a:rPr lang="es-ES" dirty="0"/>
              <a:t> </a:t>
            </a:r>
            <a:r>
              <a:rPr lang="es-ES" dirty="0" err="1"/>
              <a:t>overview</a:t>
            </a:r>
            <a:r>
              <a:rPr lang="es-ES" dirty="0"/>
              <a:t>) quitando la palabra </a:t>
            </a:r>
            <a:r>
              <a:rPr lang="es-ES" dirty="0" err="1"/>
              <a:t>scenario</a:t>
            </a:r>
            <a:r>
              <a:rPr lang="es-ES" dirty="0"/>
              <a:t> del final y poniendo </a:t>
            </a:r>
            <a:r>
              <a:rPr lang="es-ES" dirty="0" err="1"/>
              <a:t>goal</a:t>
            </a:r>
            <a:r>
              <a:rPr lang="es-ES" dirty="0"/>
              <a:t>. Se puede cambiar el nombre en las propiedades del </a:t>
            </a:r>
            <a:r>
              <a:rPr lang="es-ES" dirty="0" err="1"/>
              <a:t>Goal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Ejemplo de </a:t>
            </a:r>
            <a:r>
              <a:rPr lang="es-ES" dirty="0" err="1"/>
              <a:t>steps</a:t>
            </a:r>
            <a:r>
              <a:rPr lang="es-ES" dirty="0"/>
              <a:t> para </a:t>
            </a:r>
            <a:r>
              <a:rPr lang="es-ES" dirty="0" err="1"/>
              <a:t>Obtain</a:t>
            </a:r>
            <a:r>
              <a:rPr lang="es-ES" dirty="0"/>
              <a:t> TAF Data </a:t>
            </a:r>
            <a:r>
              <a:rPr lang="es-ES" dirty="0" err="1"/>
              <a:t>Scenario</a:t>
            </a:r>
            <a:r>
              <a:rPr lang="es-ES" dirty="0"/>
              <a:t>:</a:t>
            </a:r>
          </a:p>
          <a:p>
            <a:r>
              <a:rPr lang="es-ES" dirty="0"/>
              <a:t>	- Suscribirse al </a:t>
            </a:r>
            <a:r>
              <a:rPr lang="es-ES" dirty="0" err="1"/>
              <a:t>Forecaster</a:t>
            </a:r>
            <a:r>
              <a:rPr lang="es-ES" dirty="0"/>
              <a:t> (</a:t>
            </a:r>
            <a:r>
              <a:rPr lang="es-ES" dirty="0" err="1"/>
              <a:t>Action</a:t>
            </a:r>
            <a:r>
              <a:rPr lang="es-ES" dirty="0"/>
              <a:t>)</a:t>
            </a:r>
          </a:p>
          <a:p>
            <a:r>
              <a:rPr lang="es-ES" dirty="0"/>
              <a:t>	- Llegada de datos de los aeropuertos (</a:t>
            </a:r>
            <a:r>
              <a:rPr lang="es-ES" dirty="0" err="1"/>
              <a:t>Percept</a:t>
            </a:r>
            <a:r>
              <a:rPr lang="es-ES" dirty="0"/>
              <a:t>)</a:t>
            </a:r>
          </a:p>
          <a:p>
            <a:r>
              <a:rPr lang="es-ES" dirty="0"/>
              <a:t>	- División de los datos por aeropuertos individuales y comunicación de las predicciones individuales a los correspondientes aeropuertos (</a:t>
            </a:r>
            <a:r>
              <a:rPr lang="es-ES" dirty="0" err="1"/>
              <a:t>Goal</a:t>
            </a:r>
            <a:r>
              <a:rPr lang="es-ES" dirty="0"/>
              <a:t>)</a:t>
            </a:r>
          </a:p>
          <a:p>
            <a:r>
              <a:rPr lang="es-ES" dirty="0"/>
              <a:t>	- Recepción de la predicción individual en el aeropuerto (</a:t>
            </a:r>
            <a:r>
              <a:rPr lang="es-ES" dirty="0" err="1"/>
              <a:t>Goal</a:t>
            </a:r>
            <a:r>
              <a:rPr lang="es-ES" dirty="0"/>
              <a:t>)</a:t>
            </a:r>
          </a:p>
          <a:p>
            <a:r>
              <a:rPr lang="es-ES" dirty="0"/>
              <a:t>	- Almacenamiento de la predicción en el sistema de datos apropiado (</a:t>
            </a:r>
            <a:r>
              <a:rPr lang="es-ES" dirty="0" err="1"/>
              <a:t>Goal</a:t>
            </a:r>
            <a:r>
              <a:rPr lang="es-ES" dirty="0"/>
              <a:t>)</a:t>
            </a:r>
          </a:p>
          <a:p>
            <a:endParaRPr lang="es-ES" dirty="0"/>
          </a:p>
          <a:p>
            <a:r>
              <a:rPr lang="es-ES" dirty="0" err="1"/>
              <a:t>Obtain</a:t>
            </a:r>
            <a:r>
              <a:rPr lang="es-ES" dirty="0"/>
              <a:t> AWS Data </a:t>
            </a:r>
            <a:r>
              <a:rPr lang="es-ES" dirty="0" err="1"/>
              <a:t>Scenario</a:t>
            </a:r>
            <a:endParaRPr lang="es-ES" dirty="0"/>
          </a:p>
          <a:p>
            <a:r>
              <a:rPr lang="es-ES" dirty="0"/>
              <a:t>	- </a:t>
            </a:r>
            <a:r>
              <a:rPr lang="es-ES" dirty="0" err="1"/>
              <a:t>Subscribing</a:t>
            </a:r>
            <a:r>
              <a:rPr lang="es-ES" dirty="0"/>
              <a:t> to </a:t>
            </a:r>
            <a:r>
              <a:rPr lang="es-ES" dirty="0" err="1"/>
              <a:t>the</a:t>
            </a:r>
            <a:r>
              <a:rPr lang="es-ES" dirty="0"/>
              <a:t> AWS sensor (</a:t>
            </a:r>
            <a:r>
              <a:rPr lang="es-ES" dirty="0" err="1"/>
              <a:t>Action</a:t>
            </a:r>
            <a:r>
              <a:rPr lang="es-ES" dirty="0"/>
              <a:t>)</a:t>
            </a:r>
          </a:p>
          <a:p>
            <a:r>
              <a:rPr lang="es-ES" dirty="0"/>
              <a:t>	- Data </a:t>
            </a:r>
            <a:r>
              <a:rPr lang="es-ES" dirty="0" err="1"/>
              <a:t>arriving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an</a:t>
            </a:r>
            <a:r>
              <a:rPr lang="es-ES" dirty="0"/>
              <a:t> individual </a:t>
            </a:r>
            <a:r>
              <a:rPr lang="es-ES" dirty="0" err="1"/>
              <a:t>airport</a:t>
            </a:r>
            <a:r>
              <a:rPr lang="es-ES" dirty="0"/>
              <a:t> (</a:t>
            </a:r>
            <a:r>
              <a:rPr lang="es-ES" dirty="0" err="1"/>
              <a:t>Percept</a:t>
            </a:r>
            <a:r>
              <a:rPr lang="es-ES" dirty="0"/>
              <a:t>)</a:t>
            </a:r>
          </a:p>
          <a:p>
            <a:r>
              <a:rPr lang="es-ES" dirty="0"/>
              <a:t>	- Reading </a:t>
            </a:r>
            <a:r>
              <a:rPr lang="es-ES" dirty="0" err="1"/>
              <a:t>incoming</a:t>
            </a:r>
            <a:r>
              <a:rPr lang="es-ES" dirty="0"/>
              <a:t> data (</a:t>
            </a:r>
            <a:r>
              <a:rPr lang="es-ES" dirty="0" err="1"/>
              <a:t>Goal</a:t>
            </a:r>
            <a:r>
              <a:rPr lang="es-ES" dirty="0"/>
              <a:t>)</a:t>
            </a:r>
          </a:p>
          <a:p>
            <a:r>
              <a:rPr lang="es-ES" dirty="0"/>
              <a:t>	- </a:t>
            </a:r>
            <a:r>
              <a:rPr lang="es-ES" dirty="0" err="1"/>
              <a:t>Updating</a:t>
            </a:r>
            <a:r>
              <a:rPr lang="es-ES" dirty="0"/>
              <a:t> </a:t>
            </a:r>
            <a:r>
              <a:rPr lang="es-ES" dirty="0" err="1"/>
              <a:t>beliefsets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new data (</a:t>
            </a:r>
            <a:r>
              <a:rPr lang="es-ES" dirty="0" err="1"/>
              <a:t>Goal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355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AND por defecto</a:t>
            </a:r>
          </a:p>
          <a:p>
            <a:r>
              <a:rPr lang="es-ES" dirty="0"/>
              <a:t>Para indicar OR, hay que mirar en las </a:t>
            </a:r>
            <a:r>
              <a:rPr lang="es-ES" dirty="0" err="1"/>
              <a:t>Properties</a:t>
            </a:r>
            <a:r>
              <a:rPr lang="es-ES" dirty="0"/>
              <a:t> del </a:t>
            </a:r>
          </a:p>
          <a:p>
            <a:r>
              <a:rPr lang="es-ES" dirty="0" err="1"/>
              <a:t>Goal</a:t>
            </a:r>
            <a:r>
              <a:rPr lang="es-ES" dirty="0"/>
              <a:t> padre y marcar el </a:t>
            </a:r>
            <a:r>
              <a:rPr lang="es-ES" dirty="0" err="1"/>
              <a:t>checkbox</a:t>
            </a:r>
            <a:r>
              <a:rPr lang="es-ES" dirty="0"/>
              <a:t> OR </a:t>
            </a:r>
            <a:r>
              <a:rPr lang="es-ES" dirty="0" err="1"/>
              <a:t>refinement</a:t>
            </a:r>
            <a:endParaRPr lang="es-ES" dirty="0"/>
          </a:p>
          <a:p>
            <a:endParaRPr lang="es-ES" dirty="0"/>
          </a:p>
          <a:p>
            <a:r>
              <a:rPr lang="es-ES" dirty="0"/>
              <a:t>En el tutorial hay ejemplos con OR (para los diferentes tipos de aviso)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5511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es-ES" dirty="0"/>
              <a:t>Si un rol tiene todos los </a:t>
            </a:r>
            <a:r>
              <a:rPr lang="es-ES" dirty="0" err="1"/>
              <a:t>subobjetivos</a:t>
            </a:r>
            <a:r>
              <a:rPr lang="es-ES" dirty="0"/>
              <a:t>, añade al padre</a:t>
            </a:r>
          </a:p>
          <a:p>
            <a:pPr lvl="2"/>
            <a:r>
              <a:rPr lang="es-ES" dirty="0"/>
              <a:t>Si los </a:t>
            </a:r>
            <a:r>
              <a:rPr lang="es-ES" dirty="0" err="1"/>
              <a:t>subobjetivos</a:t>
            </a:r>
            <a:r>
              <a:rPr lang="es-ES" dirty="0"/>
              <a:t> están repartidos entre varios roles, no hace falta añadir al padre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9102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Objetivos</a:t>
            </a:r>
          </a:p>
          <a:p>
            <a:r>
              <a:rPr lang="es-ES" dirty="0"/>
              <a:t>Agrupar agentes en roles (</a:t>
            </a:r>
            <a:r>
              <a:rPr lang="es-ES" dirty="0" err="1"/>
              <a:t>Agent</a:t>
            </a:r>
            <a:r>
              <a:rPr lang="es-ES" dirty="0"/>
              <a:t> Role </a:t>
            </a:r>
            <a:r>
              <a:rPr lang="es-ES" dirty="0" err="1"/>
              <a:t>grouping</a:t>
            </a:r>
            <a:r>
              <a:rPr lang="es-ES" dirty="0"/>
              <a:t> </a:t>
            </a:r>
            <a:r>
              <a:rPr lang="es-ES" dirty="0" err="1"/>
              <a:t>diagram</a:t>
            </a:r>
            <a:r>
              <a:rPr lang="es-ES" dirty="0"/>
              <a:t>)</a:t>
            </a:r>
          </a:p>
          <a:p>
            <a:r>
              <a:rPr lang="es-ES" dirty="0"/>
              <a:t>Introducir y desarrollar interacciones de agentes (</a:t>
            </a:r>
            <a:r>
              <a:rPr lang="es-ES" dirty="0" err="1"/>
              <a:t>protocol</a:t>
            </a:r>
            <a:r>
              <a:rPr lang="es-ES" dirty="0"/>
              <a:t> </a:t>
            </a:r>
            <a:r>
              <a:rPr lang="es-ES" dirty="0" err="1"/>
              <a:t>diagram</a:t>
            </a:r>
            <a:r>
              <a:rPr lang="es-ES" dirty="0"/>
              <a:t> y el </a:t>
            </a:r>
            <a:r>
              <a:rPr lang="es-ES" dirty="0" err="1"/>
              <a:t>system</a:t>
            </a:r>
            <a:r>
              <a:rPr lang="es-ES" dirty="0"/>
              <a:t> </a:t>
            </a:r>
            <a:r>
              <a:rPr lang="es-ES" dirty="0" err="1"/>
              <a:t>overview</a:t>
            </a:r>
            <a:r>
              <a:rPr lang="es-ES" dirty="0"/>
              <a:t> </a:t>
            </a:r>
            <a:r>
              <a:rPr lang="es-ES" dirty="0" err="1"/>
              <a:t>diagram</a:t>
            </a:r>
            <a:r>
              <a:rPr lang="es-ES" dirty="0"/>
              <a:t>)</a:t>
            </a:r>
          </a:p>
          <a:p>
            <a:r>
              <a:rPr lang="es-ES" dirty="0"/>
              <a:t>Especificar los detalles de los sistemas de almacenamientos de datos y los descriptores de datos</a:t>
            </a:r>
          </a:p>
        </p:txBody>
      </p:sp>
    </p:spTree>
    <p:extLst>
      <p:ext uri="{BB962C8B-B14F-4D97-AF65-F5344CB8AC3E}">
        <p14:creationId xmlns:p14="http://schemas.microsoft.com/office/powerpoint/2010/main" val="11546032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Name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Description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Cardinality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 (min-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max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)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Lifetime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Initialisation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Demise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Incoming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and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Outgoing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Messages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For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each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indicate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source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and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destination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,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e.g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acknowledge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(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AnAgent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→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AnotherAgent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)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Internal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Messages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For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each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indicate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source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and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destination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,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e.g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CheckAvailability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(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MyPlan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→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MyCapability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)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Percepts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Actions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 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Uses data: </a:t>
            </a:r>
          </a:p>
          <a:p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Produces data: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Internal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data: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Goals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Functionalities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Protocols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Included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plans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 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Included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capabilities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: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70920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 vamos a entrar en detalle con esta fase porque no nos hace falta para la práctica</a:t>
            </a:r>
          </a:p>
        </p:txBody>
      </p:sp>
    </p:spTree>
    <p:extLst>
      <p:ext uri="{BB962C8B-B14F-4D97-AF65-F5344CB8AC3E}">
        <p14:creationId xmlns:p14="http://schemas.microsoft.com/office/powerpoint/2010/main" val="16997759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3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3074"/>
          <p:cNvSpPr>
            <a:spLocks noGrp="1" noChangeArrowheads="1"/>
          </p:cNvSpPr>
          <p:nvPr>
            <p:ph type="ctrTitle"/>
          </p:nvPr>
        </p:nvSpPr>
        <p:spPr>
          <a:xfrm>
            <a:off x="685800" y="1052513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Haga clic para modificar el estilo de título del patrón</a:t>
            </a:r>
          </a:p>
        </p:txBody>
      </p:sp>
      <p:sp>
        <p:nvSpPr>
          <p:cNvPr id="363523" name="Rectangle 307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65400"/>
            <a:ext cx="6400800" cy="1008063"/>
          </a:xfrm>
        </p:spPr>
        <p:txBody>
          <a:bodyPr/>
          <a:lstStyle>
            <a:lvl1pPr marL="0" indent="0" algn="ctr">
              <a:buFont typeface="Wingdings" charset="0"/>
              <a:buNone/>
              <a:defRPr/>
            </a:lvl1pPr>
          </a:lstStyle>
          <a:p>
            <a:pPr lvl="0"/>
            <a:r>
              <a:rPr lang="en-GB" noProof="0"/>
              <a:t>Haga clic para modificar el estilo de subtítulo del patrón</a:t>
            </a:r>
          </a:p>
        </p:txBody>
      </p:sp>
      <p:sp>
        <p:nvSpPr>
          <p:cNvPr id="363531" name="Text Box 3083"/>
          <p:cNvSpPr txBox="1">
            <a:spLocks noChangeArrowheads="1"/>
          </p:cNvSpPr>
          <p:nvPr/>
        </p:nvSpPr>
        <p:spPr bwMode="auto">
          <a:xfrm>
            <a:off x="3559175" y="5356225"/>
            <a:ext cx="20939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s-ES_tradnl" sz="1400" b="1">
                <a:solidFill>
                  <a:srgbClr val="3366CC"/>
                </a:solidFill>
                <a:latin typeface="Arial" charset="0"/>
              </a:rPr>
              <a:t>https://kemlg.upc.edu</a:t>
            </a:r>
            <a:endParaRPr lang="es-ES_tradnl" sz="1600" b="1">
              <a:solidFill>
                <a:srgbClr val="3366CC"/>
              </a:solidFill>
              <a:latin typeface="Arial" charset="0"/>
            </a:endParaRPr>
          </a:p>
        </p:txBody>
      </p:sp>
      <p:sp>
        <p:nvSpPr>
          <p:cNvPr id="363533" name="Rectangle 3085"/>
          <p:cNvSpPr>
            <a:spLocks noChangeArrowheads="1"/>
          </p:cNvSpPr>
          <p:nvPr/>
        </p:nvSpPr>
        <p:spPr bwMode="auto">
          <a:xfrm>
            <a:off x="76200" y="1588"/>
            <a:ext cx="457200" cy="6870700"/>
          </a:xfrm>
          <a:prstGeom prst="rect">
            <a:avLst/>
          </a:prstGeom>
          <a:gradFill rotWithShape="0">
            <a:gsLst>
              <a:gs pos="0">
                <a:srgbClr val="10668C">
                  <a:gamma/>
                  <a:tint val="44314"/>
                  <a:invGamma/>
                </a:srgbClr>
              </a:gs>
              <a:gs pos="100000">
                <a:srgbClr val="10668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363534" name="Rectangle 3086"/>
          <p:cNvSpPr>
            <a:spLocks noChangeArrowheads="1"/>
          </p:cNvSpPr>
          <p:nvPr/>
        </p:nvSpPr>
        <p:spPr bwMode="auto">
          <a:xfrm>
            <a:off x="0" y="1588"/>
            <a:ext cx="457200" cy="6870700"/>
          </a:xfrm>
          <a:prstGeom prst="rect">
            <a:avLst/>
          </a:prstGeom>
          <a:gradFill rotWithShape="0">
            <a:gsLst>
              <a:gs pos="0">
                <a:srgbClr val="1482B4">
                  <a:gamma/>
                  <a:tint val="33333"/>
                  <a:invGamma/>
                </a:srgbClr>
              </a:gs>
              <a:gs pos="100000">
                <a:srgbClr val="1482B4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363535" name="Text Box 3087"/>
          <p:cNvSpPr txBox="1">
            <a:spLocks noChangeArrowheads="1"/>
          </p:cNvSpPr>
          <p:nvPr/>
        </p:nvSpPr>
        <p:spPr bwMode="auto">
          <a:xfrm rot="-5400000">
            <a:off x="-3241675" y="3251786"/>
            <a:ext cx="68484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>
                        <a:gamma/>
                        <a:tint val="5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ca-ES" sz="16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Prometheus</a:t>
            </a:r>
            <a:endParaRPr lang="ca-ES" sz="2600" b="1" dirty="0">
              <a:solidFill>
                <a:srgbClr val="B2B2B2"/>
              </a:solidFill>
              <a:latin typeface="Arial" charset="0"/>
            </a:endParaRPr>
          </a:p>
        </p:txBody>
      </p:sp>
      <p:pic>
        <p:nvPicPr>
          <p:cNvPr id="363541" name="Picture 62" descr="foto_recerc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50" y="5767388"/>
            <a:ext cx="5594350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3542" name="Picture 6" descr="D:\downloads\DropBox\My Dropbox\Logo KEMLG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5721350"/>
            <a:ext cx="255905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3543" name="Picture 14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6681788"/>
            <a:ext cx="3024188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A92189-4A1C-DB4D-A308-1760EA4C79C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251752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8ECFFE-D909-A54B-9E36-5B28267DFB3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294090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37338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800600" y="1828800"/>
            <a:ext cx="37338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42978C-4137-6443-84BD-CC58B3416CB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757049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424B2D1-D158-C646-9C0A-320FB65A053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921123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A912407-5BEB-3D40-9ED7-C51081FCAFF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17117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DAD81EF-3F60-AD43-9869-74A8F6B660A3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969197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AC0E16-C757-0749-992C-A745A5993F6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44622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BB4CC3-83DB-714A-B00C-6C1FE5864B1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126528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E8638C-4D79-2747-9836-D4232E9E592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111610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10350" y="704850"/>
            <a:ext cx="1924050" cy="5695950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704850"/>
            <a:ext cx="5619750" cy="5695950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5CEDAE4-4E43-CE46-A499-A3AFECB12B2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61754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4" name="Object 60"/>
          <p:cNvGraphicFramePr>
            <a:graphicFrameLocks noChangeAspect="1"/>
          </p:cNvGraphicFramePr>
          <p:nvPr/>
        </p:nvGraphicFramePr>
        <p:xfrm>
          <a:off x="4648200" y="4017963"/>
          <a:ext cx="4471988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" name="Image" r:id="rId14" imgW="2926464" imgH="1830962" progId="Photoshop.Image.7">
                  <p:embed/>
                </p:oleObj>
              </mc:Choice>
              <mc:Fallback>
                <p:oleObj name="Image" r:id="rId14" imgW="2926464" imgH="1830962" progId="Photoshop.Image.7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lum bright="54000" contrast="-6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1072" b="9831"/>
                      <a:stretch>
                        <a:fillRect/>
                      </a:stretch>
                    </p:blipFill>
                    <p:spPr bwMode="auto">
                      <a:xfrm>
                        <a:off x="4648200" y="4017963"/>
                        <a:ext cx="4471988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04850"/>
            <a:ext cx="769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Títol de la diapositiva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28800"/>
            <a:ext cx="7620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estil del text del patró a primer nivell</a:t>
            </a:r>
          </a:p>
          <a:p>
            <a:pPr lvl="1"/>
            <a:r>
              <a:rPr lang="es-ES_tradnl"/>
              <a:t>segon nivell</a:t>
            </a:r>
          </a:p>
          <a:p>
            <a:pPr lvl="2"/>
            <a:r>
              <a:rPr lang="es-ES_tradnl"/>
              <a:t>tercer nivell</a:t>
            </a:r>
          </a:p>
          <a:p>
            <a:pPr lvl="3"/>
            <a:r>
              <a:rPr lang="es-ES_tradnl"/>
              <a:t>quart nivell</a:t>
            </a:r>
          </a:p>
          <a:p>
            <a:pPr lvl="4"/>
            <a:r>
              <a:rPr lang="es-ES_tradnl"/>
              <a:t>cinque nivell</a:t>
            </a:r>
          </a:p>
        </p:txBody>
      </p:sp>
      <p:sp>
        <p:nvSpPr>
          <p:cNvPr id="1076" name="Rectangle 5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91513" y="6529388"/>
            <a:ext cx="823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>
                <a:latin typeface="+mn-lt"/>
              </a:defRPr>
            </a:lvl1pPr>
          </a:lstStyle>
          <a:p>
            <a:fld id="{CB1D7B28-07DB-7846-8CC9-84E067EB0A94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081" name="Rectangle 57"/>
          <p:cNvSpPr>
            <a:spLocks noChangeArrowheads="1"/>
          </p:cNvSpPr>
          <p:nvPr/>
        </p:nvSpPr>
        <p:spPr bwMode="auto">
          <a:xfrm>
            <a:off x="76200" y="0"/>
            <a:ext cx="457200" cy="6870700"/>
          </a:xfrm>
          <a:prstGeom prst="rect">
            <a:avLst/>
          </a:prstGeom>
          <a:gradFill rotWithShape="0">
            <a:gsLst>
              <a:gs pos="0">
                <a:srgbClr val="10668C">
                  <a:gamma/>
                  <a:tint val="44314"/>
                  <a:invGamma/>
                </a:srgbClr>
              </a:gs>
              <a:gs pos="100000">
                <a:srgbClr val="10668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82" name="Rectangle 58"/>
          <p:cNvSpPr>
            <a:spLocks noChangeArrowheads="1"/>
          </p:cNvSpPr>
          <p:nvPr/>
        </p:nvSpPr>
        <p:spPr bwMode="auto">
          <a:xfrm>
            <a:off x="0" y="0"/>
            <a:ext cx="457200" cy="6870700"/>
          </a:xfrm>
          <a:prstGeom prst="rect">
            <a:avLst/>
          </a:prstGeom>
          <a:gradFill rotWithShape="0">
            <a:gsLst>
              <a:gs pos="0">
                <a:srgbClr val="1482B4">
                  <a:gamma/>
                  <a:tint val="33333"/>
                  <a:invGamma/>
                </a:srgbClr>
              </a:gs>
              <a:gs pos="100000">
                <a:srgbClr val="1482B4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83" name="Text Box 59"/>
          <p:cNvSpPr txBox="1">
            <a:spLocks noChangeArrowheads="1"/>
          </p:cNvSpPr>
          <p:nvPr/>
        </p:nvSpPr>
        <p:spPr bwMode="auto">
          <a:xfrm rot="16200000">
            <a:off x="-3241675" y="3248611"/>
            <a:ext cx="68484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>
                        <a:gamma/>
                        <a:tint val="5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ca-ES" sz="16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Prometheus</a:t>
            </a:r>
            <a:endParaRPr lang="ca-ES" sz="1600" b="1" dirty="0">
              <a:solidFill>
                <a:srgbClr val="003366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  <p:pic>
        <p:nvPicPr>
          <p:cNvPr id="1089" name="Picture 62" descr="foto_recerca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613" y="0"/>
            <a:ext cx="25908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0" name="Picture 6" descr="D:\downloads\DropBox\My Dropbox\Logo KEMLG.jp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238" y="0"/>
            <a:ext cx="11874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1" name="Picture 14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138" y="419100"/>
            <a:ext cx="1296987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hdr="0" dt="0"/>
  <p:txStyles>
    <p:titleStyle>
      <a:lvl1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+mj-ea"/>
          <a:cs typeface="+mj-cs"/>
        </a:defRPr>
      </a:lvl1pPr>
      <a:lvl2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2pPr>
      <a:lvl3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3pPr>
      <a:lvl4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4pPr>
      <a:lvl5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5pPr>
      <a:lvl6pPr marL="4572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6pPr>
      <a:lvl7pPr marL="9144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7pPr>
      <a:lvl8pPr marL="13716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8pPr>
      <a:lvl9pPr marL="18288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9pPr>
    </p:titleStyle>
    <p:bodyStyle>
      <a:lvl1pPr marL="342900" indent="-342900" algn="l" defTabSz="762000" rtl="0" eaLnBrk="0" fontAlgn="base" hangingPunct="0">
        <a:spcBef>
          <a:spcPct val="30000"/>
        </a:spcBef>
        <a:spcAft>
          <a:spcPct val="0"/>
        </a:spcAft>
        <a:buClr>
          <a:srgbClr val="990033"/>
        </a:buClr>
        <a:buSzPct val="75000"/>
        <a:buFont typeface="Wingdings" charset="0"/>
        <a:buChar char="l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762000" rtl="0" eaLnBrk="0" fontAlgn="base" hangingPunct="0">
        <a:spcBef>
          <a:spcPct val="20000"/>
        </a:spcBef>
        <a:spcAft>
          <a:spcPct val="0"/>
        </a:spcAft>
        <a:buClr>
          <a:srgbClr val="006699"/>
        </a:buClr>
        <a:buSzPct val="65000"/>
        <a:buFont typeface="Wingdings" charset="0"/>
        <a:buChar char="n"/>
        <a:defRPr sz="2000">
          <a:solidFill>
            <a:schemeClr val="tx1"/>
          </a:solidFill>
          <a:latin typeface="+mn-lt"/>
          <a:ea typeface="Tahoma" charset="0"/>
          <a:cs typeface="+mn-cs"/>
        </a:defRPr>
      </a:lvl2pPr>
      <a:lvl3pPr marL="11430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60000"/>
        <a:buFont typeface="Monotype Sorts" charset="0"/>
        <a:buChar char="u"/>
        <a:defRPr>
          <a:solidFill>
            <a:schemeClr val="tx1"/>
          </a:solidFill>
          <a:latin typeface="+mn-lt"/>
          <a:ea typeface="Tahoma" charset="0"/>
          <a:cs typeface="+mn-cs"/>
        </a:defRPr>
      </a:lvl3pPr>
      <a:lvl4pPr marL="16002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660066"/>
        </a:buClr>
        <a:buSzPct val="60000"/>
        <a:buFont typeface="Monotype Sorts" charset="0"/>
        <a:buChar char="t"/>
        <a:defRPr sz="1600">
          <a:solidFill>
            <a:schemeClr val="tx1"/>
          </a:solidFill>
          <a:latin typeface="+mn-lt"/>
          <a:ea typeface="Tahoma" charset="0"/>
          <a:cs typeface="+mn-cs"/>
        </a:defRPr>
      </a:lvl4pPr>
      <a:lvl5pPr marL="20574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5pPr>
      <a:lvl6pPr marL="25146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6pPr>
      <a:lvl7pPr marL="29718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7pPr>
      <a:lvl8pPr marL="34290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8pPr>
      <a:lvl9pPr marL="38862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site/rmitagents/software/prometheusPDT/downloads/PDT-Plugin-v0.5.1.zi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33375"/>
            <a:ext cx="7847013" cy="2016125"/>
          </a:xfrm>
        </p:spPr>
        <p:txBody>
          <a:bodyPr/>
          <a:lstStyle/>
          <a:p>
            <a:pPr algn="ctr"/>
            <a:r>
              <a:rPr lang="es-ES" sz="4000" b="1" dirty="0" err="1"/>
              <a:t>Prometheus</a:t>
            </a:r>
            <a:endParaRPr lang="en-GB" sz="4000" b="1" dirty="0"/>
          </a:p>
        </p:txBody>
      </p:sp>
      <p:sp>
        <p:nvSpPr>
          <p:cNvPr id="520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17625" y="2909888"/>
            <a:ext cx="6369050" cy="1743075"/>
          </a:xfrm>
        </p:spPr>
        <p:txBody>
          <a:bodyPr/>
          <a:lstStyle/>
          <a:p>
            <a:r>
              <a:rPr lang="es-ES_tradnl" sz="2000" dirty="0"/>
              <a:t>Ulises Cortés, Luis Oliva Felipe</a:t>
            </a:r>
          </a:p>
          <a:p>
            <a:pPr>
              <a:lnSpc>
                <a:spcPct val="160000"/>
              </a:lnSpc>
            </a:pPr>
            <a:r>
              <a:rPr lang="es-ES" sz="1600" dirty="0"/>
              <a:t>{</a:t>
            </a:r>
            <a:r>
              <a:rPr lang="es-ES" sz="1600" dirty="0" err="1"/>
              <a:t>ia,loliva</a:t>
            </a:r>
            <a:r>
              <a:rPr lang="es-ES" sz="1600" dirty="0"/>
              <a:t>}@cs.upc.edu</a:t>
            </a:r>
          </a:p>
          <a:p>
            <a:pPr>
              <a:lnSpc>
                <a:spcPct val="160000"/>
              </a:lnSpc>
            </a:pPr>
            <a:r>
              <a:rPr lang="es-ES" sz="1600" dirty="0"/>
              <a:t>http://www.cs.upc.edu/~</a:t>
            </a:r>
            <a:r>
              <a:rPr lang="es-ES_tradnl" sz="1400" b="1" noProof="1"/>
              <a:t>{ia, loliva}</a:t>
            </a:r>
            <a:endParaRPr lang="es-ES" sz="1600" dirty="0"/>
          </a:p>
          <a:p>
            <a:pPr>
              <a:lnSpc>
                <a:spcPct val="160000"/>
              </a:lnSpc>
            </a:pPr>
            <a:r>
              <a:rPr lang="en-GB" sz="1600" dirty="0">
                <a:solidFill>
                  <a:srgbClr val="000000"/>
                </a:solidFill>
              </a:rPr>
              <a:t>SID2018</a:t>
            </a:r>
          </a:p>
          <a:p>
            <a:pPr>
              <a:lnSpc>
                <a:spcPct val="160000"/>
              </a:lnSpc>
            </a:pPr>
            <a:r>
              <a:rPr lang="es-ES" dirty="0"/>
              <a:t>https://</a:t>
            </a:r>
            <a:r>
              <a:rPr lang="es-ES" dirty="0" err="1"/>
              <a:t>goo.gl</a:t>
            </a:r>
            <a:r>
              <a:rPr lang="es-ES" dirty="0"/>
              <a:t>/</a:t>
            </a:r>
            <a:r>
              <a:rPr lang="es-ES"/>
              <a:t>FLXSrd</a:t>
            </a:r>
            <a:endParaRPr lang="en-GB" sz="1600" dirty="0">
              <a:solidFill>
                <a:srgbClr val="000000"/>
              </a:solidFill>
            </a:endParaRPr>
          </a:p>
          <a:p>
            <a:pPr>
              <a:lnSpc>
                <a:spcPct val="160000"/>
              </a:lnSpc>
            </a:pPr>
            <a:endParaRPr lang="es-ES_tradnl" sz="1600" dirty="0"/>
          </a:p>
        </p:txBody>
      </p:sp>
      <p:sp>
        <p:nvSpPr>
          <p:cNvPr id="520196" name="Rectangle 4"/>
          <p:cNvSpPr>
            <a:spLocks noChangeArrowheads="1"/>
          </p:cNvSpPr>
          <p:nvPr/>
        </p:nvSpPr>
        <p:spPr bwMode="auto">
          <a:xfrm>
            <a:off x="0" y="2133600"/>
            <a:ext cx="7848600" cy="168275"/>
          </a:xfrm>
          <a:prstGeom prst="rect">
            <a:avLst/>
          </a:prstGeom>
          <a:solidFill>
            <a:srgbClr val="CECECE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464E-C2E6-A94A-937D-2532CBEC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</a:t>
            </a:r>
            <a:r>
              <a:rPr lang="es-ES" dirty="0" err="1"/>
              <a:t>és</a:t>
            </a:r>
            <a:r>
              <a:rPr lang="es-ES" dirty="0"/>
              <a:t>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F70A4-2F2D-A341-A963-489E479B9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8050088" cy="4572000"/>
          </a:xfrm>
        </p:spPr>
        <p:txBody>
          <a:bodyPr/>
          <a:lstStyle/>
          <a:p>
            <a:r>
              <a:rPr lang="es-ES" dirty="0"/>
              <a:t>Metodología </a:t>
            </a:r>
            <a:r>
              <a:rPr lang="es-ES" b="1" dirty="0"/>
              <a:t>iterativa</a:t>
            </a:r>
            <a:r>
              <a:rPr lang="es-ES" dirty="0"/>
              <a:t> que trata de cubrir el proceso completo de ingeniería del software</a:t>
            </a:r>
          </a:p>
          <a:p>
            <a:pPr lvl="1"/>
            <a:r>
              <a:rPr lang="es-ES" dirty="0"/>
              <a:t>Análisis, Diseño, Diseño detallado e Implementación</a:t>
            </a:r>
          </a:p>
          <a:p>
            <a:r>
              <a:rPr lang="es-ES" dirty="0"/>
              <a:t>Objetivo: Desarrollar agentes inteligentes (BDI en particular)</a:t>
            </a:r>
          </a:p>
          <a:p>
            <a:pPr lvl="1"/>
            <a:r>
              <a:rPr lang="es-ES" dirty="0"/>
              <a:t>Objetivos, Creencias, Planes y Eventos</a:t>
            </a:r>
          </a:p>
          <a:p>
            <a:r>
              <a:rPr lang="es-ES" dirty="0"/>
              <a:t>La especificación resultante puede ser desarrollada en cualquier software de implementación de agentes que cubra esas abstracciones</a:t>
            </a:r>
          </a:p>
          <a:p>
            <a:pPr lvl="1"/>
            <a:r>
              <a:rPr lang="es-ES" dirty="0"/>
              <a:t>Especialmente dirigido a implementar agentes JACK</a:t>
            </a:r>
          </a:p>
          <a:p>
            <a:r>
              <a:rPr lang="es-ES" dirty="0"/>
              <a:t>Surge de experiencias prácticas</a:t>
            </a:r>
          </a:p>
          <a:p>
            <a:r>
              <a:rPr lang="es-ES" dirty="0"/>
              <a:t>Dirigido al desarrollo de software industrial, no investigación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3BB61-E659-174B-AAF2-1919663636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471179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1B959-BA66-334C-A105-91D0E5FB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6986C-99CA-794A-988A-B94208A9F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7620000" cy="5029200"/>
          </a:xfrm>
        </p:spPr>
        <p:txBody>
          <a:bodyPr/>
          <a:lstStyle/>
          <a:p>
            <a:r>
              <a:rPr lang="es-ES" b="1" dirty="0"/>
              <a:t>Especificación del sistema</a:t>
            </a:r>
            <a:r>
              <a:rPr lang="es-ES" dirty="0"/>
              <a:t>, identifica las </a:t>
            </a:r>
            <a:r>
              <a:rPr lang="es-ES" i="1" dirty="0"/>
              <a:t>funciones</a:t>
            </a:r>
            <a:r>
              <a:rPr lang="es-ES" dirty="0"/>
              <a:t> básicas del sistema, junto a los inputs (</a:t>
            </a:r>
            <a:r>
              <a:rPr lang="es-ES" i="1" dirty="0"/>
              <a:t>percepciones</a:t>
            </a:r>
            <a:r>
              <a:rPr lang="es-ES" dirty="0"/>
              <a:t>), outputs (</a:t>
            </a:r>
            <a:r>
              <a:rPr lang="es-ES" i="1" dirty="0"/>
              <a:t>acciones</a:t>
            </a:r>
            <a:r>
              <a:rPr lang="es-ES" dirty="0"/>
              <a:t>) y su procesamiento </a:t>
            </a:r>
          </a:p>
          <a:p>
            <a:pPr lvl="1"/>
            <a:r>
              <a:rPr lang="es-ES" dirty="0" err="1"/>
              <a:t>E.g</a:t>
            </a:r>
            <a:r>
              <a:rPr lang="es-ES" dirty="0"/>
              <a:t>., cómo se manipularán las percepciones y cualquier </a:t>
            </a:r>
            <a:r>
              <a:rPr lang="es-ES" i="1" dirty="0"/>
              <a:t>fuente de datos </a:t>
            </a:r>
            <a:r>
              <a:rPr lang="es-ES" dirty="0"/>
              <a:t>importante compartida para modelar la interacción del sistema con respecto a su entorno dinámico y cambiante</a:t>
            </a:r>
          </a:p>
          <a:p>
            <a:r>
              <a:rPr lang="es-ES" b="1" dirty="0"/>
              <a:t>Diseño arquitectónico</a:t>
            </a:r>
            <a:r>
              <a:rPr lang="es-ES" dirty="0"/>
              <a:t>, que determina qué </a:t>
            </a:r>
            <a:r>
              <a:rPr lang="es-ES" i="1" dirty="0"/>
              <a:t>agentes</a:t>
            </a:r>
            <a:r>
              <a:rPr lang="es-ES" dirty="0"/>
              <a:t> contendrá el sistema y cómo interactuarán</a:t>
            </a:r>
          </a:p>
          <a:p>
            <a:r>
              <a:rPr lang="es-ES" b="1" dirty="0"/>
              <a:t>Diseño detallado</a:t>
            </a:r>
            <a:r>
              <a:rPr lang="es-ES" dirty="0"/>
              <a:t>, que describe cada </a:t>
            </a:r>
            <a:r>
              <a:rPr lang="es-ES" i="1" dirty="0"/>
              <a:t>tipo de agente </a:t>
            </a:r>
            <a:r>
              <a:rPr lang="es-ES" dirty="0"/>
              <a:t>y la forma en que alcanza sus tareas dentro del sistema en general. </a:t>
            </a:r>
          </a:p>
          <a:p>
            <a:pPr lvl="1"/>
            <a:r>
              <a:rPr lang="es-ES" dirty="0"/>
              <a:t>Define </a:t>
            </a:r>
            <a:r>
              <a:rPr lang="es-ES" i="1" dirty="0"/>
              <a:t>capacidades</a:t>
            </a:r>
            <a:r>
              <a:rPr lang="es-ES" dirty="0"/>
              <a:t> (módulos dentro del agente), </a:t>
            </a:r>
            <a:r>
              <a:rPr lang="es-ES" i="1" dirty="0"/>
              <a:t>eventos internos</a:t>
            </a:r>
            <a:r>
              <a:rPr lang="es-ES" dirty="0"/>
              <a:t>, </a:t>
            </a:r>
            <a:r>
              <a:rPr lang="es-ES" i="1" dirty="0"/>
              <a:t>planes</a:t>
            </a:r>
            <a:r>
              <a:rPr lang="es-ES" dirty="0"/>
              <a:t> y </a:t>
            </a:r>
            <a:r>
              <a:rPr lang="es-ES" i="1" dirty="0"/>
              <a:t>estructuras de datos </a:t>
            </a:r>
          </a:p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11FF6-6493-FB4C-86F5-EE5D971B46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759490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E42BB-CC34-E048-9928-DD181554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Visión general del proceso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9EB34-5C64-8B44-8DC7-B8BC8A69A4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4</a:t>
            </a:fld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F4A111-089C-BC48-A417-34E4321E58A8}"/>
              </a:ext>
            </a:extLst>
          </p:cNvPr>
          <p:cNvGrpSpPr/>
          <p:nvPr/>
        </p:nvGrpSpPr>
        <p:grpSpPr>
          <a:xfrm>
            <a:off x="1043608" y="1238250"/>
            <a:ext cx="7854950" cy="5130800"/>
            <a:chOff x="965200" y="1196975"/>
            <a:chExt cx="7854950" cy="5130800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779524BE-3BF8-A648-89A2-14EAAF233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5200" y="1196975"/>
              <a:ext cx="7854950" cy="5130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9DA3BE4-5D3A-314C-854F-AFD721621076}"/>
                </a:ext>
              </a:extLst>
            </p:cNvPr>
            <p:cNvSpPr txBox="1"/>
            <p:nvPr/>
          </p:nvSpPr>
          <p:spPr>
            <a:xfrm>
              <a:off x="8291513" y="6019110"/>
              <a:ext cx="18473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242174911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71351-B2AA-4C4B-BE0E-41A5F806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Prometheus</a:t>
            </a:r>
            <a:r>
              <a:rPr lang="es-ES" dirty="0"/>
              <a:t> </a:t>
            </a:r>
            <a:r>
              <a:rPr lang="es-ES" dirty="0" err="1"/>
              <a:t>Design</a:t>
            </a:r>
            <a:r>
              <a:rPr lang="es-ES" dirty="0"/>
              <a:t> </a:t>
            </a:r>
            <a:r>
              <a:rPr lang="es-ES" dirty="0" err="1"/>
              <a:t>Tool</a:t>
            </a:r>
            <a:r>
              <a:rPr lang="es-ES" dirty="0"/>
              <a:t> (PDT)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2EE5D-BFC1-E54D-B2E8-03C6A5A81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Entorno basado en Eclipse</a:t>
            </a:r>
          </a:p>
          <a:p>
            <a:r>
              <a:rPr lang="es-ES" dirty="0"/>
              <a:t>Necesitamos primero tener instalado GEF</a:t>
            </a:r>
          </a:p>
          <a:p>
            <a:pPr lvl="1"/>
            <a:r>
              <a:rPr lang="es-ES" dirty="0" err="1"/>
              <a:t>Install</a:t>
            </a:r>
            <a:r>
              <a:rPr lang="es-ES" dirty="0"/>
              <a:t> new software…</a:t>
            </a:r>
          </a:p>
          <a:p>
            <a:pPr lvl="1"/>
            <a:r>
              <a:rPr lang="es-ES" dirty="0" err="1"/>
              <a:t>Select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sites</a:t>
            </a:r>
            <a:endParaRPr lang="es-ES" dirty="0"/>
          </a:p>
          <a:p>
            <a:pPr lvl="1"/>
            <a:r>
              <a:rPr lang="es-ES" dirty="0"/>
              <a:t>Filtrar con el término GEF y buscamos en </a:t>
            </a:r>
            <a:r>
              <a:rPr lang="es-ES" dirty="0" err="1"/>
              <a:t>Modelling</a:t>
            </a:r>
            <a:endParaRPr lang="es-ES" dirty="0"/>
          </a:p>
          <a:p>
            <a:pPr lvl="2"/>
            <a:r>
              <a:rPr lang="es-ES" dirty="0"/>
              <a:t>GEF</a:t>
            </a:r>
          </a:p>
          <a:p>
            <a:r>
              <a:rPr lang="es-ES" dirty="0"/>
              <a:t>Descargamos PDT:</a:t>
            </a:r>
          </a:p>
          <a:p>
            <a:pPr lvl="1"/>
            <a:r>
              <a:rPr lang="es-ES" dirty="0">
                <a:hlinkClick r:id="rId2"/>
              </a:rPr>
              <a:t>https://sites.google.com/site/rmitagents/software/prometheusPDT/downloads/PDT-Plugin-v0.5.1.zip</a:t>
            </a:r>
            <a:endParaRPr lang="es-ES" dirty="0"/>
          </a:p>
          <a:p>
            <a:pPr lvl="1"/>
            <a:r>
              <a:rPr lang="es-ES" dirty="0"/>
              <a:t>Descomprimimos</a:t>
            </a:r>
          </a:p>
          <a:p>
            <a:pPr lvl="1"/>
            <a:r>
              <a:rPr lang="es-ES" dirty="0"/>
              <a:t>Copiamos los dos ficheros JAR en la carpeta </a:t>
            </a:r>
            <a:r>
              <a:rPr lang="es-ES" dirty="0" err="1"/>
              <a:t>dropins</a:t>
            </a:r>
            <a:r>
              <a:rPr lang="es-ES" dirty="0"/>
              <a:t> de Eclipse</a:t>
            </a:r>
          </a:p>
          <a:p>
            <a:pPr lvl="1"/>
            <a:r>
              <a:rPr lang="es-ES" dirty="0"/>
              <a:t>Arrancamos y deberíamos ver el menú PDT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6D8C6-F672-D841-980C-E551854A1A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075288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577C-4472-D44C-A595-9EAA6809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Especificación del sistema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3D9DB-E0AB-834B-B6F6-4AA0E73F7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7834064" cy="4572000"/>
          </a:xfrm>
        </p:spPr>
        <p:txBody>
          <a:bodyPr/>
          <a:lstStyle/>
          <a:p>
            <a:r>
              <a:rPr lang="es-ES" dirty="0"/>
              <a:t>Sistema definido por</a:t>
            </a:r>
          </a:p>
          <a:p>
            <a:pPr lvl="1"/>
            <a:r>
              <a:rPr lang="es-ES" dirty="0"/>
              <a:t>Objetivos: </a:t>
            </a:r>
            <a:r>
              <a:rPr lang="es-ES" dirty="0" err="1"/>
              <a:t>Goal</a:t>
            </a:r>
            <a:r>
              <a:rPr lang="es-ES" dirty="0"/>
              <a:t> </a:t>
            </a:r>
            <a:r>
              <a:rPr lang="es-ES" dirty="0" err="1"/>
              <a:t>diagram</a:t>
            </a:r>
            <a:endParaRPr lang="es-ES" dirty="0"/>
          </a:p>
          <a:p>
            <a:pPr lvl="1"/>
            <a:r>
              <a:rPr lang="es-ES" dirty="0"/>
              <a:t>Escenarios: </a:t>
            </a:r>
            <a:r>
              <a:rPr lang="es-ES" dirty="0" err="1"/>
              <a:t>user</a:t>
            </a:r>
            <a:r>
              <a:rPr lang="es-ES" dirty="0"/>
              <a:t> case </a:t>
            </a:r>
            <a:r>
              <a:rPr lang="es-ES" dirty="0" err="1"/>
              <a:t>scenarios</a:t>
            </a:r>
            <a:endParaRPr lang="es-ES" dirty="0"/>
          </a:p>
          <a:p>
            <a:pPr lvl="1"/>
            <a:r>
              <a:rPr lang="es-ES" dirty="0"/>
              <a:t>Funcionalidades: </a:t>
            </a:r>
            <a:r>
              <a:rPr lang="es-ES" dirty="0" err="1"/>
              <a:t>functionality</a:t>
            </a:r>
            <a:r>
              <a:rPr lang="es-ES" dirty="0"/>
              <a:t> </a:t>
            </a:r>
            <a:r>
              <a:rPr lang="es-ES" dirty="0" err="1"/>
              <a:t>descriptors</a:t>
            </a:r>
            <a:endParaRPr lang="es-ES" dirty="0"/>
          </a:p>
          <a:p>
            <a:r>
              <a:rPr lang="es-ES" dirty="0"/>
              <a:t>Interfaz del sistema con el entorno descrito en términos de</a:t>
            </a:r>
          </a:p>
          <a:p>
            <a:pPr lvl="1"/>
            <a:r>
              <a:rPr lang="es-ES" dirty="0"/>
              <a:t>Acciones</a:t>
            </a:r>
          </a:p>
          <a:p>
            <a:pPr lvl="1"/>
            <a:r>
              <a:rPr lang="es-ES" dirty="0"/>
              <a:t>Percepciones</a:t>
            </a:r>
          </a:p>
          <a:p>
            <a:pPr lvl="1"/>
            <a:r>
              <a:rPr lang="es-ES" dirty="0"/>
              <a:t>Datos externos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7F349-CBA5-0D40-BD06-9F0FBA762E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933462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FBD3-3036-5B4E-B593-314740981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Especificación del sistema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90D581-50CD-6D48-9CEC-83802CB6E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4400" y="1938518"/>
            <a:ext cx="7620000" cy="43525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0A0EA-AAF0-0843-A74F-22DC220C3A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7366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4263-3CAD-DA46-A1C3-9668E0720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850"/>
            <a:ext cx="8054280" cy="533400"/>
          </a:xfrm>
        </p:spPr>
        <p:txBody>
          <a:bodyPr/>
          <a:lstStyle/>
          <a:p>
            <a:r>
              <a:rPr lang="es-ES" dirty="0"/>
              <a:t>Especificación del sistema: pasos no secuenciales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5D0E9-DFDE-B14B-BA6F-362300CAB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828800"/>
            <a:ext cx="8201025" cy="4572000"/>
          </a:xfrm>
        </p:spPr>
        <p:txBody>
          <a:bodyPr/>
          <a:lstStyle/>
          <a:p>
            <a:r>
              <a:rPr lang="es-ES" dirty="0"/>
              <a:t>Empieza con una descripción a alto nivel del sistema (textual)</a:t>
            </a:r>
          </a:p>
          <a:p>
            <a:r>
              <a:rPr lang="es-ES" dirty="0"/>
              <a:t>Identifica actores</a:t>
            </a:r>
          </a:p>
          <a:p>
            <a:r>
              <a:rPr lang="es-ES" dirty="0"/>
              <a:t>Identifica escenarios de más alto nivel para cada actor</a:t>
            </a:r>
          </a:p>
          <a:p>
            <a:r>
              <a:rPr lang="es-ES" dirty="0"/>
              <a:t>Identifica inputs/outputs (percepciones/acciones)</a:t>
            </a:r>
          </a:p>
          <a:p>
            <a:r>
              <a:rPr lang="es-ES" dirty="0"/>
              <a:t>Pestaña </a:t>
            </a:r>
            <a:r>
              <a:rPr lang="es-ES" dirty="0" err="1"/>
              <a:t>Analysis</a:t>
            </a:r>
            <a:r>
              <a:rPr lang="es-ES" dirty="0"/>
              <a:t> </a:t>
            </a:r>
            <a:r>
              <a:rPr lang="es-ES" dirty="0" err="1"/>
              <a:t>Overview</a:t>
            </a:r>
            <a:endParaRPr lang="es-ES" dirty="0"/>
          </a:p>
          <a:p>
            <a:pPr lvl="1"/>
            <a:r>
              <a:rPr lang="es-ES" dirty="0"/>
              <a:t>Muestra las interacciones entre el sistema y el entorno</a:t>
            </a:r>
          </a:p>
          <a:p>
            <a:pPr marL="914400" lvl="1" indent="-457200">
              <a:buSzPct val="100000"/>
              <a:buFont typeface="+mj-lt"/>
              <a:buAutoNum type="arabicPeriod"/>
            </a:pPr>
            <a:r>
              <a:rPr lang="es-ES" dirty="0"/>
              <a:t>Identificamos los actores y los escenarios en los que participan</a:t>
            </a:r>
          </a:p>
          <a:p>
            <a:pPr marL="914400" lvl="1" indent="-457200">
              <a:buSzPct val="100000"/>
              <a:buFont typeface="+mj-lt"/>
              <a:buAutoNum type="arabicPeriod"/>
            </a:pPr>
            <a:r>
              <a:rPr lang="es-ES" dirty="0"/>
              <a:t>Identificamos las acciones y percepciones entre los actores y el sistema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889EA-B861-114C-9012-EDE4FA7777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58551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26AF-2464-AB4E-B3CE-0F89972AA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850"/>
            <a:ext cx="7982272" cy="533400"/>
          </a:xfrm>
        </p:spPr>
        <p:txBody>
          <a:bodyPr/>
          <a:lstStyle/>
          <a:p>
            <a:r>
              <a:rPr lang="es-ES" dirty="0"/>
              <a:t>Especificación del sistema: pasos no secuenciales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A9EE-934E-DC4C-91FB-01CB9C2C0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 continuación detallaremos los escenarios y los objetivos (</a:t>
            </a:r>
            <a:r>
              <a:rPr lang="es-ES" dirty="0" err="1"/>
              <a:t>goals</a:t>
            </a:r>
            <a:r>
              <a:rPr lang="es-ES" dirty="0"/>
              <a:t>): </a:t>
            </a:r>
            <a:r>
              <a:rPr lang="es-ES" dirty="0" err="1"/>
              <a:t>Scenario</a:t>
            </a:r>
            <a:r>
              <a:rPr lang="es-ES" dirty="0"/>
              <a:t> </a:t>
            </a:r>
            <a:r>
              <a:rPr lang="es-ES" dirty="0" err="1"/>
              <a:t>overview</a:t>
            </a:r>
            <a:r>
              <a:rPr lang="es-ES" dirty="0"/>
              <a:t> / </a:t>
            </a:r>
            <a:r>
              <a:rPr lang="es-ES" dirty="0" err="1"/>
              <a:t>Goal</a:t>
            </a:r>
            <a:r>
              <a:rPr lang="es-ES" dirty="0"/>
              <a:t> </a:t>
            </a:r>
            <a:r>
              <a:rPr lang="es-ES" dirty="0" err="1"/>
              <a:t>overview</a:t>
            </a:r>
            <a:endParaRPr lang="es-ES" dirty="0"/>
          </a:p>
          <a:p>
            <a:r>
              <a:rPr lang="es-ES" dirty="0"/>
              <a:t>Están interrelacionados</a:t>
            </a:r>
          </a:p>
          <a:p>
            <a:pPr lvl="1"/>
            <a:r>
              <a:rPr lang="es-ES" dirty="0"/>
              <a:t>Un escenario es un ejemplo de una posible ejecución del sistema, una traza de lo que normalmente pasará</a:t>
            </a:r>
          </a:p>
          <a:p>
            <a:pPr lvl="1"/>
            <a:r>
              <a:rPr lang="es-ES" dirty="0"/>
              <a:t>Un objetivo representa un estado al que queremos llegar</a:t>
            </a:r>
          </a:p>
          <a:p>
            <a:pPr lvl="1"/>
            <a:r>
              <a:rPr lang="es-ES" dirty="0"/>
              <a:t>Cada escenario ha de estar ligado </a:t>
            </a:r>
            <a:r>
              <a:rPr lang="es-ES" dirty="0" err="1"/>
              <a:t>almenos</a:t>
            </a:r>
            <a:r>
              <a:rPr lang="es-ES" dirty="0"/>
              <a:t> a un objetivo</a:t>
            </a:r>
          </a:p>
          <a:p>
            <a:pPr lvl="2"/>
            <a:r>
              <a:rPr lang="es-ES" dirty="0"/>
              <a:t>Un escenario trata de conseguir algo</a:t>
            </a:r>
          </a:p>
          <a:p>
            <a:pPr lvl="1"/>
            <a:r>
              <a:rPr lang="es-ES" dirty="0"/>
              <a:t>Normalmente iremos pasando de uno a otro a medida que hagamos cambios en ellos. </a:t>
            </a:r>
          </a:p>
          <a:p>
            <a:pPr lvl="2"/>
            <a:r>
              <a:rPr lang="es-ES" dirty="0"/>
              <a:t>PDT intentará ayudarnos propagando cambios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B4132-7F3E-614C-9AFC-59C99B3A27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323803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26AF-2464-AB4E-B3CE-0F89972AA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850"/>
            <a:ext cx="7982272" cy="533400"/>
          </a:xfrm>
        </p:spPr>
        <p:txBody>
          <a:bodyPr/>
          <a:lstStyle/>
          <a:p>
            <a:r>
              <a:rPr lang="es-ES" dirty="0"/>
              <a:t>Especificación del sistema: pasos no secuenciales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A9EE-934E-DC4C-91FB-01CB9C2C0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8050088" cy="4572000"/>
          </a:xfrm>
        </p:spPr>
        <p:txBody>
          <a:bodyPr/>
          <a:lstStyle/>
          <a:p>
            <a:r>
              <a:rPr lang="es-ES" dirty="0"/>
              <a:t>Los escenarios pueden descomponerse en </a:t>
            </a:r>
            <a:r>
              <a:rPr lang="es-ES" dirty="0" err="1"/>
              <a:t>subescenarios</a:t>
            </a:r>
            <a:endParaRPr lang="es-ES" dirty="0"/>
          </a:p>
          <a:p>
            <a:pPr lvl="1"/>
            <a:r>
              <a:rPr lang="es-ES" dirty="0"/>
              <a:t>Creamos los </a:t>
            </a:r>
            <a:r>
              <a:rPr lang="es-ES" dirty="0" err="1"/>
              <a:t>subescenarios</a:t>
            </a:r>
            <a:endParaRPr lang="es-ES" dirty="0"/>
          </a:p>
          <a:p>
            <a:pPr lvl="1"/>
            <a:r>
              <a:rPr lang="es-ES" dirty="0"/>
              <a:t>Los añadimos como </a:t>
            </a:r>
            <a:r>
              <a:rPr lang="es-ES" dirty="0" err="1"/>
              <a:t>Steps</a:t>
            </a:r>
            <a:r>
              <a:rPr lang="es-ES" dirty="0"/>
              <a:t> del objetivo (en </a:t>
            </a:r>
            <a:r>
              <a:rPr lang="es-ES" dirty="0" err="1"/>
              <a:t>Properties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Recordad, es un proceso iterativo. Puede que haya información que aún no sabemos. No pasa nada por dejar en blanco</a:t>
            </a:r>
          </a:p>
          <a:p>
            <a:r>
              <a:rPr lang="es-ES" dirty="0" err="1"/>
              <a:t>Steps</a:t>
            </a:r>
            <a:r>
              <a:rPr lang="es-ES" dirty="0"/>
              <a:t>: representan la secuencia de procesos que se realizan en ese escenario</a:t>
            </a:r>
          </a:p>
          <a:p>
            <a:pPr lvl="1"/>
            <a:r>
              <a:rPr lang="es-ES" dirty="0" err="1"/>
              <a:t>Goals</a:t>
            </a:r>
            <a:r>
              <a:rPr lang="es-ES" dirty="0"/>
              <a:t>: Procesos que el sistema debe completar internamente</a:t>
            </a:r>
          </a:p>
          <a:p>
            <a:pPr lvl="1"/>
            <a:r>
              <a:rPr lang="es-ES" dirty="0" err="1"/>
              <a:t>Scenarios</a:t>
            </a:r>
            <a:r>
              <a:rPr lang="es-ES" dirty="0"/>
              <a:t>: </a:t>
            </a:r>
            <a:r>
              <a:rPr lang="es-ES" dirty="0" err="1"/>
              <a:t>Subescenarios</a:t>
            </a:r>
            <a:endParaRPr lang="es-ES" dirty="0"/>
          </a:p>
          <a:p>
            <a:pPr lvl="1"/>
            <a:r>
              <a:rPr lang="es-ES" dirty="0" err="1"/>
              <a:t>Percepts</a:t>
            </a:r>
            <a:r>
              <a:rPr lang="es-ES" dirty="0"/>
              <a:t>: Cambios en el entorno que pueden afectar al sistema</a:t>
            </a:r>
          </a:p>
          <a:p>
            <a:pPr lvl="1"/>
            <a:r>
              <a:rPr lang="es-ES" dirty="0" err="1"/>
              <a:t>Actions</a:t>
            </a:r>
            <a:r>
              <a:rPr lang="es-ES" dirty="0"/>
              <a:t>: Procesos dentro del sistema que afectan el entorno externo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B4132-7F3E-614C-9AFC-59C99B3A27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077060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26AF-2464-AB4E-B3CE-0F89972AA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850"/>
            <a:ext cx="7982272" cy="533400"/>
          </a:xfrm>
        </p:spPr>
        <p:txBody>
          <a:bodyPr/>
          <a:lstStyle/>
          <a:p>
            <a:r>
              <a:rPr lang="es-ES" dirty="0"/>
              <a:t>Especificación del sistema: pasos no secuenciales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A9EE-934E-DC4C-91FB-01CB9C2C0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8050088" cy="4572000"/>
          </a:xfrm>
        </p:spPr>
        <p:txBody>
          <a:bodyPr/>
          <a:lstStyle/>
          <a:p>
            <a:r>
              <a:rPr lang="es-ES" dirty="0"/>
              <a:t>En el diagrama de objetivos (</a:t>
            </a:r>
            <a:r>
              <a:rPr lang="es-ES" dirty="0" err="1"/>
              <a:t>Goal</a:t>
            </a:r>
            <a:r>
              <a:rPr lang="es-ES" dirty="0"/>
              <a:t> </a:t>
            </a:r>
            <a:r>
              <a:rPr lang="es-ES" dirty="0" err="1"/>
              <a:t>overview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Podemos definir </a:t>
            </a:r>
            <a:r>
              <a:rPr lang="es-ES" dirty="0" err="1"/>
              <a:t>subobjetivos</a:t>
            </a:r>
            <a:endParaRPr lang="es-ES" dirty="0"/>
          </a:p>
          <a:p>
            <a:pPr lvl="1"/>
            <a:r>
              <a:rPr lang="es-ES" dirty="0"/>
              <a:t>Los conjuntos de </a:t>
            </a:r>
            <a:r>
              <a:rPr lang="es-ES" dirty="0" err="1"/>
              <a:t>subobjetivos</a:t>
            </a:r>
            <a:r>
              <a:rPr lang="es-ES" dirty="0"/>
              <a:t> se pueden agrupar mediante</a:t>
            </a:r>
          </a:p>
          <a:p>
            <a:pPr lvl="2"/>
            <a:r>
              <a:rPr lang="es-ES" dirty="0"/>
              <a:t>AND: Todos han de completarse para completar al padre</a:t>
            </a:r>
          </a:p>
          <a:p>
            <a:pPr lvl="2"/>
            <a:r>
              <a:rPr lang="es-ES" dirty="0"/>
              <a:t>OR: Al menos uno ha de completarse para completar al padre</a:t>
            </a:r>
          </a:p>
          <a:p>
            <a:pPr lvl="1"/>
            <a:r>
              <a:rPr lang="es-ES" dirty="0"/>
              <a:t>Recordad, es un proceso iterativo. </a:t>
            </a:r>
          </a:p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B4132-7F3E-614C-9AFC-59C99B3A27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870789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26AF-2464-AB4E-B3CE-0F89972AA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850"/>
            <a:ext cx="7982272" cy="533400"/>
          </a:xfrm>
        </p:spPr>
        <p:txBody>
          <a:bodyPr/>
          <a:lstStyle/>
          <a:p>
            <a:r>
              <a:rPr lang="es-ES" dirty="0"/>
              <a:t>Especificación del sistema: pasos no secuenciales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A9EE-934E-DC4C-91FB-01CB9C2C0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8050088" cy="4572000"/>
          </a:xfrm>
        </p:spPr>
        <p:txBody>
          <a:bodyPr/>
          <a:lstStyle/>
          <a:p>
            <a:r>
              <a:rPr lang="es-ES" dirty="0"/>
              <a:t>Roles del sistema</a:t>
            </a:r>
          </a:p>
          <a:p>
            <a:pPr lvl="1"/>
            <a:r>
              <a:rPr lang="es-ES" dirty="0"/>
              <a:t>Agrupan objetivos similares</a:t>
            </a:r>
          </a:p>
          <a:p>
            <a:pPr lvl="1"/>
            <a:r>
              <a:rPr lang="es-ES" dirty="0"/>
              <a:t>No es necesario que todos los objetivos de la jerarquía estén asociados a un rol</a:t>
            </a:r>
          </a:p>
          <a:p>
            <a:pPr lvl="1"/>
            <a:r>
              <a:rPr lang="es-ES" dirty="0"/>
              <a:t>Un rol puede tener varios objetivos</a:t>
            </a:r>
          </a:p>
          <a:p>
            <a:pPr lvl="1"/>
            <a:r>
              <a:rPr lang="es-ES" dirty="0"/>
              <a:t>Un objetivo puede estar asociado a varios roles</a:t>
            </a:r>
          </a:p>
          <a:p>
            <a:pPr lvl="1"/>
            <a:r>
              <a:rPr lang="es-ES" dirty="0"/>
              <a:t>Limitar su alcance: debería poder definirse en 1-2 frases</a:t>
            </a:r>
          </a:p>
          <a:p>
            <a:pPr lvl="1"/>
            <a:r>
              <a:rPr lang="es-ES" dirty="0"/>
              <a:t>Relaciona también a los roles las acciones y percepciones</a:t>
            </a:r>
          </a:p>
          <a:p>
            <a:pPr lvl="2"/>
            <a:r>
              <a:rPr lang="es-ES" dirty="0"/>
              <a:t>Todas las acciones/percepciones han de estar ligadas a algún rol</a:t>
            </a:r>
          </a:p>
          <a:p>
            <a:pPr lvl="2"/>
            <a:r>
              <a:rPr lang="es-ES" dirty="0"/>
              <a:t>Pueden estar ligadas a más de un rol</a:t>
            </a:r>
          </a:p>
          <a:p>
            <a:pPr lvl="1"/>
            <a:r>
              <a:rPr lang="es-ES" b="1" dirty="0"/>
              <a:t>No confundir rol con agente</a:t>
            </a:r>
          </a:p>
          <a:p>
            <a:pPr lvl="1"/>
            <a:r>
              <a:rPr lang="es-ES" dirty="0"/>
              <a:t>Añadid la descripción. Si está todo bien, el descriptor del rol lo tendréis hecho automáticamente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B4132-7F3E-614C-9AFC-59C99B3A27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300262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D8C9-6C6D-C34E-8C89-F96A83484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850"/>
            <a:ext cx="7982272" cy="533400"/>
          </a:xfrm>
        </p:spPr>
        <p:txBody>
          <a:bodyPr/>
          <a:lstStyle/>
          <a:p>
            <a:r>
              <a:rPr lang="es-ES" dirty="0"/>
              <a:t>Especificación del sistema: pasos no secuenciales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8E7B5-FB90-2D43-B32A-6487D79E0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7906072" cy="4572000"/>
          </a:xfrm>
        </p:spPr>
        <p:txBody>
          <a:bodyPr/>
          <a:lstStyle/>
          <a:p>
            <a:r>
              <a:rPr lang="es-ES" dirty="0"/>
              <a:t>Volvemos a especificar los escenarios para añadir los roles</a:t>
            </a:r>
          </a:p>
          <a:p>
            <a:pPr lvl="1"/>
            <a:r>
              <a:rPr lang="es-ES" dirty="0"/>
              <a:t>En </a:t>
            </a:r>
            <a:r>
              <a:rPr lang="es-ES" dirty="0" err="1"/>
              <a:t>Scenario</a:t>
            </a:r>
            <a:r>
              <a:rPr lang="es-ES" dirty="0"/>
              <a:t> </a:t>
            </a:r>
            <a:r>
              <a:rPr lang="es-ES" dirty="0" err="1"/>
              <a:t>Overview</a:t>
            </a:r>
            <a:r>
              <a:rPr lang="es-ES" dirty="0"/>
              <a:t>, en las </a:t>
            </a:r>
            <a:r>
              <a:rPr lang="es-ES" dirty="0" err="1"/>
              <a:t>properties</a:t>
            </a:r>
            <a:r>
              <a:rPr lang="es-ES" dirty="0"/>
              <a:t>, en el </a:t>
            </a:r>
            <a:r>
              <a:rPr lang="es-ES" dirty="0" err="1"/>
              <a:t>tab</a:t>
            </a:r>
            <a:r>
              <a:rPr lang="es-ES" dirty="0"/>
              <a:t> </a:t>
            </a:r>
            <a:r>
              <a:rPr lang="es-ES" dirty="0" err="1"/>
              <a:t>Steps</a:t>
            </a:r>
            <a:endParaRPr lang="es-ES" dirty="0"/>
          </a:p>
          <a:p>
            <a:pPr lvl="1"/>
            <a:r>
              <a:rPr lang="es-ES" dirty="0"/>
              <a:t>Añadimos los roles correspondientes a cada </a:t>
            </a:r>
            <a:r>
              <a:rPr lang="es-ES" dirty="0" err="1"/>
              <a:t>Step</a:t>
            </a:r>
            <a:endParaRPr lang="es-ES" dirty="0"/>
          </a:p>
          <a:p>
            <a:r>
              <a:rPr lang="es-ES" dirty="0"/>
              <a:t>Añadimos los sistemas de almacenamiento de datos (Data), en </a:t>
            </a:r>
            <a:r>
              <a:rPr lang="es-ES" dirty="0" err="1"/>
              <a:t>Analysis</a:t>
            </a:r>
            <a:r>
              <a:rPr lang="es-ES" dirty="0"/>
              <a:t> </a:t>
            </a:r>
            <a:r>
              <a:rPr lang="es-ES" dirty="0" err="1"/>
              <a:t>Overview</a:t>
            </a:r>
            <a:endParaRPr lang="es-ES" dirty="0"/>
          </a:p>
          <a:p>
            <a:pPr lvl="1"/>
            <a:r>
              <a:rPr lang="es-ES" dirty="0"/>
              <a:t>Esto nos permitirá definir en los </a:t>
            </a:r>
            <a:r>
              <a:rPr lang="es-ES" dirty="0" err="1"/>
              <a:t>Steps</a:t>
            </a:r>
            <a:r>
              <a:rPr lang="es-ES" dirty="0"/>
              <a:t> de los escenarios qué datos consume o escribe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212DF-FFBC-6144-BE50-C1D6F6DCB0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767796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FA93-7092-C143-9315-9EDDB8951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Diseño arquitectónico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E55F1-DC21-1A4C-AC6A-EBB5982F7C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465C4C8-93BC-5740-969C-BA533DC2E5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4611" y="1828800"/>
            <a:ext cx="7459578" cy="4572000"/>
          </a:xfrm>
        </p:spPr>
      </p:pic>
    </p:spTree>
    <p:extLst>
      <p:ext uri="{BB962C8B-B14F-4D97-AF65-F5344CB8AC3E}">
        <p14:creationId xmlns:p14="http://schemas.microsoft.com/office/powerpoint/2010/main" val="1208831590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2B49-9335-BA43-8211-D29B9AFAB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Diseño arquitectónico: Tipos de agente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CAB69-D37F-4D4C-9A90-5938EF2D4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7978080" cy="4572000"/>
          </a:xfrm>
        </p:spPr>
        <p:txBody>
          <a:bodyPr/>
          <a:lstStyle/>
          <a:p>
            <a:r>
              <a:rPr lang="es-ES" dirty="0"/>
              <a:t>Opción 1: El dominio ya identifica los tipos de agente</a:t>
            </a:r>
          </a:p>
          <a:p>
            <a:r>
              <a:rPr lang="es-ES" dirty="0"/>
              <a:t>Opción 2: Identifica tipos de agente en el sistema</a:t>
            </a:r>
          </a:p>
          <a:p>
            <a:pPr lvl="1"/>
            <a:r>
              <a:rPr lang="es-ES" dirty="0"/>
              <a:t>Agrupando funcionalidades a tipos de agentes según cohesión y acoplamiento</a:t>
            </a:r>
          </a:p>
          <a:p>
            <a:pPr lvl="1"/>
            <a:r>
              <a:rPr lang="es-ES" dirty="0"/>
              <a:t>Agrupando funcionalidades que</a:t>
            </a:r>
          </a:p>
          <a:p>
            <a:pPr lvl="2"/>
            <a:r>
              <a:rPr lang="es-ES" dirty="0"/>
              <a:t>Están relacionadas basándote en el sentido común</a:t>
            </a:r>
          </a:p>
          <a:p>
            <a:pPr lvl="2"/>
            <a:r>
              <a:rPr lang="es-ES" dirty="0"/>
              <a:t>Requieran bastante información relacionada</a:t>
            </a:r>
          </a:p>
          <a:p>
            <a:pPr lvl="3"/>
            <a:r>
              <a:rPr lang="es-ES" dirty="0"/>
              <a:t>Data </a:t>
            </a:r>
            <a:r>
              <a:rPr lang="es-ES" dirty="0" err="1"/>
              <a:t>Coupling</a:t>
            </a:r>
            <a:r>
              <a:rPr lang="es-ES" dirty="0"/>
              <a:t> </a:t>
            </a:r>
            <a:r>
              <a:rPr lang="es-ES" dirty="0" err="1"/>
              <a:t>Diagram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8A7FD-0611-C84F-8E18-3321A42297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677697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6644A-D9E2-7A4E-B203-707976F97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Data </a:t>
            </a:r>
            <a:r>
              <a:rPr lang="es-ES" dirty="0" err="1"/>
              <a:t>Coupling</a:t>
            </a:r>
            <a:r>
              <a:rPr lang="es-ES" dirty="0"/>
              <a:t> </a:t>
            </a:r>
            <a:r>
              <a:rPr lang="es-ES" dirty="0" err="1"/>
              <a:t>Diagram</a:t>
            </a:r>
            <a:endParaRPr lang="es-E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0937D5-2149-EB4F-8C67-21DC59C8C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6411" y="1828800"/>
            <a:ext cx="5855977" cy="4572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C7317-3C86-C049-B314-03814423F3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853987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4E68-A84A-F443-892E-5B715C36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Diseño arquitectónico: Descriptores de agentes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FAA3F-A617-C246-9CAA-4FB8B940A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Genera los descriptores de agentes según los tipos de agente</a:t>
            </a:r>
          </a:p>
          <a:p>
            <a:pPr lvl="1"/>
            <a:r>
              <a:rPr lang="es-ES" dirty="0"/>
              <a:t>Nombre y Descripción</a:t>
            </a:r>
          </a:p>
          <a:p>
            <a:pPr lvl="1"/>
            <a:r>
              <a:rPr lang="es-ES" dirty="0" err="1"/>
              <a:t>Cardinalidad</a:t>
            </a:r>
            <a:r>
              <a:rPr lang="es-ES" dirty="0"/>
              <a:t>: ¿Cuántos agentes de cada tipo? (uno, muchos, dinámico)</a:t>
            </a:r>
          </a:p>
          <a:p>
            <a:pPr lvl="1"/>
            <a:r>
              <a:rPr lang="es-ES" dirty="0" err="1"/>
              <a:t>Lifetime</a:t>
            </a:r>
            <a:r>
              <a:rPr lang="es-ES" dirty="0"/>
              <a:t>: ¿Cuál es el tiempo de vida del agente?</a:t>
            </a:r>
          </a:p>
          <a:p>
            <a:pPr lvl="1"/>
            <a:r>
              <a:rPr lang="es-ES" dirty="0" err="1"/>
              <a:t>Initialisation</a:t>
            </a:r>
            <a:r>
              <a:rPr lang="es-ES" dirty="0"/>
              <a:t>: ¿Cuál es el estado inicial del agente?</a:t>
            </a:r>
          </a:p>
          <a:p>
            <a:pPr lvl="1"/>
            <a:r>
              <a:rPr lang="es-ES" dirty="0" err="1"/>
              <a:t>Demise</a:t>
            </a:r>
            <a:r>
              <a:rPr lang="es-ES" dirty="0"/>
              <a:t>: ¿Qué debería hacerse cuando un agente es matado?</a:t>
            </a:r>
          </a:p>
          <a:p>
            <a:pPr lvl="1"/>
            <a:r>
              <a:rPr lang="es-ES" dirty="0"/>
              <a:t>Uses/Produces data: ¿Qué datos usa/produce el agente?</a:t>
            </a:r>
          </a:p>
          <a:p>
            <a:pPr lvl="1"/>
            <a:r>
              <a:rPr lang="es-ES" dirty="0"/>
              <a:t>¿A qué eventos debería el agente reaccionar?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0B92C-D3E7-1B45-A7B1-2FC695109F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368644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FF47-4637-C349-9079-DF57B9AF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Diseño detallado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B4FD9-8F51-744A-8F6D-FB9631FDD4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5F5B8F4-0078-F14D-A69E-8A96B8942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6832" y="1828800"/>
            <a:ext cx="6875136" cy="4572000"/>
          </a:xfrm>
        </p:spPr>
      </p:pic>
    </p:spTree>
    <p:extLst>
      <p:ext uri="{BB962C8B-B14F-4D97-AF65-F5344CB8AC3E}">
        <p14:creationId xmlns:p14="http://schemas.microsoft.com/office/powerpoint/2010/main" val="2447916164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5542-3400-8046-A530-E073F1291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BA0CF-43E8-C64E-B021-401EE6876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7690048" cy="4572000"/>
          </a:xfrm>
        </p:spPr>
        <p:txBody>
          <a:bodyPr/>
          <a:lstStyle/>
          <a:p>
            <a:endParaRPr lang="es-ES" dirty="0"/>
          </a:p>
          <a:p>
            <a:r>
              <a:rPr lang="es-ES" dirty="0" err="1"/>
              <a:t>Plugin</a:t>
            </a:r>
            <a:r>
              <a:rPr lang="es-ES" dirty="0"/>
              <a:t>: https://sites.google.com/site/rmitagents/software/prometheusPDT</a:t>
            </a:r>
          </a:p>
          <a:p>
            <a:r>
              <a:rPr lang="es-ES" dirty="0"/>
              <a:t>Tutorial: https://</a:t>
            </a:r>
            <a:r>
              <a:rPr lang="es-ES" dirty="0" err="1"/>
              <a:t>sites.google.com</a:t>
            </a:r>
            <a:r>
              <a:rPr lang="es-ES" dirty="0"/>
              <a:t>/</a:t>
            </a:r>
            <a:r>
              <a:rPr lang="es-ES" dirty="0" err="1"/>
              <a:t>site</a:t>
            </a:r>
            <a:r>
              <a:rPr lang="es-ES" dirty="0"/>
              <a:t>/</a:t>
            </a:r>
            <a:r>
              <a:rPr lang="es-ES" dirty="0" err="1"/>
              <a:t>rmitagents</a:t>
            </a:r>
            <a:r>
              <a:rPr lang="es-ES" dirty="0"/>
              <a:t>/software/</a:t>
            </a:r>
            <a:r>
              <a:rPr lang="es-ES" dirty="0" err="1"/>
              <a:t>prometheusPDT</a:t>
            </a:r>
            <a:r>
              <a:rPr lang="es-ES" dirty="0"/>
              <a:t>/</a:t>
            </a:r>
            <a:r>
              <a:rPr lang="es-ES" dirty="0" err="1"/>
              <a:t>tutorials</a:t>
            </a:r>
            <a:r>
              <a:rPr lang="es-ES" dirty="0"/>
              <a:t>/</a:t>
            </a:r>
            <a:r>
              <a:rPr lang="es-ES" dirty="0" err="1"/>
              <a:t>meteorology</a:t>
            </a:r>
            <a:endParaRPr lang="es-ES" dirty="0"/>
          </a:p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12B0B-1B56-D44A-902B-1E83D2F9E2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A92189-4A1C-DB4D-A308-1760EA4C79C7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243722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FB2B51-DCE5-FF4A-AE24-D515E37E97E0}" type="slidenum">
              <a:rPr lang="en-GB"/>
              <a:pPr/>
              <a:t>20</a:t>
            </a:fld>
            <a:endParaRPr lang="en-GB"/>
          </a:p>
        </p:txBody>
      </p:sp>
      <p:pic>
        <p:nvPicPr>
          <p:cNvPr id="451595" name="Picture 6" descr="D:\downloads\DropBox\My Dropbox\Logo KEML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438" y="1516063"/>
            <a:ext cx="7058025" cy="241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691680" y="4221088"/>
            <a:ext cx="6369050" cy="1743075"/>
          </a:xfrm>
          <a:prstGeom prst="rect">
            <a:avLst/>
          </a:prstGeom>
        </p:spPr>
        <p:txBody>
          <a:bodyPr/>
          <a:lstStyle>
            <a:lvl1pPr marL="342900" indent="-342900" algn="l" defTabSz="7620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990033"/>
              </a:buClr>
              <a:buSzPct val="75000"/>
              <a:buFont typeface="Wingdings" charset="0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SzPct val="65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2pPr>
            <a:lvl3pPr marL="11430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Monotype Sorts" charset="0"/>
              <a:buChar char="u"/>
              <a:defRPr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3pPr>
            <a:lvl4pPr marL="16002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0066"/>
              </a:buClr>
              <a:buSzPct val="60000"/>
              <a:buFont typeface="Monotype Sorts" charset="0"/>
              <a:buChar char="t"/>
              <a:defRPr sz="16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4pPr>
            <a:lvl5pPr marL="20574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5pPr>
            <a:lvl6pPr marL="25146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6pPr>
            <a:lvl7pPr marL="29718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7pPr>
            <a:lvl8pPr marL="34290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8pPr>
            <a:lvl9pPr marL="38862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_tradnl" sz="2000" dirty="0"/>
              <a:t>Ulises Cortés, Luis Oliva Felipe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s-ES" sz="1600" dirty="0"/>
              <a:t>{</a:t>
            </a:r>
            <a:r>
              <a:rPr lang="es-ES" sz="1600" dirty="0" err="1"/>
              <a:t>ia,loliva</a:t>
            </a:r>
            <a:r>
              <a:rPr lang="es-ES" sz="1600" dirty="0"/>
              <a:t>}@</a:t>
            </a:r>
            <a:r>
              <a:rPr lang="es-ES" sz="1600" dirty="0" err="1"/>
              <a:t>cs.upc.edu</a:t>
            </a:r>
            <a:endParaRPr lang="es-E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s-ES" sz="1600" dirty="0"/>
              <a:t>http://</a:t>
            </a:r>
            <a:r>
              <a:rPr lang="es-ES" sz="1600" dirty="0" err="1"/>
              <a:t>www.lsi.upc.edu</a:t>
            </a:r>
            <a:r>
              <a:rPr lang="es-ES" sz="1600" dirty="0"/>
              <a:t>/~</a:t>
            </a:r>
            <a:r>
              <a:rPr lang="es-ES_tradnl" sz="1400" b="1" noProof="1"/>
              <a:t>{ia,loliva}</a:t>
            </a:r>
            <a:endParaRPr lang="es-E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s-ES" sz="1600" dirty="0"/>
              <a:t>2018</a:t>
            </a:r>
            <a:endParaRPr lang="es-ES_tradnl" sz="1600" dirty="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KEMLg">
  <a:themeElements>
    <a:clrScheme name="KEMLg 8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0000FF"/>
      </a:hlink>
      <a:folHlink>
        <a:srgbClr val="CECECE"/>
      </a:folHlink>
    </a:clrScheme>
    <a:fontScheme name="KEMLg">
      <a:majorFont>
        <a:latin typeface="Tahoma"/>
        <a:ea typeface="ＭＳ Ｐゴシック"/>
        <a:cs typeface="Tahoma"/>
      </a:majorFont>
      <a:minorFont>
        <a:latin typeface="Tahoma"/>
        <a:ea typeface="ＭＳ Ｐゴシック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99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99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KEML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EML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8">
        <a:dk1>
          <a:srgbClr val="000000"/>
        </a:dk1>
        <a:lt1>
          <a:srgbClr val="FFFFFF"/>
        </a:lt1>
        <a:dk2>
          <a:srgbClr val="000000"/>
        </a:dk2>
        <a:lt2>
          <a:srgbClr val="919191"/>
        </a:lt2>
        <a:accent1>
          <a:srgbClr val="618FFD"/>
        </a:accent1>
        <a:accent2>
          <a:srgbClr val="00AE00"/>
        </a:accent2>
        <a:accent3>
          <a:srgbClr val="FFFFFF"/>
        </a:accent3>
        <a:accent4>
          <a:srgbClr val="000000"/>
        </a:accent4>
        <a:accent5>
          <a:srgbClr val="B7C6FE"/>
        </a:accent5>
        <a:accent6>
          <a:srgbClr val="009D00"/>
        </a:accent6>
        <a:hlink>
          <a:srgbClr val="0000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21782</TotalTime>
  <Pages>63</Pages>
  <Words>1548</Words>
  <Application>Microsoft Macintosh PowerPoint</Application>
  <PresentationFormat>On-screen Show (4:3)</PresentationFormat>
  <Paragraphs>216</Paragraphs>
  <Slides>20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ＭＳ Ｐゴシック</vt:lpstr>
      <vt:lpstr>Arial</vt:lpstr>
      <vt:lpstr>Monotype Sorts</vt:lpstr>
      <vt:lpstr>Tahoma</vt:lpstr>
      <vt:lpstr>Times New Roman</vt:lpstr>
      <vt:lpstr>Wingdings</vt:lpstr>
      <vt:lpstr>KEMLg</vt:lpstr>
      <vt:lpstr>Image</vt:lpstr>
      <vt:lpstr>Prometheus</vt:lpstr>
      <vt:lpstr>¿Qué és? </vt:lpstr>
      <vt:lpstr>Fases</vt:lpstr>
      <vt:lpstr>Visión general del proceso</vt:lpstr>
      <vt:lpstr>Prometheus Design Tool (PDT)</vt:lpstr>
      <vt:lpstr>Especificación del sistema</vt:lpstr>
      <vt:lpstr>Especificación del sistema</vt:lpstr>
      <vt:lpstr>Especificación del sistema: pasos no secuenciales</vt:lpstr>
      <vt:lpstr>Especificación del sistema: pasos no secuenciales</vt:lpstr>
      <vt:lpstr>Especificación del sistema: pasos no secuenciales</vt:lpstr>
      <vt:lpstr>Especificación del sistema: pasos no secuenciales</vt:lpstr>
      <vt:lpstr>Especificación del sistema: pasos no secuenciales</vt:lpstr>
      <vt:lpstr>Especificación del sistema: pasos no secuenciales</vt:lpstr>
      <vt:lpstr>Diseño arquitectónico</vt:lpstr>
      <vt:lpstr>Diseño arquitectónico: Tipos de agente</vt:lpstr>
      <vt:lpstr>Data Coupling Diagram</vt:lpstr>
      <vt:lpstr>Diseño arquitectónico: Descriptores de agentes</vt:lpstr>
      <vt:lpstr>Diseño detallado</vt:lpstr>
      <vt:lpstr>Referencias</vt:lpstr>
      <vt:lpstr>PowerPoint Presentation</vt:lpstr>
    </vt:vector>
  </TitlesOfParts>
  <Company>KEMLG-UPC</Company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 título de diapositiva</dc:title>
  <dc:subject>Curs-Doctorat- SISPD</dc:subject>
  <dc:creator>Miquel Sànchez i Marrè</dc:creator>
  <dc:description>2003</dc:description>
  <cp:lastModifiedBy>Luis Oliva-Felipe</cp:lastModifiedBy>
  <cp:revision>619</cp:revision>
  <cp:lastPrinted>2018-04-16T06:11:28Z</cp:lastPrinted>
  <dcterms:created xsi:type="dcterms:W3CDTF">2002-03-05T14:15:09Z</dcterms:created>
  <dcterms:modified xsi:type="dcterms:W3CDTF">2018-05-03T02:56:03Z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2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C:\temp\pre</vt:lpwstr>
  </property>
</Properties>
</file>