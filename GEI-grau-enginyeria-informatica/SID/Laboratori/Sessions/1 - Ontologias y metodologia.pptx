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480" r:id="rId2"/>
    <p:sldId id="1679" r:id="rId3"/>
    <p:sldId id="840" r:id="rId4"/>
    <p:sldId id="1677" r:id="rId5"/>
    <p:sldId id="1678" r:id="rId6"/>
    <p:sldId id="1680" r:id="rId7"/>
    <p:sldId id="1724" r:id="rId8"/>
    <p:sldId id="1725" r:id="rId9"/>
    <p:sldId id="1726" r:id="rId10"/>
    <p:sldId id="1727" r:id="rId11"/>
    <p:sldId id="1728" r:id="rId12"/>
    <p:sldId id="1681" r:id="rId13"/>
    <p:sldId id="1730" r:id="rId14"/>
    <p:sldId id="1682" r:id="rId15"/>
    <p:sldId id="1723" r:id="rId16"/>
    <p:sldId id="1729" r:id="rId17"/>
    <p:sldId id="1683" r:id="rId18"/>
    <p:sldId id="1684" r:id="rId19"/>
    <p:sldId id="1685" r:id="rId20"/>
    <p:sldId id="1686" r:id="rId21"/>
    <p:sldId id="1687" r:id="rId22"/>
    <p:sldId id="1688" r:id="rId23"/>
    <p:sldId id="1690" r:id="rId24"/>
    <p:sldId id="1691" r:id="rId25"/>
    <p:sldId id="1693" r:id="rId26"/>
    <p:sldId id="1720" r:id="rId27"/>
    <p:sldId id="1694" r:id="rId28"/>
    <p:sldId id="1700" r:id="rId29"/>
    <p:sldId id="1699" r:id="rId30"/>
    <p:sldId id="1695" r:id="rId31"/>
    <p:sldId id="1697" r:id="rId32"/>
    <p:sldId id="1721" r:id="rId33"/>
    <p:sldId id="1712" r:id="rId34"/>
    <p:sldId id="1706" r:id="rId35"/>
    <p:sldId id="1701" r:id="rId36"/>
    <p:sldId id="1702" r:id="rId37"/>
    <p:sldId id="1703" r:id="rId38"/>
    <p:sldId id="1704" r:id="rId39"/>
    <p:sldId id="1707" r:id="rId40"/>
    <p:sldId id="1705" r:id="rId41"/>
    <p:sldId id="1708" r:id="rId42"/>
    <p:sldId id="1709" r:id="rId43"/>
    <p:sldId id="1722" r:id="rId44"/>
    <p:sldId id="1710" r:id="rId45"/>
    <p:sldId id="1711" r:id="rId46"/>
    <p:sldId id="1713" r:id="rId47"/>
    <p:sldId id="1714" r:id="rId48"/>
    <p:sldId id="1715" r:id="rId49"/>
    <p:sldId id="1716" r:id="rId50"/>
    <p:sldId id="1717" r:id="rId51"/>
    <p:sldId id="1718" r:id="rId52"/>
    <p:sldId id="1719" r:id="rId53"/>
    <p:sldId id="434" r:id="rId54"/>
  </p:sldIdLst>
  <p:sldSz cx="9144000" cy="6858000" type="screen4x3"/>
  <p:notesSz cx="7099300" cy="102346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0033CC"/>
    <a:srgbClr val="FF9966"/>
    <a:srgbClr val="3366CC"/>
    <a:srgbClr val="0066CC"/>
    <a:srgbClr val="33CCFF"/>
    <a:srgbClr val="66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4" autoAdjust="0"/>
    <p:restoredTop sz="61926" autoAdjust="0"/>
  </p:normalViewPr>
  <p:slideViewPr>
    <p:cSldViewPr>
      <p:cViewPr varScale="1">
        <p:scale>
          <a:sx n="70" d="100"/>
          <a:sy n="70" d="100"/>
        </p:scale>
        <p:origin x="2896" y="176"/>
      </p:cViewPr>
      <p:guideLst>
        <p:guide orient="horz" pos="2160"/>
        <p:guide pos="1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818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0523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9325" y="4892675"/>
            <a:ext cx="5200650" cy="42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663" tIns="44536" rIns="90663" bIns="445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editar el estilo del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898525"/>
            <a:ext cx="4767263" cy="3575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018583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Tipos</a:t>
            </a:r>
            <a:r>
              <a:rPr lang="ca-ES" dirty="0"/>
              <a:t> de </a:t>
            </a:r>
            <a:r>
              <a:rPr lang="ca-ES" dirty="0" err="1"/>
              <a:t>razonamiento</a:t>
            </a:r>
            <a:r>
              <a:rPr lang="ca-ES" dirty="0"/>
              <a:t> (Modus </a:t>
            </a:r>
            <a:r>
              <a:rPr lang="ca-ES" dirty="0" err="1"/>
              <a:t>ponens</a:t>
            </a:r>
            <a:r>
              <a:rPr lang="ca-ES" dirty="0"/>
              <a:t>, modus </a:t>
            </a:r>
            <a:r>
              <a:rPr lang="ca-ES" dirty="0" err="1"/>
              <a:t>tollens</a:t>
            </a:r>
            <a:r>
              <a:rPr lang="ca-ES" dirty="0"/>
              <a:t> </a:t>
            </a:r>
            <a:r>
              <a:rPr lang="ca-ES" dirty="0" err="1"/>
              <a:t>y</a:t>
            </a:r>
            <a:r>
              <a:rPr lang="ca-ES" dirty="0"/>
              <a:t> </a:t>
            </a:r>
            <a:r>
              <a:rPr lang="ca-ES" dirty="0" err="1"/>
              <a:t>razonamiento</a:t>
            </a:r>
            <a:r>
              <a:rPr lang="ca-ES" dirty="0"/>
              <a:t> </a:t>
            </a:r>
            <a:r>
              <a:rPr lang="ca-ES" dirty="0" err="1"/>
              <a:t>mixto</a:t>
            </a:r>
            <a:r>
              <a:rPr lang="ca-ES" dirty="0"/>
              <a:t>)</a:t>
            </a:r>
          </a:p>
          <a:p>
            <a:r>
              <a:rPr lang="ca-ES" dirty="0"/>
              <a:t>La </a:t>
            </a:r>
            <a:r>
              <a:rPr lang="ca-ES" dirty="0" err="1"/>
              <a:t>clasificación</a:t>
            </a:r>
            <a:r>
              <a:rPr lang="ca-ES" dirty="0"/>
              <a:t> </a:t>
            </a:r>
            <a:r>
              <a:rPr lang="ca-ES" dirty="0" err="1"/>
              <a:t>tiene</a:t>
            </a:r>
            <a:r>
              <a:rPr lang="ca-ES" dirty="0"/>
              <a:t> una base de </a:t>
            </a:r>
            <a:r>
              <a:rPr lang="ca-ES" dirty="0" err="1"/>
              <a:t>razonamiento</a:t>
            </a:r>
            <a:endParaRPr lang="ca-ES" dirty="0"/>
          </a:p>
          <a:p>
            <a:r>
              <a:rPr lang="ca-ES" dirty="0" err="1"/>
              <a:t>Ejemplo</a:t>
            </a:r>
            <a:r>
              <a:rPr lang="ca-ES" dirty="0"/>
              <a:t> de </a:t>
            </a:r>
            <a:r>
              <a:rPr lang="ca-ES" dirty="0" err="1"/>
              <a:t>clasificación</a:t>
            </a:r>
            <a:r>
              <a:rPr lang="ca-ES" dirty="0"/>
              <a:t> </a:t>
            </a:r>
            <a:r>
              <a:rPr lang="ca-ES" dirty="0" err="1"/>
              <a:t>basado</a:t>
            </a:r>
            <a:r>
              <a:rPr lang="ca-ES" dirty="0"/>
              <a:t> en el caso </a:t>
            </a:r>
            <a:r>
              <a:rPr lang="ca-ES" dirty="0" err="1"/>
              <a:t>presentado</a:t>
            </a:r>
            <a:r>
              <a:rPr lang="ca-ES" dirty="0"/>
              <a:t>. Uso de </a:t>
            </a:r>
            <a:r>
              <a:rPr lang="ca-ES" dirty="0" err="1"/>
              <a:t>conjuntos</a:t>
            </a:r>
            <a:r>
              <a:rPr lang="ca-ES" dirty="0"/>
              <a:t>. </a:t>
            </a:r>
            <a:r>
              <a:rPr lang="ca-ES" dirty="0" err="1"/>
              <a:t>Dispositivo</a:t>
            </a:r>
            <a:r>
              <a:rPr lang="ca-ES" dirty="0"/>
              <a:t> </a:t>
            </a:r>
            <a:r>
              <a:rPr lang="ca-ES" dirty="0" err="1"/>
              <a:t>y</a:t>
            </a:r>
            <a:r>
              <a:rPr lang="ca-ES" dirty="0"/>
              <a:t> </a:t>
            </a:r>
            <a:r>
              <a:rPr lang="ca-ES" dirty="0" err="1"/>
              <a:t>particulares</a:t>
            </a:r>
            <a:r>
              <a:rPr lang="ca-ES" baseline="0" dirty="0"/>
              <a:t> de </a:t>
            </a:r>
            <a:r>
              <a:rPr lang="ca-ES" baseline="0" dirty="0" err="1"/>
              <a:t>dispositivos</a:t>
            </a:r>
            <a:r>
              <a:rPr lang="ca-ES" baseline="0" dirty="0"/>
              <a:t>.</a:t>
            </a:r>
          </a:p>
          <a:p>
            <a:endParaRPr lang="ca-ES" baseline="0" dirty="0"/>
          </a:p>
          <a:p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Sharing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common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understanding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structure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information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among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people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or</a:t>
            </a:r>
            <a:r>
              <a:rPr lang="es-ES" sz="16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software </a:t>
            </a:r>
            <a:r>
              <a:rPr lang="es-ES" sz="16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agents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more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common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goals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in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developing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ontologies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(Musen 1992;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Gruber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1993).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example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suppose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several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different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Web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sites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contain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medical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information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provide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medical e-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commerce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services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If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Web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sites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share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publish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same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underlying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terms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all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use,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computer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agents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extract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aggregate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information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from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different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sites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agents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use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aggregated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information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answer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user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queries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as input data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other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applications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</a:t>
            </a:r>
          </a:p>
          <a:p>
            <a:endParaRPr lang="es-ES" sz="1200" b="0" i="1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+mn-cs"/>
            </a:endParaRPr>
          </a:p>
          <a:p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Enabling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reuse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knowledge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was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driving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forces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behind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recent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surge in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research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example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models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many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different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need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represent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notion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time.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representation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includes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notions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time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intervals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points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in time,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relative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measures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time, and so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If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group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researchers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develops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such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in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detail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others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simply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reuse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their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Additionally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if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need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build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large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integrate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several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existing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ontologies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describing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portions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large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also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reuse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 general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such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as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UNSPSC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extend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describe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our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interest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</a:t>
            </a:r>
          </a:p>
          <a:p>
            <a:endParaRPr lang="es-ES" sz="1200" b="0" i="1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+mn-cs"/>
            </a:endParaRPr>
          </a:p>
          <a:p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Making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explicit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assumptions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underlying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implementation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makes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possible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change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assumptions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easily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if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our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knowledge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about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changes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Hard-coding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assumptions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about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world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in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programming-language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code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makes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assumptions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not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only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hard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find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understand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but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also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hard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change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in particular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someone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without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programming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expertise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In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addition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,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explicit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specifications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knowledge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are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useful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new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users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who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must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learn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what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terms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in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mean. </a:t>
            </a:r>
          </a:p>
          <a:p>
            <a:endParaRPr lang="es-ES" sz="1200" b="0" i="1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+mn-cs"/>
            </a:endParaRPr>
          </a:p>
          <a:p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Separating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knowledge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from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operational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knowledge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another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common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use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ontologies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describe 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task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configuring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product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from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components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according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required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specification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implement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program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that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configuration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independent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products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components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themselves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(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McGuinness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Wright 1998).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develop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PC-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components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characteristics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apply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algorithm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configure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made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-to-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order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PCs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can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also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use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same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algorithm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configure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elevators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if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“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feed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”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elevator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component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(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Rothenfluh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et al. 1996).</a:t>
            </a:r>
          </a:p>
          <a:p>
            <a:endParaRPr lang="es-ES" sz="1200" b="0" i="1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+mn-cs"/>
            </a:endParaRPr>
          </a:p>
          <a:p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Analyzing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domain</a:t>
            </a:r>
            <a:r>
              <a:rPr lang="es-ES" sz="1200" b="1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1" i="1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knowledge</a:t>
            </a:r>
            <a:r>
              <a:rPr lang="es-ES" sz="1200" b="0" i="1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possible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once 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declarative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specification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terms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available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.  Formal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analysis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of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terms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is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extremely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valuable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when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both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attempting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to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reuse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existing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ontologies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and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extending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them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 (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McGuinness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Times New Roman" charset="0"/>
                <a:ea typeface="ＭＳ Ｐゴシック" charset="0"/>
                <a:cs typeface="+mn-cs"/>
              </a:rPr>
              <a:t> et al. 2000).</a:t>
            </a:r>
          </a:p>
          <a:p>
            <a:endParaRPr lang="ca-ES" baseline="0" dirty="0"/>
          </a:p>
          <a:p>
            <a:endParaRPr lang="ca-E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agente es un cajón de sastre, donde podemos poner diferentes técnicas e incluso híbridos que combinen</a:t>
            </a:r>
            <a:r>
              <a:rPr lang="es-ES" baseline="0" dirty="0"/>
              <a:t> varias de ellas. Igualmente, estas técnicas se pueden usar de forma independiente a la arquitectura de agentes, es decir, como sistemas en si mismos.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A3A451-D1D1-4C43-8C7B-7E4BA39F1D07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9013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609992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Lógica</a:t>
            </a:r>
            <a:r>
              <a:rPr lang="ca-ES" dirty="0"/>
              <a:t> de </a:t>
            </a:r>
            <a:r>
              <a:rPr lang="ca-ES" dirty="0" err="1"/>
              <a:t>fórmulas</a:t>
            </a:r>
            <a:r>
              <a:rPr lang="ca-ES" dirty="0"/>
              <a:t> &lt; </a:t>
            </a:r>
            <a:r>
              <a:rPr lang="ca-ES" dirty="0" err="1"/>
              <a:t>Description</a:t>
            </a:r>
            <a:r>
              <a:rPr lang="ca-ES" dirty="0"/>
              <a:t> </a:t>
            </a:r>
            <a:r>
              <a:rPr lang="ca-ES" dirty="0" err="1"/>
              <a:t>Logics</a:t>
            </a:r>
            <a:r>
              <a:rPr lang="ca-ES" dirty="0"/>
              <a:t> &lt; </a:t>
            </a:r>
            <a:r>
              <a:rPr lang="ca-ES" dirty="0" err="1"/>
              <a:t>Lógica</a:t>
            </a:r>
            <a:r>
              <a:rPr lang="ca-ES" dirty="0"/>
              <a:t> de </a:t>
            </a:r>
            <a:r>
              <a:rPr lang="ca-ES" dirty="0" err="1"/>
              <a:t>predicados</a:t>
            </a:r>
            <a:r>
              <a:rPr lang="ca-ES" dirty="0"/>
              <a:t>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Se </a:t>
            </a:r>
            <a:r>
              <a:rPr lang="ca-ES" dirty="0" err="1"/>
              <a:t>recomienda</a:t>
            </a:r>
            <a:r>
              <a:rPr lang="ca-ES" dirty="0"/>
              <a:t> usar OWL-DL. </a:t>
            </a:r>
            <a:r>
              <a:rPr lang="ca-ES" dirty="0" err="1"/>
              <a:t>Abrir</a:t>
            </a:r>
            <a:r>
              <a:rPr lang="ca-ES" dirty="0"/>
              <a:t> </a:t>
            </a:r>
            <a:r>
              <a:rPr lang="ca-ES" dirty="0" err="1"/>
              <a:t>protege</a:t>
            </a:r>
            <a:r>
              <a:rPr lang="ca-ES" dirty="0"/>
              <a:t> </a:t>
            </a:r>
            <a:r>
              <a:rPr lang="ca-ES" dirty="0" err="1"/>
              <a:t>y</a:t>
            </a:r>
            <a:r>
              <a:rPr lang="ca-ES" dirty="0"/>
              <a:t> generar una </a:t>
            </a:r>
            <a:r>
              <a:rPr lang="ca-ES" dirty="0" err="1"/>
              <a:t>nueva</a:t>
            </a:r>
            <a:r>
              <a:rPr lang="ca-ES" dirty="0"/>
              <a:t> </a:t>
            </a:r>
            <a:r>
              <a:rPr lang="ca-ES" dirty="0" err="1"/>
              <a:t>ontología</a:t>
            </a:r>
            <a:r>
              <a:rPr lang="ca-ES" dirty="0"/>
              <a:t> en formato OWL-DL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baseline="0" dirty="0" err="1"/>
              <a:t>Propiedad</a:t>
            </a:r>
            <a:r>
              <a:rPr lang="ca-ES" baseline="0" dirty="0"/>
              <a:t> </a:t>
            </a:r>
            <a:r>
              <a:rPr lang="ca-ES" baseline="0" dirty="0" err="1"/>
              <a:t>existente</a:t>
            </a:r>
            <a:r>
              <a:rPr lang="ca-ES" baseline="0" dirty="0"/>
              <a:t> como </a:t>
            </a:r>
            <a:r>
              <a:rPr lang="ca-ES" baseline="0" dirty="0" err="1"/>
              <a:t>clase</a:t>
            </a:r>
            <a:r>
              <a:rPr lang="ca-ES" baseline="0" dirty="0"/>
              <a:t> (</a:t>
            </a:r>
            <a:r>
              <a:rPr lang="ca-ES" baseline="0" dirty="0" err="1"/>
              <a:t>silla</a:t>
            </a:r>
            <a:r>
              <a:rPr lang="ca-ES" baseline="0" dirty="0"/>
              <a:t> de </a:t>
            </a:r>
            <a:r>
              <a:rPr lang="ca-ES" baseline="0" dirty="0" err="1"/>
              <a:t>madera</a:t>
            </a:r>
            <a:r>
              <a:rPr lang="ca-ES" baseline="0" dirty="0"/>
              <a:t>, </a:t>
            </a:r>
            <a:r>
              <a:rPr lang="ca-ES" baseline="0" dirty="0" err="1"/>
              <a:t>plástico</a:t>
            </a:r>
            <a:r>
              <a:rPr lang="ca-ES" baseline="0" dirty="0"/>
              <a:t>, fibra de vidrio)</a:t>
            </a:r>
          </a:p>
          <a:p>
            <a:r>
              <a:rPr lang="ca-ES" dirty="0"/>
              <a:t> (</a:t>
            </a:r>
            <a:r>
              <a:rPr lang="ca-ES" dirty="0" err="1"/>
              <a:t>ejemplo</a:t>
            </a:r>
            <a:r>
              <a:rPr lang="ca-ES" dirty="0"/>
              <a:t> de </a:t>
            </a:r>
            <a:r>
              <a:rPr lang="ca-ES" dirty="0" err="1"/>
              <a:t>clasificación</a:t>
            </a:r>
            <a:r>
              <a:rPr lang="ca-ES" dirty="0"/>
              <a:t> múltiple) En</a:t>
            </a:r>
            <a:r>
              <a:rPr lang="ca-ES" baseline="0" dirty="0"/>
              <a:t> que conjunto </a:t>
            </a:r>
            <a:r>
              <a:rPr lang="ca-ES" baseline="0" dirty="0" err="1"/>
              <a:t>podemos</a:t>
            </a:r>
            <a:r>
              <a:rPr lang="ca-ES" baseline="0" dirty="0"/>
              <a:t> </a:t>
            </a:r>
            <a:r>
              <a:rPr lang="ca-ES" baseline="0" dirty="0" err="1"/>
              <a:t>clasificar</a:t>
            </a:r>
            <a:r>
              <a:rPr lang="ca-ES" baseline="0" dirty="0"/>
              <a:t> una </a:t>
            </a:r>
            <a:r>
              <a:rPr lang="ca-ES" baseline="0" dirty="0" err="1"/>
              <a:t>silla</a:t>
            </a:r>
            <a:r>
              <a:rPr lang="ca-ES" baseline="0" dirty="0"/>
              <a:t> en particular?</a:t>
            </a:r>
            <a:endParaRPr lang="ca-E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Los </a:t>
            </a:r>
            <a:r>
              <a:rPr lang="ca-ES" dirty="0" err="1"/>
              <a:t>objetos</a:t>
            </a:r>
            <a:r>
              <a:rPr lang="ca-ES" dirty="0"/>
              <a:t> </a:t>
            </a:r>
            <a:r>
              <a:rPr lang="ca-ES" dirty="0" err="1"/>
              <a:t>pueden</a:t>
            </a:r>
            <a:r>
              <a:rPr lang="ca-ES" baseline="0" dirty="0"/>
              <a:t> </a:t>
            </a:r>
            <a:r>
              <a:rPr lang="ca-ES" baseline="0" dirty="0" err="1"/>
              <a:t>pertenecer</a:t>
            </a:r>
            <a:r>
              <a:rPr lang="ca-ES" baseline="0" dirty="0"/>
              <a:t> a </a:t>
            </a:r>
            <a:r>
              <a:rPr lang="ca-ES" baseline="0" dirty="0" err="1"/>
              <a:t>diversas</a:t>
            </a:r>
            <a:r>
              <a:rPr lang="ca-ES" baseline="0" dirty="0"/>
              <a:t> </a:t>
            </a:r>
            <a:r>
              <a:rPr lang="ca-ES" baseline="0" dirty="0" err="1"/>
              <a:t>clases</a:t>
            </a:r>
            <a:r>
              <a:rPr lang="ca-ES" baseline="0" dirty="0"/>
              <a:t>. </a:t>
            </a:r>
            <a:r>
              <a:rPr lang="ca-ES" baseline="0" dirty="0" err="1"/>
              <a:t>Ejemplo</a:t>
            </a:r>
            <a:r>
              <a:rPr lang="ca-ES" baseline="0" dirty="0"/>
              <a:t> </a:t>
            </a:r>
            <a:r>
              <a:rPr lang="ca-ES" baseline="0" dirty="0" err="1"/>
              <a:t>basado</a:t>
            </a:r>
            <a:r>
              <a:rPr lang="ca-ES" baseline="0" dirty="0"/>
              <a:t> en el </a:t>
            </a:r>
            <a:r>
              <a:rPr lang="ca-ES" baseline="0" dirty="0" err="1"/>
              <a:t>rio</a:t>
            </a:r>
            <a:r>
              <a:rPr lang="ca-ES" baseline="0" dirty="0"/>
              <a:t>.</a:t>
            </a:r>
          </a:p>
          <a:p>
            <a:r>
              <a:rPr lang="ca-ES" baseline="0" dirty="0" err="1"/>
              <a:t>Propiedad</a:t>
            </a:r>
            <a:r>
              <a:rPr lang="ca-ES" baseline="0" dirty="0"/>
              <a:t> </a:t>
            </a:r>
            <a:r>
              <a:rPr lang="ca-ES" baseline="0" dirty="0" err="1"/>
              <a:t>existente</a:t>
            </a:r>
            <a:r>
              <a:rPr lang="ca-ES" baseline="0" dirty="0"/>
              <a:t> como </a:t>
            </a:r>
            <a:r>
              <a:rPr lang="ca-ES" baseline="0" dirty="0" err="1"/>
              <a:t>clase</a:t>
            </a:r>
            <a:r>
              <a:rPr lang="ca-ES" baseline="0" dirty="0"/>
              <a:t> (apta para consumo </a:t>
            </a:r>
            <a:r>
              <a:rPr lang="ca-ES" baseline="0" dirty="0" err="1"/>
              <a:t>humano</a:t>
            </a:r>
            <a:r>
              <a:rPr lang="ca-ES" baseline="0" dirty="0"/>
              <a:t>, apta para consumo animal, apta para </a:t>
            </a:r>
            <a:r>
              <a:rPr lang="ca-ES" baseline="0" dirty="0" err="1"/>
              <a:t>regadio</a:t>
            </a:r>
            <a:r>
              <a:rPr lang="ca-ES" baseline="0" dirty="0"/>
              <a:t>, ni </a:t>
            </a:r>
            <a:r>
              <a:rPr lang="ca-ES" baseline="0" dirty="0" err="1"/>
              <a:t>olerla</a:t>
            </a:r>
            <a:r>
              <a:rPr lang="ca-ES" baseline="0" dirty="0"/>
              <a:t>)</a:t>
            </a:r>
            <a:endParaRPr lang="ca-E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baseline="0" dirty="0" err="1"/>
              <a:t>Ejemplo</a:t>
            </a:r>
            <a:r>
              <a:rPr lang="ca-ES" baseline="0" dirty="0"/>
              <a:t> de </a:t>
            </a:r>
            <a:r>
              <a:rPr lang="ca-ES" baseline="0" dirty="0" err="1"/>
              <a:t>clase</a:t>
            </a:r>
            <a:r>
              <a:rPr lang="ca-ES" baseline="0" dirty="0"/>
              <a:t> disjunta:</a:t>
            </a:r>
          </a:p>
          <a:p>
            <a:r>
              <a:rPr lang="ca-ES" dirty="0"/>
              <a:t>1</a:t>
            </a:r>
            <a:r>
              <a:rPr lang="ca-ES" baseline="0" dirty="0"/>
              <a:t> – </a:t>
            </a:r>
            <a:r>
              <a:rPr lang="ca-ES" baseline="0" dirty="0" err="1"/>
              <a:t>Líquido</a:t>
            </a:r>
            <a:r>
              <a:rPr lang="ca-ES" baseline="0" dirty="0"/>
              <a:t> y gas</a:t>
            </a:r>
          </a:p>
          <a:p>
            <a:r>
              <a:rPr lang="ca-ES" baseline="0" dirty="0"/>
              <a:t>2 – </a:t>
            </a:r>
            <a:r>
              <a:rPr lang="ca-ES" baseline="0" dirty="0" err="1"/>
              <a:t>Propuesto</a:t>
            </a:r>
            <a:r>
              <a:rPr lang="ca-ES" baseline="0" dirty="0"/>
              <a:t> por </a:t>
            </a:r>
            <a:r>
              <a:rPr lang="ca-ES" baseline="0" dirty="0" err="1"/>
              <a:t>ellos</a:t>
            </a:r>
            <a:r>
              <a:rPr lang="ca-ES" baseline="0" dirty="0"/>
              <a:t> (Agua contaminada y agua potable)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EJEMPLO, conjunto de estudiantes de SID.</a:t>
            </a:r>
            <a:r>
              <a:rPr lang="ca-ES" baseline="0" dirty="0"/>
              <a:t> </a:t>
            </a:r>
            <a:r>
              <a:rPr lang="ca-ES" baseline="0" dirty="0" err="1"/>
              <a:t>Haberse</a:t>
            </a:r>
            <a:r>
              <a:rPr lang="ca-ES" baseline="0" dirty="0"/>
              <a:t> </a:t>
            </a:r>
            <a:r>
              <a:rPr lang="ca-ES" baseline="0" dirty="0" err="1"/>
              <a:t>matriculado</a:t>
            </a:r>
            <a:r>
              <a:rPr lang="ca-ES" baseline="0" dirty="0"/>
              <a:t> de SID</a:t>
            </a:r>
          </a:p>
          <a:p>
            <a:r>
              <a:rPr lang="ca-ES" baseline="0" dirty="0"/>
              <a:t>Notar como </a:t>
            </a:r>
            <a:r>
              <a:rPr lang="ca-ES" baseline="0" dirty="0" err="1"/>
              <a:t>todos</a:t>
            </a:r>
            <a:r>
              <a:rPr lang="ca-ES" baseline="0" dirty="0"/>
              <a:t> </a:t>
            </a:r>
            <a:r>
              <a:rPr lang="ca-ES" baseline="0" dirty="0" err="1"/>
              <a:t>pertenecen</a:t>
            </a:r>
            <a:r>
              <a:rPr lang="ca-ES" baseline="0" dirty="0"/>
              <a:t> a la </a:t>
            </a:r>
            <a:r>
              <a:rPr lang="ca-ES" baseline="0" dirty="0" err="1"/>
              <a:t>clase</a:t>
            </a:r>
            <a:r>
              <a:rPr lang="ca-ES" baseline="0" dirty="0"/>
              <a:t>, </a:t>
            </a:r>
            <a:r>
              <a:rPr lang="ca-ES" baseline="0" dirty="0" err="1"/>
              <a:t>aunque</a:t>
            </a:r>
            <a:r>
              <a:rPr lang="ca-ES" baseline="0" dirty="0"/>
              <a:t> </a:t>
            </a:r>
            <a:r>
              <a:rPr lang="ca-ES" baseline="0" dirty="0" err="1"/>
              <a:t>alguno</a:t>
            </a:r>
            <a:r>
              <a:rPr lang="ca-ES" baseline="0" dirty="0"/>
              <a:t> </a:t>
            </a:r>
            <a:r>
              <a:rPr lang="ca-ES" baseline="0" dirty="0" err="1"/>
              <a:t>quiera</a:t>
            </a:r>
            <a:r>
              <a:rPr lang="ca-ES" baseline="0" dirty="0"/>
              <a:t> </a:t>
            </a:r>
            <a:r>
              <a:rPr lang="ca-ES" baseline="0" dirty="0" err="1"/>
              <a:t>quedarse</a:t>
            </a:r>
            <a:r>
              <a:rPr lang="ca-ES" baseline="0" dirty="0"/>
              <a:t> </a:t>
            </a:r>
            <a:r>
              <a:rPr lang="ca-ES" baseline="0" dirty="0" err="1"/>
              <a:t>fuera</a:t>
            </a:r>
            <a:endParaRPr lang="ca-ES" baseline="0" dirty="0"/>
          </a:p>
          <a:p>
            <a:r>
              <a:rPr lang="ca-ES" baseline="0" dirty="0"/>
              <a:t>Notar doble </a:t>
            </a:r>
            <a:r>
              <a:rPr lang="ca-ES" baseline="0" dirty="0" err="1"/>
              <a:t>implicación</a:t>
            </a:r>
            <a:r>
              <a:rPr lang="ca-ES" baseline="0" dirty="0"/>
              <a:t> (</a:t>
            </a:r>
            <a:r>
              <a:rPr lang="ca-ES" baseline="0" dirty="0" err="1"/>
              <a:t>equivalencia</a:t>
            </a:r>
            <a:r>
              <a:rPr lang="ca-ES" baseline="0" dirty="0"/>
              <a:t>)</a:t>
            </a:r>
            <a:endParaRPr lang="ca-E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EJEMPLO, el</a:t>
            </a:r>
            <a:r>
              <a:rPr lang="ca-ES" baseline="0" dirty="0"/>
              <a:t> club de </a:t>
            </a:r>
            <a:r>
              <a:rPr lang="ca-ES" baseline="0" dirty="0" err="1"/>
              <a:t>millonarios</a:t>
            </a:r>
            <a:endParaRPr lang="ca-ES" baseline="0" dirty="0"/>
          </a:p>
          <a:p>
            <a:r>
              <a:rPr lang="ca-ES" baseline="0" dirty="0"/>
              <a:t>Notar como un </a:t>
            </a:r>
            <a:r>
              <a:rPr lang="ca-ES" baseline="0" dirty="0" err="1"/>
              <a:t>millonario</a:t>
            </a:r>
            <a:r>
              <a:rPr lang="ca-ES" baseline="0" dirty="0"/>
              <a:t> se queda </a:t>
            </a:r>
            <a:r>
              <a:rPr lang="ca-ES" baseline="0" dirty="0" err="1"/>
              <a:t>fuera</a:t>
            </a:r>
            <a:r>
              <a:rPr lang="ca-ES" baseline="0" dirty="0"/>
              <a:t> del club (estos </a:t>
            </a:r>
            <a:r>
              <a:rPr lang="ca-ES" baseline="0" dirty="0" err="1"/>
              <a:t>tios</a:t>
            </a:r>
            <a:r>
              <a:rPr lang="ca-ES" baseline="0" dirty="0"/>
              <a:t> son </a:t>
            </a:r>
            <a:r>
              <a:rPr lang="ca-ES" baseline="0" dirty="0" err="1"/>
              <a:t>unos</a:t>
            </a:r>
            <a:r>
              <a:rPr lang="ca-ES" baseline="0" dirty="0"/>
              <a:t> </a:t>
            </a:r>
            <a:r>
              <a:rPr lang="ca-ES" baseline="0" dirty="0" err="1"/>
              <a:t>pedantes</a:t>
            </a:r>
            <a:r>
              <a:rPr lang="ca-ES" baseline="0" dirty="0"/>
              <a:t>)</a:t>
            </a:r>
            <a:endParaRPr lang="ca-E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</a:t>
            </a:r>
            <a:r>
              <a:rPr lang="ca-ES" dirty="0"/>
              <a:t> de </a:t>
            </a:r>
            <a:r>
              <a:rPr lang="ca-ES" dirty="0" err="1"/>
              <a:t>propiedad</a:t>
            </a:r>
            <a:r>
              <a:rPr lang="ca-ES" dirty="0"/>
              <a:t> de </a:t>
            </a:r>
            <a:r>
              <a:rPr lang="ca-ES" dirty="0" err="1"/>
              <a:t>clase</a:t>
            </a:r>
            <a:r>
              <a:rPr lang="ca-ES" dirty="0"/>
              <a:t> </a:t>
            </a:r>
            <a:r>
              <a:rPr lang="ca-ES" dirty="0" err="1"/>
              <a:t>y</a:t>
            </a:r>
            <a:r>
              <a:rPr lang="ca-ES" dirty="0"/>
              <a:t> </a:t>
            </a:r>
            <a:r>
              <a:rPr lang="ca-ES" dirty="0" err="1"/>
              <a:t>propiedad</a:t>
            </a:r>
            <a:r>
              <a:rPr lang="ca-ES" dirty="0"/>
              <a:t> de </a:t>
            </a:r>
            <a:r>
              <a:rPr lang="ca-ES" dirty="0" err="1"/>
              <a:t>datos</a:t>
            </a:r>
            <a:endParaRPr lang="ca-ES" dirty="0"/>
          </a:p>
          <a:p>
            <a:r>
              <a:rPr lang="ca-ES" dirty="0"/>
              <a:t>1</a:t>
            </a:r>
            <a:r>
              <a:rPr lang="ca-ES" baseline="0" dirty="0"/>
              <a:t> – </a:t>
            </a:r>
            <a:r>
              <a:rPr lang="ca-ES" baseline="0" dirty="0" err="1"/>
              <a:t>Hecho</a:t>
            </a:r>
            <a:r>
              <a:rPr lang="ca-ES" baseline="0" dirty="0"/>
              <a:t> de material + </a:t>
            </a:r>
            <a:r>
              <a:rPr lang="ca-ES" baseline="0" dirty="0" err="1"/>
              <a:t>Precio</a:t>
            </a:r>
            <a:r>
              <a:rPr lang="ca-ES" baseline="0" dirty="0"/>
              <a:t> + Color (</a:t>
            </a:r>
            <a:r>
              <a:rPr lang="ca-ES" baseline="0" dirty="0" err="1"/>
              <a:t>hacerles</a:t>
            </a:r>
            <a:r>
              <a:rPr lang="ca-ES" baseline="0" dirty="0"/>
              <a:t> </a:t>
            </a:r>
            <a:r>
              <a:rPr lang="ca-ES" baseline="0" dirty="0" err="1"/>
              <a:t>dudar</a:t>
            </a:r>
            <a:r>
              <a:rPr lang="ca-ES" baseline="0" dirty="0"/>
              <a:t> sobre que es)</a:t>
            </a:r>
          </a:p>
          <a:p>
            <a:r>
              <a:rPr lang="ca-ES" baseline="0" dirty="0"/>
              <a:t>2 – </a:t>
            </a:r>
            <a:r>
              <a:rPr lang="ca-ES" baseline="0" dirty="0" err="1"/>
              <a:t>Propuesto</a:t>
            </a:r>
            <a:r>
              <a:rPr lang="ca-ES" baseline="0" dirty="0"/>
              <a:t> por </a:t>
            </a:r>
            <a:r>
              <a:rPr lang="ca-ES" baseline="0" dirty="0" err="1"/>
              <a:t>ellos</a:t>
            </a:r>
            <a:r>
              <a:rPr lang="ca-ES" baseline="0" dirty="0"/>
              <a:t>.</a:t>
            </a:r>
          </a:p>
          <a:p>
            <a:endParaRPr lang="ca-ES" baseline="0" dirty="0"/>
          </a:p>
          <a:p>
            <a:r>
              <a:rPr lang="ca-ES" baseline="0" dirty="0" err="1"/>
              <a:t>Mostrarlo</a:t>
            </a:r>
            <a:r>
              <a:rPr lang="ca-ES" baseline="0" dirty="0"/>
              <a:t> como RDF (</a:t>
            </a:r>
            <a:r>
              <a:rPr lang="ca-ES" baseline="0" dirty="0" err="1"/>
              <a:t>Sujeto</a:t>
            </a:r>
            <a:r>
              <a:rPr lang="ca-ES" baseline="0" dirty="0"/>
              <a:t> + </a:t>
            </a:r>
            <a:r>
              <a:rPr lang="ca-ES" baseline="0" dirty="0" err="1"/>
              <a:t>Objeto</a:t>
            </a:r>
            <a:r>
              <a:rPr lang="ca-ES" baseline="0" dirty="0"/>
              <a:t> + </a:t>
            </a:r>
            <a:r>
              <a:rPr lang="ca-ES" baseline="0" dirty="0" err="1"/>
              <a:t>Predicado</a:t>
            </a:r>
            <a:r>
              <a:rPr lang="ca-ES" baseline="0" dirty="0"/>
              <a:t>) Arco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</a:t>
            </a:r>
            <a:r>
              <a:rPr lang="ca-ES" dirty="0"/>
              <a:t> de</a:t>
            </a:r>
            <a:r>
              <a:rPr lang="ca-ES" baseline="0" dirty="0"/>
              <a:t> </a:t>
            </a:r>
            <a:r>
              <a:rPr lang="ca-ES" baseline="0" dirty="0" err="1"/>
              <a:t>restricciones</a:t>
            </a:r>
            <a:r>
              <a:rPr lang="ca-ES" baseline="0" dirty="0"/>
              <a:t> de</a:t>
            </a:r>
            <a:r>
              <a:rPr lang="ca-ES" dirty="0"/>
              <a:t> </a:t>
            </a:r>
            <a:r>
              <a:rPr lang="ca-ES" dirty="0" err="1"/>
              <a:t>propiedad</a:t>
            </a:r>
            <a:r>
              <a:rPr lang="ca-ES" dirty="0"/>
              <a:t> de </a:t>
            </a:r>
            <a:r>
              <a:rPr lang="ca-ES" dirty="0" err="1"/>
              <a:t>clase</a:t>
            </a:r>
            <a:r>
              <a:rPr lang="ca-ES" dirty="0"/>
              <a:t> </a:t>
            </a:r>
            <a:r>
              <a:rPr lang="ca-ES" dirty="0" err="1"/>
              <a:t>y</a:t>
            </a:r>
            <a:r>
              <a:rPr lang="ca-ES" dirty="0"/>
              <a:t> </a:t>
            </a:r>
            <a:r>
              <a:rPr lang="ca-ES" dirty="0" err="1"/>
              <a:t>propiedad</a:t>
            </a:r>
            <a:r>
              <a:rPr lang="ca-ES" dirty="0"/>
              <a:t> de </a:t>
            </a:r>
            <a:r>
              <a:rPr lang="ca-ES" dirty="0" err="1"/>
              <a:t>datos</a:t>
            </a:r>
            <a:endParaRPr lang="ca-ES" dirty="0"/>
          </a:p>
          <a:p>
            <a:r>
              <a:rPr lang="ca-ES" dirty="0"/>
              <a:t>1</a:t>
            </a:r>
            <a:r>
              <a:rPr lang="ca-ES" baseline="0" dirty="0"/>
              <a:t> – </a:t>
            </a:r>
            <a:r>
              <a:rPr lang="ca-ES" baseline="0" dirty="0" err="1"/>
              <a:t>Hecho</a:t>
            </a:r>
            <a:r>
              <a:rPr lang="ca-ES" baseline="0" dirty="0"/>
              <a:t> por </a:t>
            </a:r>
            <a:r>
              <a:rPr lang="ca-ES" baseline="0" dirty="0" err="1"/>
              <a:t>nosotros</a:t>
            </a:r>
            <a:endParaRPr lang="ca-ES" baseline="0" dirty="0"/>
          </a:p>
          <a:p>
            <a:r>
              <a:rPr lang="ca-ES" baseline="0" dirty="0"/>
              <a:t>2 – </a:t>
            </a:r>
            <a:r>
              <a:rPr lang="ca-ES" baseline="0" dirty="0" err="1"/>
              <a:t>Propuesto</a:t>
            </a:r>
            <a:r>
              <a:rPr lang="ca-ES" baseline="0" dirty="0"/>
              <a:t> por </a:t>
            </a:r>
            <a:r>
              <a:rPr lang="ca-ES" baseline="0" dirty="0" err="1"/>
              <a:t>ellos</a:t>
            </a:r>
            <a:endParaRPr lang="ca-ES" baseline="0" dirty="0"/>
          </a:p>
          <a:p>
            <a:r>
              <a:rPr lang="ca-ES" baseline="0" dirty="0" err="1"/>
              <a:t>Ejemplo</a:t>
            </a:r>
            <a:r>
              <a:rPr lang="ca-ES" baseline="0" dirty="0"/>
              <a:t> de </a:t>
            </a:r>
            <a:r>
              <a:rPr lang="ca-ES" baseline="0" dirty="0" err="1"/>
              <a:t>restricción</a:t>
            </a:r>
            <a:r>
              <a:rPr lang="ca-ES" baseline="0" dirty="0"/>
              <a:t> aplicada (3 </a:t>
            </a:r>
            <a:r>
              <a:rPr lang="ca-ES" baseline="0" dirty="0" err="1"/>
              <a:t>clases</a:t>
            </a:r>
            <a:r>
              <a:rPr lang="ca-ES" baseline="0" dirty="0"/>
              <a:t>, 3 </a:t>
            </a:r>
            <a:r>
              <a:rPr lang="ca-ES" baseline="0" dirty="0" err="1"/>
              <a:t>instancias</a:t>
            </a:r>
            <a:r>
              <a:rPr lang="ca-ES" baseline="0" dirty="0"/>
              <a:t> una </a:t>
            </a:r>
            <a:r>
              <a:rPr lang="ca-ES" baseline="0" dirty="0" err="1"/>
              <a:t>propiedad</a:t>
            </a:r>
            <a:r>
              <a:rPr lang="ca-ES" baseline="0" dirty="0"/>
              <a:t> </a:t>
            </a:r>
            <a:r>
              <a:rPr lang="ca-ES" baseline="0" dirty="0" err="1"/>
              <a:t>bien</a:t>
            </a:r>
            <a:r>
              <a:rPr lang="ca-ES" baseline="0" dirty="0"/>
              <a:t> definida </a:t>
            </a:r>
            <a:r>
              <a:rPr lang="ca-ES" baseline="0" dirty="0" err="1"/>
              <a:t>pero</a:t>
            </a:r>
            <a:r>
              <a:rPr lang="ca-ES" baseline="0" dirty="0"/>
              <a:t> mal aplicada)</a:t>
            </a:r>
          </a:p>
          <a:p>
            <a:endParaRPr lang="ca-ES" baseline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baseline="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</a:t>
            </a:r>
            <a:r>
              <a:rPr lang="ca-ES" dirty="0"/>
              <a:t> de instancia. Esta </a:t>
            </a:r>
            <a:r>
              <a:rPr lang="ca-ES" dirty="0" err="1"/>
              <a:t>silla</a:t>
            </a:r>
            <a:r>
              <a:rPr lang="ca-ES" dirty="0"/>
              <a:t>, una </a:t>
            </a:r>
            <a:r>
              <a:rPr lang="ca-ES" dirty="0" err="1"/>
              <a:t>masa</a:t>
            </a:r>
            <a:r>
              <a:rPr lang="ca-ES" dirty="0"/>
              <a:t> en particular de agua, la</a:t>
            </a:r>
            <a:r>
              <a:rPr lang="ca-ES" baseline="0" dirty="0"/>
              <a:t> depuradora de agua de la llagosta.</a:t>
            </a:r>
          </a:p>
          <a:p>
            <a:r>
              <a:rPr lang="ca-ES" baseline="0" dirty="0"/>
              <a:t>Que </a:t>
            </a:r>
            <a:r>
              <a:rPr lang="ca-ES" baseline="0" dirty="0" err="1"/>
              <a:t>ocurre</a:t>
            </a:r>
            <a:r>
              <a:rPr lang="ca-ES" baseline="0" dirty="0"/>
              <a:t> si las </a:t>
            </a:r>
            <a:r>
              <a:rPr lang="ca-ES" baseline="0" dirty="0" err="1"/>
              <a:t>restricciones</a:t>
            </a:r>
            <a:r>
              <a:rPr lang="ca-ES" baseline="0" dirty="0"/>
              <a:t> no se </a:t>
            </a:r>
            <a:r>
              <a:rPr lang="ca-ES" baseline="0" dirty="0" err="1"/>
              <a:t>cumplen</a:t>
            </a:r>
            <a:r>
              <a:rPr lang="ca-ES" baseline="0" dirty="0"/>
              <a:t>?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Ejemplos</a:t>
            </a:r>
            <a:r>
              <a:rPr lang="ca-ES" dirty="0"/>
              <a:t> </a:t>
            </a:r>
            <a:r>
              <a:rPr lang="ca-ES" dirty="0" err="1"/>
              <a:t>basados</a:t>
            </a:r>
            <a:r>
              <a:rPr lang="ca-ES" baseline="0" dirty="0"/>
              <a:t> en </a:t>
            </a:r>
            <a:r>
              <a:rPr lang="ca-ES" baseline="0" dirty="0" err="1"/>
              <a:t>cuenca</a:t>
            </a:r>
            <a:endParaRPr lang="ca-E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Ejemplos</a:t>
            </a:r>
            <a:r>
              <a:rPr lang="ca-ES" dirty="0"/>
              <a:t> </a:t>
            </a:r>
            <a:r>
              <a:rPr lang="ca-ES" dirty="0" err="1"/>
              <a:t>basados</a:t>
            </a:r>
            <a:r>
              <a:rPr lang="ca-ES" dirty="0"/>
              <a:t> en </a:t>
            </a:r>
            <a:r>
              <a:rPr lang="ca-ES" dirty="0" err="1"/>
              <a:t>cuenca</a:t>
            </a:r>
            <a:endParaRPr lang="ca-E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Ejemplos</a:t>
            </a:r>
            <a:r>
              <a:rPr lang="ca-ES" dirty="0"/>
              <a:t> </a:t>
            </a:r>
            <a:r>
              <a:rPr lang="ca-ES" dirty="0" err="1"/>
              <a:t>basados</a:t>
            </a:r>
            <a:r>
              <a:rPr lang="ca-ES" dirty="0"/>
              <a:t> en </a:t>
            </a:r>
            <a:r>
              <a:rPr lang="ca-ES" dirty="0" err="1"/>
              <a:t>cuenca</a:t>
            </a:r>
            <a:endParaRPr lang="ca-E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AND</a:t>
            </a:r>
          </a:p>
          <a:p>
            <a:r>
              <a:rPr lang="ca-ES" dirty="0"/>
              <a:t>OR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baseline="0" dirty="0"/>
          </a:p>
          <a:p>
            <a:endParaRPr lang="ca-E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</a:t>
            </a:r>
            <a:r>
              <a:rPr lang="ca-ES" dirty="0"/>
              <a:t> de funcional </a:t>
            </a:r>
            <a:r>
              <a:rPr lang="ca-ES" dirty="0" err="1"/>
              <a:t>basado</a:t>
            </a:r>
            <a:r>
              <a:rPr lang="ca-ES" dirty="0"/>
              <a:t> en </a:t>
            </a:r>
            <a:r>
              <a:rPr lang="ca-ES" dirty="0" err="1"/>
              <a:t>cuenca</a:t>
            </a:r>
            <a:endParaRPr lang="ca-ES" dirty="0"/>
          </a:p>
          <a:p>
            <a:r>
              <a:rPr lang="ca-ES" dirty="0"/>
              <a:t>1 – </a:t>
            </a:r>
            <a:r>
              <a:rPr lang="ca-ES" dirty="0" err="1"/>
              <a:t>Nuestro</a:t>
            </a:r>
            <a:endParaRPr lang="ca-ES" dirty="0"/>
          </a:p>
          <a:p>
            <a:r>
              <a:rPr lang="ca-ES" dirty="0"/>
              <a:t>2 – </a:t>
            </a:r>
            <a:r>
              <a:rPr lang="ca-ES" dirty="0" err="1"/>
              <a:t>Suyo</a:t>
            </a:r>
            <a:endParaRPr lang="ca-ES" baseline="0" dirty="0"/>
          </a:p>
          <a:p>
            <a:endParaRPr lang="ca-E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 err="1"/>
              <a:t>Ejemplos</a:t>
            </a:r>
            <a:r>
              <a:rPr lang="ca-ES" dirty="0"/>
              <a:t> de cada </a:t>
            </a:r>
            <a:r>
              <a:rPr lang="ca-ES" dirty="0" err="1"/>
              <a:t>tipo</a:t>
            </a:r>
            <a:r>
              <a:rPr lang="ca-ES" dirty="0"/>
              <a:t> </a:t>
            </a:r>
            <a:r>
              <a:rPr lang="ca-ES" dirty="0" err="1"/>
              <a:t>basado</a:t>
            </a:r>
            <a:r>
              <a:rPr lang="ca-ES" dirty="0"/>
              <a:t> en </a:t>
            </a:r>
            <a:r>
              <a:rPr lang="ca-ES" dirty="0" err="1"/>
              <a:t>sillas</a:t>
            </a:r>
            <a:r>
              <a:rPr lang="ca-ES" dirty="0"/>
              <a:t> </a:t>
            </a:r>
            <a:r>
              <a:rPr lang="ca-ES" dirty="0" err="1"/>
              <a:t>y</a:t>
            </a:r>
            <a:r>
              <a:rPr lang="ca-ES" dirty="0"/>
              <a:t> en el caso de uso </a:t>
            </a:r>
            <a:r>
              <a:rPr lang="ca-ES" dirty="0" err="1"/>
              <a:t>presentado</a:t>
            </a:r>
            <a:r>
              <a:rPr lang="ca-ES" dirty="0"/>
              <a:t>.</a:t>
            </a:r>
          </a:p>
          <a:p>
            <a:r>
              <a:rPr lang="ca-ES" baseline="0" dirty="0"/>
              <a:t>Y que </a:t>
            </a:r>
            <a:r>
              <a:rPr lang="ca-ES" baseline="0" dirty="0" err="1"/>
              <a:t>ocurre</a:t>
            </a:r>
            <a:r>
              <a:rPr lang="ca-ES" baseline="0" dirty="0"/>
              <a:t> si, </a:t>
            </a:r>
            <a:r>
              <a:rPr lang="ca-ES" baseline="0" dirty="0" err="1"/>
              <a:t>siendo</a:t>
            </a:r>
            <a:r>
              <a:rPr lang="ca-ES" baseline="0" dirty="0"/>
              <a:t> </a:t>
            </a:r>
            <a:r>
              <a:rPr lang="ca-ES" baseline="0" dirty="0" err="1"/>
              <a:t>antisimétrica</a:t>
            </a:r>
            <a:r>
              <a:rPr lang="ca-ES" baseline="0" dirty="0"/>
              <a:t> relaciones A con B </a:t>
            </a:r>
            <a:r>
              <a:rPr lang="ca-ES" baseline="0" dirty="0" err="1"/>
              <a:t>y</a:t>
            </a:r>
            <a:r>
              <a:rPr lang="ca-ES" baseline="0" dirty="0"/>
              <a:t> B con A?</a:t>
            </a:r>
          </a:p>
          <a:p>
            <a:endParaRPr lang="ca-E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baseline="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7620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a-ES" dirty="0"/>
              <a:t>Funcional (Se </a:t>
            </a:r>
            <a:r>
              <a:rPr lang="ca-ES" dirty="0" err="1"/>
              <a:t>debe</a:t>
            </a:r>
            <a:r>
              <a:rPr lang="ca-ES" dirty="0"/>
              <a:t> marcar), </a:t>
            </a:r>
            <a:r>
              <a:rPr lang="ca-ES" dirty="0" err="1"/>
              <a:t>antisimétrica</a:t>
            </a:r>
            <a:r>
              <a:rPr lang="ca-ES" dirty="0"/>
              <a:t> (</a:t>
            </a:r>
            <a:r>
              <a:rPr lang="ca-ES" dirty="0" err="1"/>
              <a:t>Implictamente</a:t>
            </a:r>
            <a:r>
              <a:rPr lang="ca-ES" dirty="0"/>
              <a:t>) Irreflexiva</a:t>
            </a:r>
            <a:r>
              <a:rPr lang="ca-ES" baseline="0" dirty="0"/>
              <a:t> (</a:t>
            </a:r>
            <a:r>
              <a:rPr lang="ca-ES" dirty="0" err="1"/>
              <a:t>Implictamente</a:t>
            </a:r>
            <a:r>
              <a:rPr lang="ca-ES" baseline="0" dirty="0"/>
              <a:t>)</a:t>
            </a:r>
            <a:endParaRPr lang="ca-ES" dirty="0"/>
          </a:p>
          <a:p>
            <a:r>
              <a:rPr lang="ca-ES" dirty="0" err="1"/>
              <a:t>Ejemplos</a:t>
            </a:r>
            <a:r>
              <a:rPr lang="ca-ES" dirty="0"/>
              <a:t> (DNI)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TBD: Adaptar</a:t>
            </a:r>
            <a:r>
              <a:rPr lang="ca-ES" baseline="0" dirty="0"/>
              <a:t> al caso de uso de la </a:t>
            </a:r>
            <a:r>
              <a:rPr lang="ca-ES" baseline="0"/>
              <a:t>cuenca</a:t>
            </a:r>
            <a:endParaRPr lang="ca-E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7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a-ES" dirty="0"/>
              <a:t>TBD: </a:t>
            </a:r>
            <a:r>
              <a:rPr lang="ca-ES" dirty="0" err="1"/>
              <a:t>Colocar</a:t>
            </a:r>
            <a:r>
              <a:rPr lang="ca-ES" dirty="0"/>
              <a:t> el </a:t>
            </a:r>
            <a:r>
              <a:rPr lang="ca-ES" dirty="0" err="1"/>
              <a:t>link</a:t>
            </a:r>
            <a:r>
              <a:rPr lang="ca-ES" dirty="0"/>
              <a:t> a la </a:t>
            </a:r>
            <a:r>
              <a:rPr lang="ca-ES" dirty="0" err="1"/>
              <a:t>ontología</a:t>
            </a:r>
            <a:r>
              <a:rPr lang="ca-ES" dirty="0"/>
              <a:t> actual del </a:t>
            </a:r>
            <a:r>
              <a:rPr lang="ca-ES" dirty="0" err="1"/>
              <a:t>rio</a:t>
            </a:r>
            <a:endParaRPr lang="ca-E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05251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Haga clic para modificar el estilo de título del patrón</a:t>
            </a:r>
          </a:p>
        </p:txBody>
      </p:sp>
      <p:sp>
        <p:nvSpPr>
          <p:cNvPr id="363523" name="Rectangle 307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65400"/>
            <a:ext cx="6400800" cy="1008063"/>
          </a:xfrm>
        </p:spPr>
        <p:txBody>
          <a:bodyPr/>
          <a:lstStyle>
            <a:lvl1pPr marL="0" indent="0" algn="ctr">
              <a:buFont typeface="Wingdings" charset="0"/>
              <a:buNone/>
              <a:defRPr/>
            </a:lvl1pPr>
          </a:lstStyle>
          <a:p>
            <a:pPr lvl="0"/>
            <a:r>
              <a:rPr lang="en-GB" noProof="0"/>
              <a:t>Haga clic para modificar el estilo de subtítulo del patrón</a:t>
            </a:r>
          </a:p>
        </p:txBody>
      </p:sp>
      <p:sp>
        <p:nvSpPr>
          <p:cNvPr id="363531" name="Text Box 3083"/>
          <p:cNvSpPr txBox="1">
            <a:spLocks noChangeArrowheads="1"/>
          </p:cNvSpPr>
          <p:nvPr/>
        </p:nvSpPr>
        <p:spPr bwMode="auto">
          <a:xfrm>
            <a:off x="3559175" y="5356225"/>
            <a:ext cx="2093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s-ES_tradnl" sz="1400" b="1">
                <a:solidFill>
                  <a:srgbClr val="3366CC"/>
                </a:solidFill>
                <a:latin typeface="Arial" charset="0"/>
              </a:rPr>
              <a:t>https://kemlg.upc.edu</a:t>
            </a:r>
            <a:endParaRPr lang="es-ES_tradnl" sz="1600" b="1">
              <a:solidFill>
                <a:srgbClr val="3366CC"/>
              </a:solidFill>
              <a:latin typeface="Arial" charset="0"/>
            </a:endParaRPr>
          </a:p>
        </p:txBody>
      </p:sp>
      <p:sp>
        <p:nvSpPr>
          <p:cNvPr id="363533" name="Rectangle 3085"/>
          <p:cNvSpPr>
            <a:spLocks noChangeArrowheads="1"/>
          </p:cNvSpPr>
          <p:nvPr/>
        </p:nvSpPr>
        <p:spPr bwMode="auto">
          <a:xfrm>
            <a:off x="7620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63534" name="Rectangle 3086"/>
          <p:cNvSpPr>
            <a:spLocks noChangeArrowheads="1"/>
          </p:cNvSpPr>
          <p:nvPr/>
        </p:nvSpPr>
        <p:spPr bwMode="auto">
          <a:xfrm>
            <a:off x="0" y="1588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363535" name="Text Box 3087"/>
          <p:cNvSpPr txBox="1">
            <a:spLocks noChangeArrowheads="1"/>
          </p:cNvSpPr>
          <p:nvPr/>
        </p:nvSpPr>
        <p:spPr bwMode="auto">
          <a:xfrm rot="-5400000">
            <a:off x="-3241675" y="3252788"/>
            <a:ext cx="684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>
                        <a:gamma/>
                        <a:tint val="5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Ontologías</a:t>
            </a:r>
            <a:r>
              <a:rPr lang="ca-ES" sz="1600" b="1" dirty="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, </a:t>
            </a:r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Protégé</a:t>
            </a:r>
            <a:r>
              <a:rPr lang="ca-ES" sz="1600" b="1" dirty="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 </a:t>
            </a:r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y</a:t>
            </a:r>
            <a:r>
              <a:rPr lang="ca-ES" sz="1600" b="1" dirty="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 OWL</a:t>
            </a:r>
            <a:endParaRPr lang="ca-ES" sz="2600" b="1" dirty="0">
              <a:solidFill>
                <a:srgbClr val="B2B2B2"/>
              </a:solidFill>
              <a:latin typeface="Arial" charset="0"/>
            </a:endParaRPr>
          </a:p>
        </p:txBody>
      </p:sp>
      <p:pic>
        <p:nvPicPr>
          <p:cNvPr id="363541" name="Picture 62" descr="foto_recerc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5767388"/>
            <a:ext cx="559435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2" name="Picture 6" descr="D:\downloads\DropBox\My Dropbox\Logo KEMLG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721350"/>
            <a:ext cx="25590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3543" name="Picture 14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681788"/>
            <a:ext cx="302418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© </a:t>
            </a:r>
            <a:r>
              <a:rPr lang="es-ES_tradnl" dirty="0" err="1"/>
              <a:t>Ignasi</a:t>
            </a:r>
            <a:r>
              <a:rPr lang="es-ES_tradnl" dirty="0"/>
              <a:t> Gómez-</a:t>
            </a:r>
            <a:r>
              <a:rPr lang="es-ES_tradnl" dirty="0" err="1"/>
              <a:t>Sebastià</a:t>
            </a:r>
            <a:r>
              <a:rPr lang="es-ES_tradnl" dirty="0"/>
              <a:t>, KEMLG, 2016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A92189-4A1C-DB4D-A308-1760EA4C79C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25175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© </a:t>
            </a:r>
            <a:r>
              <a:rPr lang="es-ES_tradnl" dirty="0" err="1"/>
              <a:t>Ignasi</a:t>
            </a:r>
            <a:r>
              <a:rPr lang="es-ES_tradnl" dirty="0"/>
              <a:t> Gómez-</a:t>
            </a:r>
            <a:r>
              <a:rPr lang="es-ES_tradnl" dirty="0" err="1"/>
              <a:t>Sebastià</a:t>
            </a:r>
            <a:r>
              <a:rPr lang="es-ES_tradnl" dirty="0"/>
              <a:t>, KEMLG, 2016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ECFFE-D909-A54B-9E36-5B28267DFB3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29409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800600" y="1828800"/>
            <a:ext cx="37338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</a:t>
            </a:r>
            <a:r>
              <a:rPr lang="es-ES_tradnl" sz="1000" dirty="0"/>
              <a:t> © </a:t>
            </a:r>
            <a:r>
              <a:rPr lang="es-ES_tradnl" sz="1000" dirty="0" err="1"/>
              <a:t>Ignasi</a:t>
            </a:r>
            <a:r>
              <a:rPr lang="es-ES_tradnl" sz="1000" dirty="0"/>
              <a:t> Gómez-</a:t>
            </a:r>
            <a:r>
              <a:rPr lang="es-ES_tradnl" sz="1000" dirty="0" err="1"/>
              <a:t>Sebastià</a:t>
            </a:r>
            <a:r>
              <a:rPr lang="es-ES_tradnl" sz="1000" dirty="0"/>
              <a:t>, KEMLG, 2016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42978C-4137-6443-84BD-CC58B3416CB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757049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pie de página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</a:t>
            </a:r>
            <a:r>
              <a:rPr lang="es-ES_tradnl" sz="1000" dirty="0"/>
              <a:t> © </a:t>
            </a:r>
            <a:r>
              <a:rPr lang="es-ES_tradnl" sz="1000" dirty="0" err="1"/>
              <a:t>Ignasi</a:t>
            </a:r>
            <a:r>
              <a:rPr lang="es-ES_tradnl" sz="1000" dirty="0"/>
              <a:t> Gómez-</a:t>
            </a:r>
            <a:r>
              <a:rPr lang="es-ES_tradnl" sz="1000" dirty="0" err="1"/>
              <a:t>Sebastià</a:t>
            </a:r>
            <a:r>
              <a:rPr lang="es-ES_tradnl" sz="1000" dirty="0"/>
              <a:t>, KEMLG, 2016</a:t>
            </a:r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424B2D1-D158-C646-9C0A-320FB65A053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921123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</a:t>
            </a:r>
            <a:r>
              <a:rPr lang="es-ES_tradnl" sz="1000" dirty="0"/>
              <a:t> © </a:t>
            </a:r>
            <a:r>
              <a:rPr lang="es-ES_tradnl" sz="1000" dirty="0" err="1"/>
              <a:t>Ignasi</a:t>
            </a:r>
            <a:r>
              <a:rPr lang="es-ES_tradnl" sz="1000" dirty="0"/>
              <a:t> Gómez-</a:t>
            </a:r>
            <a:r>
              <a:rPr lang="es-ES_tradnl" sz="1000" dirty="0" err="1"/>
              <a:t>Sebastià</a:t>
            </a:r>
            <a:r>
              <a:rPr lang="es-ES_tradnl" sz="1000" dirty="0"/>
              <a:t>, KEMLG, 2016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912407-5BEB-3D40-9ED7-C51081FCAFF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7117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</a:t>
            </a:r>
            <a:r>
              <a:rPr lang="es-ES_tradnl" sz="1000" dirty="0"/>
              <a:t> © </a:t>
            </a:r>
            <a:r>
              <a:rPr lang="es-ES_tradnl" sz="1000" dirty="0" err="1"/>
              <a:t>Ignasi</a:t>
            </a:r>
            <a:r>
              <a:rPr lang="es-ES_tradnl" sz="1000" dirty="0"/>
              <a:t> Gómez-</a:t>
            </a:r>
            <a:r>
              <a:rPr lang="es-ES_tradnl" sz="1000" dirty="0" err="1"/>
              <a:t>Sebastià</a:t>
            </a:r>
            <a:r>
              <a:rPr lang="es-ES_tradnl" sz="1000" dirty="0"/>
              <a:t>, KEMLG, 2016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AD81EF-3F60-AD43-9869-74A8F6B660A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969197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© </a:t>
            </a:r>
            <a:r>
              <a:rPr lang="es-ES_tradnl" dirty="0" err="1"/>
              <a:t>Ignasi</a:t>
            </a:r>
            <a:r>
              <a:rPr lang="es-ES_tradnl" dirty="0"/>
              <a:t> Gómez-</a:t>
            </a:r>
            <a:r>
              <a:rPr lang="es-ES_tradnl" dirty="0" err="1"/>
              <a:t>Sebastià</a:t>
            </a:r>
            <a:r>
              <a:rPr lang="es-ES_tradnl" dirty="0"/>
              <a:t>, KEMLG, 2016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AC0E16-C757-0749-992C-A745A5993F6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44622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</a:t>
            </a:r>
            <a:r>
              <a:rPr lang="es-ES_tradnl" sz="1000" dirty="0"/>
              <a:t> © </a:t>
            </a:r>
            <a:r>
              <a:rPr lang="es-ES_tradnl" sz="1000" dirty="0" err="1"/>
              <a:t>Ignasi</a:t>
            </a:r>
            <a:r>
              <a:rPr lang="es-ES_tradnl" sz="1000" dirty="0"/>
              <a:t> Gómez-</a:t>
            </a:r>
            <a:r>
              <a:rPr lang="es-ES_tradnl" sz="1000" dirty="0" err="1"/>
              <a:t>Sebastià</a:t>
            </a:r>
            <a:r>
              <a:rPr lang="es-ES_tradnl" sz="1000" dirty="0"/>
              <a:t>, KEMLG, 2016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BB4CC3-83DB-714A-B00C-6C1FE5864B1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12652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</a:t>
            </a:r>
            <a:r>
              <a:rPr lang="es-ES_tradnl" sz="1000" dirty="0"/>
              <a:t> © </a:t>
            </a:r>
            <a:r>
              <a:rPr lang="es-ES_tradnl" sz="1000" dirty="0" err="1"/>
              <a:t>Ignasi</a:t>
            </a:r>
            <a:r>
              <a:rPr lang="es-ES_tradnl" sz="1000" dirty="0"/>
              <a:t> Gómez-</a:t>
            </a:r>
            <a:r>
              <a:rPr lang="es-ES_tradnl" sz="1000" dirty="0" err="1"/>
              <a:t>Sebastià</a:t>
            </a:r>
            <a:r>
              <a:rPr lang="es-ES_tradnl" sz="1000" dirty="0"/>
              <a:t>, KEMLG, 2016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E8638C-4D79-2747-9836-D4232E9E59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111610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10350" y="704850"/>
            <a:ext cx="1924050" cy="569595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04850"/>
            <a:ext cx="5619750" cy="569595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/>
              <a:t> </a:t>
            </a:r>
            <a:r>
              <a:rPr lang="es-ES_tradnl" sz="1000" dirty="0"/>
              <a:t> © </a:t>
            </a:r>
            <a:r>
              <a:rPr lang="es-ES_tradnl" sz="1000" dirty="0" err="1"/>
              <a:t>Ignasi</a:t>
            </a:r>
            <a:r>
              <a:rPr lang="es-ES_tradnl" sz="1000" dirty="0"/>
              <a:t> Gómez-</a:t>
            </a:r>
            <a:r>
              <a:rPr lang="es-ES_tradnl" sz="1000" dirty="0" err="1"/>
              <a:t>Sebastià</a:t>
            </a:r>
            <a:r>
              <a:rPr lang="es-ES_tradnl" sz="1000" dirty="0"/>
              <a:t>, KEMLG, 2016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CEDAE4-4E43-CE46-A499-A3AFECB12B2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61754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4" name="Object 60"/>
          <p:cNvGraphicFramePr>
            <a:graphicFrameLocks noChangeAspect="1"/>
          </p:cNvGraphicFramePr>
          <p:nvPr/>
        </p:nvGraphicFramePr>
        <p:xfrm>
          <a:off x="4648200" y="4017963"/>
          <a:ext cx="4471988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" name="Image" r:id="rId14" imgW="2926464" imgH="1830962" progId="Photoshop.Image.7">
                  <p:embed/>
                </p:oleObj>
              </mc:Choice>
              <mc:Fallback>
                <p:oleObj name="Image" r:id="rId14" imgW="2926464" imgH="1830962" progId="Photoshop.Image.7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lum bright="54000" contrast="-6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1072" b="9831"/>
                      <a:stretch>
                        <a:fillRect/>
                      </a:stretch>
                    </p:blipFill>
                    <p:spPr bwMode="auto">
                      <a:xfrm>
                        <a:off x="4648200" y="4017963"/>
                        <a:ext cx="4471988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04850"/>
            <a:ext cx="769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Títol de la diapositiva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7620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estil del text del patró a primer nivell</a:t>
            </a:r>
          </a:p>
          <a:p>
            <a:pPr lvl="1"/>
            <a:r>
              <a:rPr lang="es-ES_tradnl"/>
              <a:t>segon nivell</a:t>
            </a:r>
          </a:p>
          <a:p>
            <a:pPr lvl="2"/>
            <a:r>
              <a:rPr lang="es-ES_tradnl"/>
              <a:t>tercer nivell</a:t>
            </a:r>
          </a:p>
          <a:p>
            <a:pPr lvl="3"/>
            <a:r>
              <a:rPr lang="es-ES_tradnl"/>
              <a:t>quart nivell</a:t>
            </a:r>
          </a:p>
          <a:p>
            <a:pPr lvl="4"/>
            <a:r>
              <a:rPr lang="es-ES_tradnl"/>
              <a:t>cinque nivell</a:t>
            </a:r>
          </a:p>
        </p:txBody>
      </p:sp>
      <p:sp>
        <p:nvSpPr>
          <p:cNvPr id="1075" name="Rectangle 5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9263" y="6629400"/>
            <a:ext cx="436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es-ES_tradnl" dirty="0"/>
              <a:t> </a:t>
            </a:r>
            <a:r>
              <a:rPr lang="es-ES_tradnl" sz="1000" dirty="0">
                <a:latin typeface="Comic Sans MS" charset="0"/>
              </a:rPr>
              <a:t>© Ignasi Gómez-Sebastià, KEMLG, 2015</a:t>
            </a:r>
            <a:endParaRPr lang="en-GB" dirty="0"/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1513" y="6529388"/>
            <a:ext cx="823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>
                <a:latin typeface="+mn-lt"/>
              </a:defRPr>
            </a:lvl1pPr>
          </a:lstStyle>
          <a:p>
            <a:fld id="{CB1D7B28-07DB-7846-8CC9-84E067EB0A94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81" name="Rectangle 57"/>
          <p:cNvSpPr>
            <a:spLocks noChangeArrowheads="1"/>
          </p:cNvSpPr>
          <p:nvPr/>
        </p:nvSpPr>
        <p:spPr bwMode="auto">
          <a:xfrm>
            <a:off x="7620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0668C">
                  <a:gamma/>
                  <a:tint val="44314"/>
                  <a:invGamma/>
                </a:srgbClr>
              </a:gs>
              <a:gs pos="100000">
                <a:srgbClr val="10668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82" name="Rectangle 58"/>
          <p:cNvSpPr>
            <a:spLocks noChangeArrowheads="1"/>
          </p:cNvSpPr>
          <p:nvPr/>
        </p:nvSpPr>
        <p:spPr bwMode="auto">
          <a:xfrm>
            <a:off x="0" y="0"/>
            <a:ext cx="457200" cy="6870700"/>
          </a:xfrm>
          <a:prstGeom prst="rect">
            <a:avLst/>
          </a:prstGeom>
          <a:gradFill rotWithShape="0">
            <a:gsLst>
              <a:gs pos="0">
                <a:srgbClr val="1482B4">
                  <a:gamma/>
                  <a:tint val="33333"/>
                  <a:invGamma/>
                </a:srgbClr>
              </a:gs>
              <a:gs pos="100000">
                <a:srgbClr val="1482B4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83" name="Text Box 59"/>
          <p:cNvSpPr txBox="1">
            <a:spLocks noChangeArrowheads="1"/>
          </p:cNvSpPr>
          <p:nvPr/>
        </p:nvSpPr>
        <p:spPr bwMode="auto">
          <a:xfrm rot="16200000">
            <a:off x="-3241675" y="3249613"/>
            <a:ext cx="684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>
                        <a:gamma/>
                        <a:tint val="5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Ontologías</a:t>
            </a:r>
            <a:r>
              <a:rPr lang="ca-ES" sz="1600" b="1" dirty="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, </a:t>
            </a:r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Protégé</a:t>
            </a:r>
            <a:r>
              <a:rPr lang="ca-ES" sz="1600" b="1" dirty="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 </a:t>
            </a:r>
            <a:r>
              <a:rPr lang="ca-ES" sz="1600" b="1" dirty="0" err="1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y</a:t>
            </a:r>
            <a:r>
              <a:rPr lang="ca-ES" sz="1600" b="1" dirty="0">
                <a:solidFill>
                  <a:srgbClr val="003366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 OWL</a:t>
            </a:r>
            <a:endParaRPr lang="ca-ES" sz="2600" b="1" dirty="0">
              <a:solidFill>
                <a:srgbClr val="B2B2B2"/>
              </a:solidFill>
              <a:latin typeface="Arial" charset="0"/>
            </a:endParaRPr>
          </a:p>
        </p:txBody>
      </p:sp>
      <p:pic>
        <p:nvPicPr>
          <p:cNvPr id="1089" name="Picture 62" descr="foto_recerc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0"/>
            <a:ext cx="25908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0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38" y="0"/>
            <a:ext cx="11874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1" name="Picture 14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138" y="419100"/>
            <a:ext cx="1296987" cy="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dt="0"/>
  <p:txStyles>
    <p:titleStyle>
      <a:lvl1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2pPr>
      <a:lvl3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3pPr>
      <a:lvl4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4pPr>
      <a:lvl5pPr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5pPr>
      <a:lvl6pPr marL="4572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6pPr>
      <a:lvl7pPr marL="9144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7pPr>
      <a:lvl8pPr marL="13716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8pPr>
      <a:lvl9pPr marL="1828800" algn="l" defTabSz="762000" rtl="0" eaLnBrk="0" fontAlgn="base" hangingPunct="0">
        <a:spcBef>
          <a:spcPct val="0"/>
        </a:spcBef>
        <a:spcAft>
          <a:spcPct val="0"/>
        </a:spcAft>
        <a:defRPr sz="2800">
          <a:solidFill>
            <a:srgbClr val="000066"/>
          </a:solidFill>
          <a:effectLst>
            <a:outerShdw blurRad="38100" dist="38100" dir="2700000" algn="tl">
              <a:srgbClr val="DDDDDD"/>
            </a:outerShdw>
          </a:effectLst>
          <a:latin typeface="Tahoma" charset="0"/>
          <a:ea typeface="ＭＳ Ｐゴシック" charset="0"/>
          <a:cs typeface="Tahoma" charset="0"/>
        </a:defRPr>
      </a:lvl9pPr>
    </p:titleStyle>
    <p:bodyStyle>
      <a:lvl1pPr marL="342900" indent="-342900" algn="l" defTabSz="762000" rtl="0" eaLnBrk="0" fontAlgn="base" hangingPunct="0">
        <a:spcBef>
          <a:spcPct val="30000"/>
        </a:spcBef>
        <a:spcAft>
          <a:spcPct val="0"/>
        </a:spcAft>
        <a:buClr>
          <a:srgbClr val="990033"/>
        </a:buClr>
        <a:buSzPct val="75000"/>
        <a:buFont typeface="Wingdings" charset="0"/>
        <a:buChar char="l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0" fontAlgn="base" hangingPunct="0">
        <a:spcBef>
          <a:spcPct val="20000"/>
        </a:spcBef>
        <a:spcAft>
          <a:spcPct val="0"/>
        </a:spcAft>
        <a:buClr>
          <a:srgbClr val="006699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Tahoma" charset="0"/>
          <a:cs typeface="+mn-cs"/>
        </a:defRPr>
      </a:lvl2pPr>
      <a:lvl3pPr marL="1143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60000"/>
        <a:buFont typeface="Monotype Sorts" charset="0"/>
        <a:buChar char="u"/>
        <a:defRPr>
          <a:solidFill>
            <a:schemeClr val="tx1"/>
          </a:solidFill>
          <a:latin typeface="+mn-lt"/>
          <a:ea typeface="Tahoma" charset="0"/>
          <a:cs typeface="+mn-cs"/>
        </a:defRPr>
      </a:lvl3pPr>
      <a:lvl4pPr marL="1600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660066"/>
        </a:buClr>
        <a:buSzPct val="60000"/>
        <a:buFont typeface="Monotype Sorts" charset="0"/>
        <a:buChar char="t"/>
        <a:defRPr sz="1600">
          <a:solidFill>
            <a:schemeClr val="tx1"/>
          </a:solidFill>
          <a:latin typeface="+mn-lt"/>
          <a:ea typeface="Tahoma" charset="0"/>
          <a:cs typeface="+mn-cs"/>
        </a:defRPr>
      </a:lvl4pPr>
      <a:lvl5pPr marL="20574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5pPr>
      <a:lvl6pPr marL="25146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6pPr>
      <a:lvl7pPr marL="29718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7pPr>
      <a:lvl8pPr marL="34290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8pPr>
      <a:lvl9pPr marL="3886200" indent="-228600" algn="l" defTabSz="76200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60000"/>
        <a:buChar char="–"/>
        <a:defRPr sz="1400">
          <a:solidFill>
            <a:schemeClr val="tx1"/>
          </a:solidFill>
          <a:latin typeface="+mn-lt"/>
          <a:ea typeface="Tahoma" charset="0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://owl.cs.manchester.ac.uk/tutorials/protegeowltutorial/" TargetMode="External"/><Relationship Id="rId3" Type="http://schemas.openxmlformats.org/officeDocument/2006/relationships/hyperlink" Target="http://www.cyc.com/" TargetMode="External"/><Relationship Id="rId7" Type="http://schemas.openxmlformats.org/officeDocument/2006/relationships/hyperlink" Target="http://www.xml.com/pub/a/2001/01/24/rdf.html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s.vu.nl/~frankh/postscript/IEEE-IS01.pdf" TargetMode="External"/><Relationship Id="rId5" Type="http://schemas.openxmlformats.org/officeDocument/2006/relationships/hyperlink" Target="http://www.daml.org/" TargetMode="External"/><Relationship Id="rId4" Type="http://schemas.openxmlformats.org/officeDocument/2006/relationships/hyperlink" Target="http://www.opencyc.org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protege.stanford.edu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o-ode.org/ontologies/pizza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33375"/>
            <a:ext cx="7847013" cy="2016125"/>
          </a:xfrm>
        </p:spPr>
        <p:txBody>
          <a:bodyPr/>
          <a:lstStyle/>
          <a:p>
            <a:pPr algn="ctr"/>
            <a:r>
              <a:rPr lang="en-GB" sz="4000" b="1" dirty="0" err="1"/>
              <a:t>Ontologías</a:t>
            </a:r>
            <a:r>
              <a:rPr lang="en-GB" sz="4000" b="1" dirty="0"/>
              <a:t>, Protégé y OWL</a:t>
            </a:r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17625" y="2909888"/>
            <a:ext cx="6369050" cy="1743075"/>
          </a:xfrm>
        </p:spPr>
        <p:txBody>
          <a:bodyPr/>
          <a:lstStyle/>
          <a:p>
            <a:r>
              <a:rPr lang="es-ES_tradnl" sz="2000" dirty="0"/>
              <a:t>Ulises Cortés, Luis Oliva Felipe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{</a:t>
            </a:r>
            <a:r>
              <a:rPr lang="es-ES" sz="1600" err="1"/>
              <a:t>ia</a:t>
            </a:r>
            <a:r>
              <a:rPr lang="es-ES" sz="1600"/>
              <a:t>,loliva</a:t>
            </a:r>
            <a:r>
              <a:rPr lang="es-ES" sz="1600" dirty="0"/>
              <a:t>}@cs.upc.edu</a:t>
            </a:r>
          </a:p>
          <a:p>
            <a:pPr>
              <a:lnSpc>
                <a:spcPct val="160000"/>
              </a:lnSpc>
            </a:pPr>
            <a:r>
              <a:rPr lang="es-ES" sz="1600" dirty="0"/>
              <a:t>http://www.cs.upc.edu/~</a:t>
            </a:r>
            <a:r>
              <a:rPr lang="es-ES_tradnl" sz="1400" b="1" noProof="1"/>
              <a:t>{ia, loliva}</a:t>
            </a:r>
            <a:endParaRPr lang="es-ES" sz="1600" dirty="0"/>
          </a:p>
          <a:p>
            <a:pPr>
              <a:lnSpc>
                <a:spcPct val="160000"/>
              </a:lnSpc>
            </a:pPr>
            <a:r>
              <a:rPr lang="en-GB" sz="1600" dirty="0">
                <a:solidFill>
                  <a:srgbClr val="000000"/>
                </a:solidFill>
              </a:rPr>
              <a:t>SID2017</a:t>
            </a:r>
            <a:endParaRPr lang="es-ES_tradnl" sz="1600" dirty="0"/>
          </a:p>
        </p:txBody>
      </p:sp>
      <p:sp>
        <p:nvSpPr>
          <p:cNvPr id="520196" name="Rectangle 4"/>
          <p:cNvSpPr>
            <a:spLocks noChangeArrowheads="1"/>
          </p:cNvSpPr>
          <p:nvPr/>
        </p:nvSpPr>
        <p:spPr bwMode="auto">
          <a:xfrm>
            <a:off x="0" y="2133600"/>
            <a:ext cx="7848600" cy="16827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6334178"/>
      </p:ext>
    </p:extLst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Indice</a:t>
            </a:r>
            <a:r>
              <a:rPr lang="es-ES" dirty="0"/>
              <a:t> I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Ontologías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Teoría básica sobre ontologías</a:t>
            </a:r>
          </a:p>
          <a:p>
            <a:pPr>
              <a:lnSpc>
                <a:spcPct val="140000"/>
              </a:lnSpc>
            </a:pPr>
            <a:r>
              <a:rPr lang="es-ES" dirty="0" err="1"/>
              <a:t>Ontology</a:t>
            </a:r>
            <a:r>
              <a:rPr lang="es-ES" dirty="0"/>
              <a:t> Web </a:t>
            </a:r>
            <a:r>
              <a:rPr lang="es-ES" dirty="0" err="1"/>
              <a:t>Language</a:t>
            </a:r>
            <a:r>
              <a:rPr lang="es-ES" dirty="0"/>
              <a:t> (OWL)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Introducción a OWL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Ciclo de diseño de la ontología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Taxonomía y clases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Propiedades de datos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Propiedades de objetos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Restricciones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Indice</a:t>
            </a:r>
            <a:r>
              <a:rPr lang="es-ES" dirty="0"/>
              <a:t> II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 err="1"/>
              <a:t>Protégé</a:t>
            </a:r>
            <a:r>
              <a:rPr lang="es-ES" dirty="0"/>
              <a:t> como editor de ontologías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Introducción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Uso del software en contraste con OWL</a:t>
            </a:r>
          </a:p>
          <a:p>
            <a:pPr lvl="1">
              <a:lnSpc>
                <a:spcPct val="140000"/>
              </a:lnSpc>
            </a:pPr>
            <a:r>
              <a:rPr lang="es-ES"/>
              <a:t>https</a:t>
            </a:r>
            <a:r>
              <a:rPr lang="es-ES" dirty="0"/>
              <a:t>://</a:t>
            </a:r>
            <a:r>
              <a:rPr lang="es-ES" dirty="0" err="1"/>
              <a:t>protege.stanford.edu</a:t>
            </a:r>
            <a:r>
              <a:rPr lang="es-ES" dirty="0"/>
              <a:t>/</a:t>
            </a:r>
            <a:r>
              <a:rPr lang="es-ES" dirty="0" err="1"/>
              <a:t>products.php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471994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sz="3200" dirty="0"/>
              <a:t>Teoría básica sobre Ontologías</a:t>
            </a:r>
            <a:br>
              <a:rPr lang="es-ES" sz="3200" dirty="0"/>
            </a:br>
            <a:endParaRPr lang="es-ES" dirty="0"/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580535"/>
      </p:ext>
    </p:extLst>
  </p:cSld>
  <p:clrMapOvr>
    <a:masterClrMapping/>
  </p:clrMapOvr>
  <p:transition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Filosofía (Aristóteles y Platón)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Filosóficamente: Parte de la metafísica que estudia lo que hay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Lo que existe. Entidades o </a:t>
            </a:r>
            <a:r>
              <a:rPr lang="es-ES" b="1" dirty="0"/>
              <a:t>conjuntos</a:t>
            </a:r>
            <a:r>
              <a:rPr lang="es-ES" dirty="0"/>
              <a:t> de entidades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Formas en que se relacionan las entidades que existen</a:t>
            </a:r>
          </a:p>
          <a:p>
            <a:pPr lvl="2">
              <a:lnSpc>
                <a:spcPct val="140000"/>
              </a:lnSpc>
            </a:pPr>
            <a:r>
              <a:rPr lang="es-ES" dirty="0"/>
              <a:t>Formas en que se relacionan los universales (Profesión =&gt; Químico) y los particulares a los que se aplica ese universal (Arquímedes, El mago Merlín, </a:t>
            </a:r>
            <a:r>
              <a:rPr lang="es-ES" dirty="0" err="1"/>
              <a:t>Manel</a:t>
            </a:r>
            <a:r>
              <a:rPr lang="es-ES" dirty="0"/>
              <a:t> </a:t>
            </a:r>
            <a:r>
              <a:rPr lang="es-ES" dirty="0" err="1"/>
              <a:t>Poch</a:t>
            </a:r>
            <a:r>
              <a:rPr lang="es-ES" dirty="0"/>
              <a:t>)</a:t>
            </a:r>
          </a:p>
          <a:p>
            <a:pPr>
              <a:lnSpc>
                <a:spcPct val="140000"/>
              </a:lnSpc>
            </a:pPr>
            <a:r>
              <a:rPr lang="es-ES" dirty="0"/>
              <a:t>Término moderno:  Leibniz “</a:t>
            </a:r>
            <a:r>
              <a:rPr lang="es-ES" dirty="0" err="1"/>
              <a:t>Introductio</a:t>
            </a:r>
            <a:r>
              <a:rPr lang="es-ES" dirty="0"/>
              <a:t> ad </a:t>
            </a:r>
            <a:r>
              <a:rPr lang="es-ES" dirty="0" err="1"/>
              <a:t>Encyclopaediam</a:t>
            </a:r>
            <a:r>
              <a:rPr lang="es-ES" dirty="0"/>
              <a:t> </a:t>
            </a:r>
            <a:r>
              <a:rPr lang="es-ES" dirty="0" err="1"/>
              <a:t>arcanam</a:t>
            </a:r>
            <a:r>
              <a:rPr lang="es-ES" dirty="0"/>
              <a:t>”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¿Que hay?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El “Todo”</a:t>
            </a:r>
          </a:p>
          <a:p>
            <a:pPr>
              <a:lnSpc>
                <a:spcPct val="14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47438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Preguntas clave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¿Qué es una ontología?</a:t>
            </a:r>
          </a:p>
          <a:p>
            <a:endParaRPr lang="es-ES" dirty="0"/>
          </a:p>
          <a:p>
            <a:r>
              <a:rPr lang="es-ES" dirty="0"/>
              <a:t>¿Para qué sirve?</a:t>
            </a:r>
          </a:p>
          <a:p>
            <a:endParaRPr lang="es-ES" dirty="0"/>
          </a:p>
          <a:p>
            <a:r>
              <a:rPr lang="es-ES" dirty="0"/>
              <a:t>¿Por qué es importante?</a:t>
            </a:r>
          </a:p>
        </p:txBody>
      </p:sp>
    </p:spTree>
    <p:extLst>
      <p:ext uri="{BB962C8B-B14F-4D97-AF65-F5344CB8AC3E}">
        <p14:creationId xmlns:p14="http://schemas.microsoft.com/office/powerpoint/2010/main" val="335977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Observación de la realidad</a:t>
            </a:r>
          </a:p>
          <a:p>
            <a:r>
              <a:rPr lang="es-ES" dirty="0"/>
              <a:t>Abstracción simbólica</a:t>
            </a:r>
          </a:p>
          <a:p>
            <a:r>
              <a:rPr lang="es-ES" dirty="0"/>
              <a:t>Triángulo semiótico (Saussure / Pierce) </a:t>
            </a:r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560" y="3441700"/>
            <a:ext cx="50165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07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Lenguaje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realidad limitada por el lenguaje</a:t>
            </a:r>
          </a:p>
          <a:p>
            <a:r>
              <a:rPr lang="es-ES" dirty="0"/>
              <a:t>Comunicar conceptos y símbolos</a:t>
            </a:r>
            <a:r>
              <a:rPr lang="es-ES"/>
              <a:t>: convenciones</a:t>
            </a:r>
          </a:p>
          <a:p>
            <a:r>
              <a:rPr lang="es-ES" dirty="0"/>
              <a:t>Mensajes</a:t>
            </a:r>
          </a:p>
          <a:p>
            <a:pPr lvl="1"/>
            <a:r>
              <a:rPr lang="es-ES" dirty="0"/>
              <a:t>Sintáctico</a:t>
            </a:r>
          </a:p>
          <a:p>
            <a:pPr lvl="1"/>
            <a:r>
              <a:rPr lang="es-ES" dirty="0"/>
              <a:t>Semántico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155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Niveles ontológicos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rcRect t="1295" b="1295"/>
          <a:stretch>
            <a:fillRect/>
          </a:stretch>
        </p:blipFill>
        <p:spPr/>
      </p:pic>
      <p:sp>
        <p:nvSpPr>
          <p:cNvPr id="5" name="CuadroTexto 4"/>
          <p:cNvSpPr txBox="1"/>
          <p:nvPr/>
        </p:nvSpPr>
        <p:spPr>
          <a:xfrm>
            <a:off x="457200" y="6226294"/>
            <a:ext cx="8195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Fuente: </a:t>
            </a:r>
            <a:r>
              <a:rPr lang="es-ES" i="1" dirty="0" err="1"/>
              <a:t>An</a:t>
            </a:r>
            <a:r>
              <a:rPr lang="es-ES" i="1" dirty="0"/>
              <a:t> </a:t>
            </a:r>
            <a:r>
              <a:rPr lang="es-ES" i="1" dirty="0" err="1"/>
              <a:t>introduction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</a:t>
            </a:r>
            <a:r>
              <a:rPr lang="es-ES" i="1" dirty="0" err="1"/>
              <a:t>MultiAgent</a:t>
            </a:r>
            <a:r>
              <a:rPr lang="es-ES" i="1" dirty="0"/>
              <a:t> </a:t>
            </a:r>
            <a:r>
              <a:rPr lang="es-ES" i="1" dirty="0" err="1"/>
              <a:t>Systems</a:t>
            </a:r>
            <a:r>
              <a:rPr lang="es-ES" dirty="0"/>
              <a:t>. M. </a:t>
            </a:r>
            <a:r>
              <a:rPr lang="es-ES" dirty="0" err="1"/>
              <a:t>Wooldridge</a:t>
            </a:r>
            <a:r>
              <a:rPr lang="es-ES" dirty="0"/>
              <a:t>, 2nd ed.; cap. 6 p.111</a:t>
            </a:r>
          </a:p>
        </p:txBody>
      </p:sp>
    </p:spTree>
    <p:extLst>
      <p:ext uri="{BB962C8B-B14F-4D97-AF65-F5344CB8AC3E}">
        <p14:creationId xmlns:p14="http://schemas.microsoft.com/office/powerpoint/2010/main" val="1832403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Grado de usabilidad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1651500"/>
            <a:ext cx="5455920" cy="41143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457200" y="6226294"/>
            <a:ext cx="815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Fuente: </a:t>
            </a:r>
            <a:r>
              <a:rPr lang="es-ES" i="1" dirty="0" err="1"/>
              <a:t>An</a:t>
            </a:r>
            <a:r>
              <a:rPr lang="es-ES" i="1" dirty="0"/>
              <a:t> </a:t>
            </a:r>
            <a:r>
              <a:rPr lang="es-ES" i="1" dirty="0" err="1"/>
              <a:t>introduction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</a:t>
            </a:r>
            <a:r>
              <a:rPr lang="es-ES" i="1" dirty="0" err="1"/>
              <a:t>MultiAgent</a:t>
            </a:r>
            <a:r>
              <a:rPr lang="es-ES" i="1" dirty="0"/>
              <a:t> </a:t>
            </a:r>
            <a:r>
              <a:rPr lang="es-ES" i="1" dirty="0" err="1"/>
              <a:t>Systems</a:t>
            </a:r>
            <a:r>
              <a:rPr lang="es-ES" dirty="0"/>
              <a:t>. M. </a:t>
            </a:r>
            <a:r>
              <a:rPr lang="es-ES" dirty="0" err="1"/>
              <a:t>Wooldridge</a:t>
            </a:r>
            <a:r>
              <a:rPr lang="es-ES" dirty="0"/>
              <a:t>, 2nd ed.; cap. 6 p.112</a:t>
            </a:r>
          </a:p>
        </p:txBody>
      </p:sp>
    </p:spTree>
    <p:extLst>
      <p:ext uri="{BB962C8B-B14F-4D97-AF65-F5344CB8AC3E}">
        <p14:creationId xmlns:p14="http://schemas.microsoft.com/office/powerpoint/2010/main" val="993062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Informática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Esquema conceptual (detallado) de un domino (o varios)</a:t>
            </a:r>
          </a:p>
          <a:p>
            <a:pPr>
              <a:lnSpc>
                <a:spcPct val="140000"/>
              </a:lnSpc>
            </a:pPr>
            <a:r>
              <a:rPr lang="es-ES" dirty="0"/>
              <a:t>Facilita la comunicación (intercambio de información) entre sistemas heterogéneos</a:t>
            </a:r>
          </a:p>
          <a:p>
            <a:pPr>
              <a:lnSpc>
                <a:spcPct val="140000"/>
              </a:lnSpc>
            </a:pPr>
            <a:r>
              <a:rPr lang="es-ES" dirty="0"/>
              <a:t>Representación del conocimiento. Estructura que contiene todas las entidades y relaciones relevantes para el dominio tratado</a:t>
            </a:r>
          </a:p>
          <a:p>
            <a:pPr lvl="1">
              <a:lnSpc>
                <a:spcPct val="140000"/>
              </a:lnSpc>
            </a:pPr>
            <a:r>
              <a:rPr lang="es-ES" dirty="0" err="1"/>
              <a:t>Cyc</a:t>
            </a:r>
            <a:r>
              <a:rPr lang="es-ES" dirty="0"/>
              <a:t> (Ontología con conocimiento genérico)</a:t>
            </a:r>
          </a:p>
          <a:p>
            <a:pPr>
              <a:lnSpc>
                <a:spcPct val="140000"/>
              </a:lnSpc>
            </a:pPr>
            <a:r>
              <a:rPr lang="es-ES" dirty="0"/>
              <a:t>Uso en Inteligencia Artificial:</a:t>
            </a:r>
          </a:p>
          <a:p>
            <a:pPr lvl="1">
              <a:lnSpc>
                <a:spcPct val="140000"/>
              </a:lnSpc>
            </a:pPr>
            <a:r>
              <a:rPr lang="es-ES" b="1" dirty="0"/>
              <a:t>Razonamiento</a:t>
            </a:r>
          </a:p>
          <a:p>
            <a:pPr lvl="1">
              <a:lnSpc>
                <a:spcPct val="140000"/>
              </a:lnSpc>
            </a:pPr>
            <a:r>
              <a:rPr lang="es-ES" b="1" dirty="0"/>
              <a:t>Clasificación</a:t>
            </a:r>
          </a:p>
          <a:p>
            <a:pPr>
              <a:lnSpc>
                <a:spcPct val="14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6136425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Funcionalidad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547564" cy="4525963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Acordar términos (y significado) en un dominio</a:t>
            </a:r>
          </a:p>
          <a:p>
            <a:r>
              <a:rPr lang="es-ES" dirty="0"/>
              <a:t>Comprobación de consistencia</a:t>
            </a:r>
          </a:p>
          <a:p>
            <a:r>
              <a:rPr lang="es-ES" dirty="0"/>
              <a:t>Clasificación e inferencia</a:t>
            </a:r>
          </a:p>
          <a:p>
            <a:r>
              <a:rPr lang="es-ES" dirty="0"/>
              <a:t>Jerarquía de inclusión, inclusión de clase, subclase más específica</a:t>
            </a:r>
          </a:p>
          <a:p>
            <a:r>
              <a:rPr lang="es-ES" dirty="0"/>
              <a:t>Una forma de razonar en los agentes </a:t>
            </a:r>
          </a:p>
          <a:p>
            <a:pPr lvl="1"/>
            <a:r>
              <a:rPr lang="es-ES" dirty="0"/>
              <a:t>Case-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dirty="0" err="1"/>
              <a:t>Reasoning</a:t>
            </a:r>
            <a:endParaRPr lang="es-ES" dirty="0"/>
          </a:p>
          <a:p>
            <a:pPr lvl="1"/>
            <a:r>
              <a:rPr lang="es-ES" dirty="0" err="1"/>
              <a:t>Model-Based</a:t>
            </a:r>
            <a:r>
              <a:rPr lang="es-ES" dirty="0"/>
              <a:t> </a:t>
            </a:r>
            <a:r>
              <a:rPr lang="es-ES" dirty="0" err="1"/>
              <a:t>Reasoning</a:t>
            </a:r>
            <a:endParaRPr lang="es-ES" dirty="0"/>
          </a:p>
          <a:p>
            <a:pPr lvl="1"/>
            <a:r>
              <a:rPr lang="es-ES" dirty="0" err="1"/>
              <a:t>Qualitative</a:t>
            </a:r>
            <a:r>
              <a:rPr lang="es-ES" dirty="0"/>
              <a:t> </a:t>
            </a:r>
            <a:r>
              <a:rPr lang="es-ES" dirty="0" err="1"/>
              <a:t>Reasoning</a:t>
            </a:r>
            <a:endParaRPr lang="es-ES" dirty="0"/>
          </a:p>
          <a:p>
            <a:pPr lvl="1"/>
            <a:r>
              <a:rPr lang="es-ES" dirty="0" err="1"/>
              <a:t>Planning</a:t>
            </a:r>
            <a:r>
              <a:rPr lang="es-ES" dirty="0"/>
              <a:t> </a:t>
            </a:r>
            <a:r>
              <a:rPr lang="es-ES" dirty="0" err="1"/>
              <a:t>Systems</a:t>
            </a:r>
            <a:endParaRPr lang="es-ES" dirty="0"/>
          </a:p>
          <a:p>
            <a:pPr lvl="1"/>
            <a:r>
              <a:rPr lang="es-ES" dirty="0" err="1"/>
              <a:t>Constraint</a:t>
            </a:r>
            <a:r>
              <a:rPr lang="es-ES" dirty="0"/>
              <a:t> </a:t>
            </a:r>
            <a:r>
              <a:rPr lang="es-ES" dirty="0" err="1"/>
              <a:t>Satisfaction</a:t>
            </a:r>
            <a:r>
              <a:rPr lang="es-ES" dirty="0"/>
              <a:t> </a:t>
            </a:r>
            <a:r>
              <a:rPr lang="es-ES" dirty="0" err="1"/>
              <a:t>Reasoning</a:t>
            </a:r>
            <a:endParaRPr lang="es-ES" dirty="0"/>
          </a:p>
          <a:p>
            <a:pPr lvl="1"/>
            <a:r>
              <a:rPr lang="es-ES" dirty="0"/>
              <a:t>Rule-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dirty="0" err="1"/>
              <a:t>Reasoning</a:t>
            </a:r>
            <a:endParaRPr lang="es-ES" dirty="0"/>
          </a:p>
          <a:p>
            <a:pPr lvl="1"/>
            <a:r>
              <a:rPr lang="es-ES" dirty="0" err="1"/>
              <a:t>Ontological</a:t>
            </a:r>
            <a:r>
              <a:rPr lang="es-ES" dirty="0"/>
              <a:t> </a:t>
            </a:r>
            <a:r>
              <a:rPr lang="es-ES" dirty="0" err="1"/>
              <a:t>Reasoning</a:t>
            </a:r>
            <a:endParaRPr lang="es-ES" dirty="0"/>
          </a:p>
          <a:p>
            <a:pPr lvl="1"/>
            <a:r>
              <a:rPr lang="es-ES" dirty="0" err="1"/>
              <a:t>Symbolic</a:t>
            </a:r>
            <a:r>
              <a:rPr lang="es-ES" dirty="0"/>
              <a:t> </a:t>
            </a:r>
            <a:r>
              <a:rPr lang="es-ES" dirty="0" err="1"/>
              <a:t>Reasoning</a:t>
            </a:r>
            <a:endParaRPr lang="es-ES" dirty="0"/>
          </a:p>
          <a:p>
            <a:pPr lvl="1"/>
            <a:r>
              <a:rPr lang="es-ES" dirty="0" err="1"/>
              <a:t>Logic</a:t>
            </a:r>
            <a:r>
              <a:rPr lang="es-ES" dirty="0"/>
              <a:t> </a:t>
            </a:r>
            <a:r>
              <a:rPr lang="es-ES" dirty="0" err="1"/>
              <a:t>Programming</a:t>
            </a:r>
            <a:endParaRPr lang="es-ES" dirty="0"/>
          </a:p>
          <a:p>
            <a:pPr lvl="1"/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2515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 tecnológica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400" dirty="0"/>
              <a:t>HTML / XML</a:t>
            </a:r>
          </a:p>
          <a:p>
            <a:pPr>
              <a:lnSpc>
                <a:spcPct val="140000"/>
              </a:lnSpc>
            </a:pPr>
            <a:r>
              <a:rPr lang="es-ES" sz="2400" dirty="0" err="1"/>
              <a:t>Microformatos</a:t>
            </a:r>
            <a:r>
              <a:rPr lang="es-ES" sz="2400" dirty="0"/>
              <a:t> (</a:t>
            </a:r>
            <a:r>
              <a:rPr lang="es-ES" sz="2400" dirty="0" err="1"/>
              <a:t>hAddress</a:t>
            </a:r>
            <a:r>
              <a:rPr lang="es-ES" sz="2400" dirty="0"/>
              <a:t>, </a:t>
            </a:r>
            <a:r>
              <a:rPr lang="es-ES" sz="2400" dirty="0" err="1"/>
              <a:t>hCalendar</a:t>
            </a:r>
            <a:r>
              <a:rPr lang="es-ES" sz="2400" dirty="0"/>
              <a:t>)</a:t>
            </a:r>
          </a:p>
          <a:p>
            <a:pPr>
              <a:lnSpc>
                <a:spcPct val="140000"/>
              </a:lnSpc>
            </a:pPr>
            <a:r>
              <a:rPr lang="es-ES" sz="2400" dirty="0"/>
              <a:t>DAML</a:t>
            </a:r>
          </a:p>
          <a:p>
            <a:pPr lvl="1">
              <a:lnSpc>
                <a:spcPct val="140000"/>
              </a:lnSpc>
            </a:pPr>
            <a:r>
              <a:rPr lang="es-ES" sz="2400" dirty="0"/>
              <a:t>Fuertemente asociado a </a:t>
            </a:r>
            <a:r>
              <a:rPr lang="es-ES" sz="2400" dirty="0" err="1"/>
              <a:t>WebServices</a:t>
            </a:r>
            <a:endParaRPr lang="es-ES" sz="2400" dirty="0"/>
          </a:p>
          <a:p>
            <a:pPr lvl="1">
              <a:lnSpc>
                <a:spcPct val="140000"/>
              </a:lnSpc>
            </a:pPr>
            <a:r>
              <a:rPr lang="es-ES" sz="2400" dirty="0"/>
              <a:t>DARPA</a:t>
            </a:r>
          </a:p>
          <a:p>
            <a:pPr>
              <a:lnSpc>
                <a:spcPct val="140000"/>
              </a:lnSpc>
            </a:pPr>
            <a:r>
              <a:rPr lang="es-ES" sz="2400" dirty="0"/>
              <a:t>OIL</a:t>
            </a:r>
          </a:p>
          <a:p>
            <a:pPr lvl="1">
              <a:lnSpc>
                <a:spcPct val="140000"/>
              </a:lnSpc>
            </a:pPr>
            <a:r>
              <a:rPr lang="es-ES" sz="2400" dirty="0"/>
              <a:t>Comisión Europea</a:t>
            </a:r>
          </a:p>
          <a:p>
            <a:pPr lvl="1">
              <a:lnSpc>
                <a:spcPct val="140000"/>
              </a:lnSpc>
            </a:pPr>
            <a:r>
              <a:rPr lang="es-ES" sz="2400" dirty="0"/>
              <a:t>Primer lenguaje de intercambio de Ontologías</a:t>
            </a:r>
          </a:p>
          <a:p>
            <a:pPr lvl="1">
              <a:lnSpc>
                <a:spcPct val="140000"/>
              </a:lnSpc>
            </a:pPr>
            <a:r>
              <a:rPr lang="es-ES" sz="2400" dirty="0"/>
              <a:t>Anticuado y poco expresivo</a:t>
            </a:r>
          </a:p>
          <a:p>
            <a:pPr marL="0" indent="0">
              <a:lnSpc>
                <a:spcPct val="140000"/>
              </a:lnSpc>
              <a:buNone/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691195121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 tecnológica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400" dirty="0"/>
              <a:t>RDF</a:t>
            </a:r>
            <a:endParaRPr lang="es-ES" sz="1800" dirty="0"/>
          </a:p>
          <a:p>
            <a:pPr lvl="1">
              <a:lnSpc>
                <a:spcPct val="140000"/>
              </a:lnSpc>
            </a:pPr>
            <a:r>
              <a:rPr lang="es-ES" sz="1800" dirty="0" err="1"/>
              <a:t>Resource</a:t>
            </a:r>
            <a:r>
              <a:rPr lang="es-ES" sz="1800" dirty="0"/>
              <a:t> </a:t>
            </a:r>
            <a:r>
              <a:rPr lang="es-ES" sz="1800" dirty="0" err="1"/>
              <a:t>description</a:t>
            </a:r>
            <a:r>
              <a:rPr lang="es-ES" sz="1800" dirty="0"/>
              <a:t> </a:t>
            </a:r>
            <a:r>
              <a:rPr lang="es-ES" sz="1800" dirty="0" err="1"/>
              <a:t>framework</a:t>
            </a:r>
            <a:endParaRPr lang="es-ES" sz="1800" dirty="0"/>
          </a:p>
          <a:p>
            <a:pPr lvl="1">
              <a:lnSpc>
                <a:spcPct val="140000"/>
              </a:lnSpc>
            </a:pPr>
            <a:r>
              <a:rPr lang="es-ES" sz="1800" dirty="0"/>
              <a:t>Esquema general de representación de información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Sin semántica asociada</a:t>
            </a:r>
          </a:p>
          <a:p>
            <a:pPr lvl="2"/>
            <a:r>
              <a:rPr lang="es-ES" sz="1600" dirty="0" err="1"/>
              <a:t>eRDF</a:t>
            </a:r>
            <a:r>
              <a:rPr lang="es-ES" sz="1600" dirty="0"/>
              <a:t> (obsoleto)</a:t>
            </a:r>
          </a:p>
          <a:p>
            <a:pPr lvl="2"/>
            <a:r>
              <a:rPr lang="es-ES" sz="1600" dirty="0" err="1"/>
              <a:t>RDFa</a:t>
            </a:r>
            <a:r>
              <a:rPr lang="es-ES" sz="1600" dirty="0"/>
              <a:t> </a:t>
            </a:r>
          </a:p>
          <a:p>
            <a:pPr lvl="2"/>
            <a:r>
              <a:rPr lang="es-ES" sz="1600" dirty="0" err="1"/>
              <a:t>Microdata</a:t>
            </a:r>
            <a:endParaRPr lang="es-ES" sz="1600" dirty="0"/>
          </a:p>
          <a:p>
            <a:pPr>
              <a:lnSpc>
                <a:spcPct val="140000"/>
              </a:lnSpc>
            </a:pPr>
            <a:r>
              <a:rPr lang="es-ES" sz="2000" b="1" dirty="0"/>
              <a:t>OWL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Inspirado en DAML y OIL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Construido sobre RDF + XML</a:t>
            </a:r>
          </a:p>
          <a:p>
            <a:pPr lvl="1"/>
            <a:r>
              <a:rPr lang="es-ES" dirty="0"/>
              <a:t>Representación abstracta (para humanos)</a:t>
            </a:r>
          </a:p>
          <a:p>
            <a:pPr lvl="1"/>
            <a:r>
              <a:rPr lang="es-ES" dirty="0"/>
              <a:t>Representación concreta (para máquinas; XML)</a:t>
            </a:r>
          </a:p>
          <a:p>
            <a:r>
              <a:rPr lang="es-ES" sz="2400" dirty="0"/>
              <a:t>KIF (</a:t>
            </a:r>
            <a:r>
              <a:rPr lang="es-ES" sz="2400" dirty="0" err="1"/>
              <a:t>Knowledge</a:t>
            </a:r>
            <a:r>
              <a:rPr lang="es-ES" sz="2400" dirty="0"/>
              <a:t> </a:t>
            </a:r>
            <a:r>
              <a:rPr lang="es-ES" sz="2400" dirty="0" err="1"/>
              <a:t>Interchange</a:t>
            </a:r>
            <a:r>
              <a:rPr lang="es-ES" sz="2400" dirty="0"/>
              <a:t> </a:t>
            </a:r>
            <a:r>
              <a:rPr lang="es-ES" sz="2400" dirty="0" err="1"/>
              <a:t>Format</a:t>
            </a:r>
            <a:r>
              <a:rPr lang="es-ES" sz="2400" dirty="0"/>
              <a:t>)</a:t>
            </a:r>
          </a:p>
          <a:p>
            <a:pPr lvl="1">
              <a:lnSpc>
                <a:spcPct val="140000"/>
              </a:lnSpc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414108889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Relacionados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Linked</a:t>
            </a:r>
            <a:r>
              <a:rPr lang="es-ES" dirty="0"/>
              <a:t> data</a:t>
            </a:r>
          </a:p>
          <a:p>
            <a:r>
              <a:rPr lang="es-ES" dirty="0"/>
              <a:t>Open data</a:t>
            </a:r>
          </a:p>
          <a:p>
            <a:pPr lvl="1"/>
            <a:r>
              <a:rPr lang="es-ES" dirty="0"/>
              <a:t>5 niveles: http://5stardata.info/en/</a:t>
            </a:r>
          </a:p>
          <a:p>
            <a:pPr lvl="1"/>
            <a:r>
              <a:rPr lang="es-ES" dirty="0"/>
              <a:t>Open </a:t>
            </a:r>
            <a:r>
              <a:rPr lang="es-ES" dirty="0" err="1"/>
              <a:t>government</a:t>
            </a:r>
            <a:endParaRPr lang="es-ES" dirty="0"/>
          </a:p>
          <a:p>
            <a:pPr lvl="1"/>
            <a:r>
              <a:rPr lang="es-ES" dirty="0"/>
              <a:t>Open </a:t>
            </a:r>
            <a:r>
              <a:rPr lang="es-ES" dirty="0" err="1"/>
              <a:t>science</a:t>
            </a:r>
            <a:endParaRPr lang="es-ES" dirty="0"/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5042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dirty="0" err="1"/>
              <a:t>Ontology</a:t>
            </a:r>
            <a:r>
              <a:rPr lang="es-ES" dirty="0"/>
              <a:t> Web </a:t>
            </a:r>
            <a:r>
              <a:rPr lang="es-ES" dirty="0" err="1"/>
              <a:t>Language</a:t>
            </a:r>
            <a:r>
              <a:rPr lang="es-ES" dirty="0"/>
              <a:t> (OWL)</a:t>
            </a:r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505344"/>
      </p:ext>
    </p:extLst>
  </p:cSld>
  <p:clrMapOvr>
    <a:masterClrMapping/>
  </p:clrMapOvr>
  <p:transition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OWL es como una patata frita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000" dirty="0"/>
              <a:t>OWL-FULL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Sin restricciones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Permite bucles en las relaciones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Algunas sentencias pueden llevar tiempo infinito en resolverse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OWL-DL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Termino medio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Basado en lógica descriptiva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Contiene algunas restricciones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OWL-LITE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Básico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Taxonomía con restricciones simples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356992"/>
            <a:ext cx="2736304" cy="258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6990899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OWL Lite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000" dirty="0"/>
              <a:t>Restricciones de </a:t>
            </a:r>
            <a:r>
              <a:rPr lang="es-ES" sz="2000" dirty="0" err="1"/>
              <a:t>cardinalidad</a:t>
            </a:r>
            <a:r>
              <a:rPr lang="es-ES" sz="2000" dirty="0"/>
              <a:t> 0..1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Casi tan complejo como OWL-DL de modo que apenas se usa</a:t>
            </a:r>
          </a:p>
        </p:txBody>
      </p:sp>
    </p:spTree>
    <p:extLst>
      <p:ext uri="{BB962C8B-B14F-4D97-AF65-F5344CB8AC3E}">
        <p14:creationId xmlns:p14="http://schemas.microsoft.com/office/powerpoint/2010/main" val="99412933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OWL DL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000" dirty="0"/>
              <a:t>Permite casi todos los tipos de restricciones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Restricciones numéricas no soportadas en propiedades transitivas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Restricciones en las anotaciones (</a:t>
            </a:r>
            <a:r>
              <a:rPr lang="es-ES" sz="1800" dirty="0" err="1"/>
              <a:t>annotation</a:t>
            </a:r>
            <a:r>
              <a:rPr lang="es-ES" sz="1800" dirty="0"/>
              <a:t> </a:t>
            </a:r>
            <a:r>
              <a:rPr lang="es-ES" sz="1800" dirty="0" err="1"/>
              <a:t>property</a:t>
            </a:r>
            <a:r>
              <a:rPr lang="es-ES" sz="1800" dirty="0"/>
              <a:t>)</a:t>
            </a:r>
          </a:p>
          <a:p>
            <a:pPr lvl="2">
              <a:lnSpc>
                <a:spcPct val="140000"/>
              </a:lnSpc>
            </a:pPr>
            <a:r>
              <a:rPr lang="es-ES" sz="1600" dirty="0"/>
              <a:t>Sólo soporta datos, literales, URI o Instancias</a:t>
            </a:r>
          </a:p>
          <a:p>
            <a:pPr lvl="2">
              <a:lnSpc>
                <a:spcPct val="140000"/>
              </a:lnSpc>
            </a:pPr>
            <a:r>
              <a:rPr lang="es-ES" sz="1600" dirty="0"/>
              <a:t>Una </a:t>
            </a:r>
            <a:r>
              <a:rPr lang="es-ES" sz="1600" dirty="0" err="1"/>
              <a:t>annotation</a:t>
            </a:r>
            <a:r>
              <a:rPr lang="es-ES" sz="1600" dirty="0"/>
              <a:t> </a:t>
            </a:r>
            <a:r>
              <a:rPr lang="es-ES" sz="1600" dirty="0" err="1"/>
              <a:t>property</a:t>
            </a:r>
            <a:r>
              <a:rPr lang="es-ES" sz="1600" dirty="0"/>
              <a:t> no puede tener sub-propiedades</a:t>
            </a:r>
          </a:p>
        </p:txBody>
      </p:sp>
    </p:spTree>
    <p:extLst>
      <p:ext uri="{BB962C8B-B14F-4D97-AF65-F5344CB8AC3E}">
        <p14:creationId xmlns:p14="http://schemas.microsoft.com/office/powerpoint/2010/main" val="1938489173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dirty="0"/>
              <a:t>Ciclo de desarrollo de una Ontología</a:t>
            </a:r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2585059"/>
      </p:ext>
    </p:extLst>
  </p:cSld>
  <p:clrMapOvr>
    <a:masterClrMapping/>
  </p:clrMapOvr>
  <p:transition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000" dirty="0"/>
              <a:t>Cual es el dominio que intentamos cubrir con la Ontología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Problema de la granularidad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Problema de la omnisciencia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Para que vamos a usar la Ontología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Identificar las </a:t>
            </a:r>
            <a:r>
              <a:rPr lang="es-ES" sz="2000" i="1" dirty="0" err="1"/>
              <a:t>Competency</a:t>
            </a:r>
            <a:r>
              <a:rPr lang="es-ES" sz="2000" i="1" dirty="0"/>
              <a:t> </a:t>
            </a:r>
            <a:r>
              <a:rPr lang="es-ES" sz="2000" i="1" dirty="0" err="1"/>
              <a:t>Questions</a:t>
            </a:r>
            <a:endParaRPr lang="es-ES" sz="2000" i="1" dirty="0"/>
          </a:p>
          <a:p>
            <a:pPr lvl="1">
              <a:lnSpc>
                <a:spcPct val="140000"/>
              </a:lnSpc>
            </a:pPr>
            <a:r>
              <a:rPr lang="es-ES" sz="1800" dirty="0"/>
              <a:t>Para que tipos de preguntas debe darnos respuesta la información que contiene la Ontología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Las decisiones no son finales, pueden cambiar durante el ciclo de desarrollo de la Ontología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2696"/>
            <a:ext cx="6986587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916832"/>
            <a:ext cx="1452904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78422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000" dirty="0"/>
              <a:t>Porque?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Eficiencia, menor coste de desarrollo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Integración directa con sistemas que usen esa Ontología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Uso de Ontologías que han sido validadas en casos de uso prácticos (aplicaciones)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48938"/>
            <a:ext cx="7899560" cy="619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0041649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000" dirty="0"/>
              <a:t>Cuales son los términos sobre los que vamos a hablar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Cuales son las propiedades de esos términos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Que queremos decir sobre esos términos</a:t>
            </a:r>
          </a:p>
          <a:p>
            <a:pPr>
              <a:lnSpc>
                <a:spcPct val="140000"/>
              </a:lnSpc>
            </a:pPr>
            <a:endParaRPr lang="es-ES" sz="2000" dirty="0"/>
          </a:p>
          <a:p>
            <a:pPr>
              <a:lnSpc>
                <a:spcPct val="140000"/>
              </a:lnSpc>
            </a:pPr>
            <a:r>
              <a:rPr lang="es-ES" sz="2000" dirty="0"/>
              <a:t>Primer paso:</a:t>
            </a:r>
          </a:p>
          <a:p>
            <a:pPr lvl="1">
              <a:lnSpc>
                <a:spcPct val="140000"/>
              </a:lnSpc>
            </a:pPr>
            <a:r>
              <a:rPr lang="es-ES" sz="1800" dirty="0"/>
              <a:t>No organizar los términos, hacer una lista con lo que queremos incluir en la Ontología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35965"/>
            <a:ext cx="8064896" cy="632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1248062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25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1800" dirty="0"/>
              <a:t>Definir las clases y la taxonomía</a:t>
            </a:r>
          </a:p>
          <a:p>
            <a:pPr lvl="1">
              <a:lnSpc>
                <a:spcPct val="140000"/>
              </a:lnSpc>
            </a:pPr>
            <a:r>
              <a:rPr lang="es-ES" sz="1600" dirty="0"/>
              <a:t>Una clase es un concepto del dominio, no un objeto</a:t>
            </a:r>
          </a:p>
          <a:p>
            <a:pPr lvl="2">
              <a:lnSpc>
                <a:spcPct val="140000"/>
              </a:lnSpc>
            </a:pPr>
            <a:r>
              <a:rPr lang="es-ES" sz="1400" dirty="0"/>
              <a:t>No sólo entidades, pueden ser propiedades!</a:t>
            </a:r>
          </a:p>
          <a:p>
            <a:pPr lvl="1">
              <a:lnSpc>
                <a:spcPct val="140000"/>
              </a:lnSpc>
            </a:pPr>
            <a:r>
              <a:rPr lang="es-ES" sz="1600" dirty="0"/>
              <a:t>Una clase es un conjunto de elementos con propiedades similares</a:t>
            </a:r>
          </a:p>
          <a:p>
            <a:pPr lvl="2">
              <a:lnSpc>
                <a:spcPct val="140000"/>
              </a:lnSpc>
            </a:pPr>
            <a:r>
              <a:rPr lang="es-ES" sz="1400" dirty="0"/>
              <a:t>Y que es cada elemento entonces?</a:t>
            </a:r>
          </a:p>
          <a:p>
            <a:pPr>
              <a:lnSpc>
                <a:spcPct val="140000"/>
              </a:lnSpc>
            </a:pPr>
            <a:r>
              <a:rPr lang="es-ES" sz="1800" dirty="0"/>
              <a:t>La taxonomía es la jerarquía de clases</a:t>
            </a:r>
          </a:p>
          <a:p>
            <a:pPr lvl="1">
              <a:lnSpc>
                <a:spcPct val="140000"/>
              </a:lnSpc>
            </a:pPr>
            <a:r>
              <a:rPr lang="es-ES" sz="1600" dirty="0"/>
              <a:t>Cuando agrupamos dos clases en la misma superclase?</a:t>
            </a:r>
          </a:p>
          <a:p>
            <a:pPr lvl="2">
              <a:lnSpc>
                <a:spcPct val="140000"/>
              </a:lnSpc>
            </a:pPr>
            <a:r>
              <a:rPr lang="es-ES" sz="1400" dirty="0"/>
              <a:t>La respuesta la tenéis en esta transparencia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28388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316648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26</a:t>
            </a:fld>
            <a:endParaRPr lang="es-E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28388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342" y="2204864"/>
            <a:ext cx="4664154" cy="36004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08" y="1412776"/>
            <a:ext cx="3168352" cy="514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33115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27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1800" dirty="0"/>
              <a:t>Definir las clases y la taxonomía</a:t>
            </a:r>
          </a:p>
          <a:p>
            <a:pPr lvl="1">
              <a:lnSpc>
                <a:spcPct val="140000"/>
              </a:lnSpc>
            </a:pPr>
            <a:r>
              <a:rPr lang="es-ES" sz="1600" dirty="0"/>
              <a:t>Top-Down: Definir primero los conceptos más generales, y luego especializar</a:t>
            </a:r>
          </a:p>
          <a:p>
            <a:pPr lvl="2">
              <a:lnSpc>
                <a:spcPct val="140000"/>
              </a:lnSpc>
            </a:pPr>
            <a:r>
              <a:rPr lang="es-ES" sz="1400" dirty="0"/>
              <a:t>Y cual es el concepto más general?</a:t>
            </a:r>
          </a:p>
          <a:p>
            <a:pPr>
              <a:lnSpc>
                <a:spcPct val="140000"/>
              </a:lnSpc>
            </a:pPr>
            <a:r>
              <a:rPr lang="es-ES" sz="1800" dirty="0" err="1"/>
              <a:t>Bottom</a:t>
            </a:r>
            <a:r>
              <a:rPr lang="es-ES" sz="1800" dirty="0"/>
              <a:t>-up: Definir los conceptos más específicos y luego agruparlos en clases más generales</a:t>
            </a:r>
          </a:p>
          <a:p>
            <a:pPr lvl="1">
              <a:lnSpc>
                <a:spcPct val="140000"/>
              </a:lnSpc>
            </a:pPr>
            <a:r>
              <a:rPr lang="es-ES" sz="1600" dirty="0"/>
              <a:t>Y cuando los agrupamos?</a:t>
            </a:r>
          </a:p>
          <a:p>
            <a:pPr>
              <a:lnSpc>
                <a:spcPct val="140000"/>
              </a:lnSpc>
            </a:pPr>
            <a:r>
              <a:rPr lang="es-ES" sz="1800" dirty="0"/>
              <a:t>Combinación: Definir los conceptos más importantes y luego generalizarlos y especificarlos en paralelo</a:t>
            </a:r>
          </a:p>
          <a:p>
            <a:pPr lvl="1">
              <a:lnSpc>
                <a:spcPct val="140000"/>
              </a:lnSpc>
            </a:pPr>
            <a:r>
              <a:rPr lang="es-ES" sz="1600" dirty="0"/>
              <a:t>Útil si aplicamos otra de las dos técnicas y nos quedamos atascados</a:t>
            </a:r>
          </a:p>
          <a:p>
            <a:pPr>
              <a:lnSpc>
                <a:spcPct val="140000"/>
              </a:lnSpc>
            </a:pPr>
            <a:r>
              <a:rPr lang="es-ES" sz="1800" dirty="0"/>
              <a:t>Clases disjuntas</a:t>
            </a:r>
          </a:p>
          <a:p>
            <a:pPr lvl="1">
              <a:lnSpc>
                <a:spcPct val="140000"/>
              </a:lnSpc>
            </a:pPr>
            <a:r>
              <a:rPr lang="es-ES" sz="1600" dirty="0"/>
              <a:t>Una instancia no puede pertenecer a ambas clases a la vez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28388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6850016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Tipos de clases: Equivalente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1800" i="1" dirty="0" err="1"/>
              <a:t>Necessary</a:t>
            </a:r>
            <a:r>
              <a:rPr lang="es-ES" sz="1800" i="1" dirty="0"/>
              <a:t> </a:t>
            </a:r>
            <a:r>
              <a:rPr lang="es-ES" sz="1800" i="1" dirty="0" err="1"/>
              <a:t>conditions</a:t>
            </a:r>
            <a:r>
              <a:rPr lang="es-ES" sz="1800" i="1" dirty="0"/>
              <a:t> and </a:t>
            </a:r>
            <a:r>
              <a:rPr lang="es-ES" sz="1800" i="1" dirty="0" err="1"/>
              <a:t>sufficient</a:t>
            </a:r>
            <a:r>
              <a:rPr lang="es-ES" sz="1800" i="1" dirty="0"/>
              <a:t> </a:t>
            </a:r>
            <a:r>
              <a:rPr lang="es-ES" sz="1800" i="1" dirty="0" err="1"/>
              <a:t>conditions</a:t>
            </a:r>
            <a:endParaRPr lang="es-ES" sz="1800" i="1" dirty="0"/>
          </a:p>
          <a:p>
            <a:pPr lvl="1">
              <a:lnSpc>
                <a:spcPct val="140000"/>
              </a:lnSpc>
            </a:pPr>
            <a:r>
              <a:rPr lang="es-ES" sz="1400" i="1" dirty="0"/>
              <a:t>Si algo reúne las condiciones es suficiente para decir que es un miembro de la clase</a:t>
            </a:r>
          </a:p>
          <a:p>
            <a:pPr lvl="1">
              <a:lnSpc>
                <a:spcPct val="140000"/>
              </a:lnSpc>
            </a:pPr>
            <a:r>
              <a:rPr lang="es-ES" sz="1400" i="1" dirty="0"/>
              <a:t>Un elemento escogido al azar que sabemos que es miembro de la clase, sabemos que reúne las condiciones</a:t>
            </a:r>
          </a:p>
          <a:p>
            <a:pPr lvl="1">
              <a:lnSpc>
                <a:spcPct val="140000"/>
              </a:lnSpc>
            </a:pPr>
            <a:r>
              <a:rPr lang="es-ES" sz="1400" i="1" dirty="0"/>
              <a:t>Que ocurre con un elemento escogido al azar que sabemos que reúne las condiciones?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336034"/>
            <a:ext cx="5219105" cy="196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824" y="5329446"/>
            <a:ext cx="45148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432" y="5397014"/>
            <a:ext cx="1183952" cy="107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0384500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29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Tipos de clases: Primitiva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1800" i="1" dirty="0" err="1"/>
              <a:t>Necessary</a:t>
            </a:r>
            <a:r>
              <a:rPr lang="es-ES" sz="1800" i="1" dirty="0"/>
              <a:t> </a:t>
            </a:r>
            <a:r>
              <a:rPr lang="es-ES" sz="1800" i="1" dirty="0" err="1"/>
              <a:t>conditions</a:t>
            </a:r>
            <a:endParaRPr lang="es-ES" sz="1800" i="1" dirty="0"/>
          </a:p>
          <a:p>
            <a:pPr lvl="1">
              <a:lnSpc>
                <a:spcPct val="140000"/>
              </a:lnSpc>
            </a:pPr>
            <a:r>
              <a:rPr lang="es-ES" sz="1400" dirty="0"/>
              <a:t>Si algo reúne las condiciones no es necesariamente obligatorio que sea un miembro de la clase</a:t>
            </a:r>
          </a:p>
          <a:p>
            <a:pPr lvl="1">
              <a:lnSpc>
                <a:spcPct val="140000"/>
              </a:lnSpc>
            </a:pPr>
            <a:r>
              <a:rPr lang="es-ES" sz="1400" b="1" dirty="0"/>
              <a:t>PERO:</a:t>
            </a:r>
            <a:r>
              <a:rPr lang="es-ES" sz="1400" dirty="0"/>
              <a:t> Un elemento escogido al azar que sabemos que es miembro de la clase, sabemos que reúne las condiciones</a:t>
            </a:r>
          </a:p>
          <a:p>
            <a:pPr lvl="1">
              <a:lnSpc>
                <a:spcPct val="140000"/>
              </a:lnSpc>
            </a:pPr>
            <a:r>
              <a:rPr lang="es-ES" sz="1400" dirty="0"/>
              <a:t>Que ocurre con un elemento escogido al azar que sabemos que reúne las condiciones?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5445224"/>
            <a:ext cx="4505325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517232"/>
            <a:ext cx="1168785" cy="116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501008"/>
            <a:ext cx="5219105" cy="196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0232687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30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400" dirty="0"/>
              <a:t>Asociadas a la clases (Dominio-Rango):</a:t>
            </a:r>
          </a:p>
          <a:p>
            <a:pPr>
              <a:lnSpc>
                <a:spcPct val="140000"/>
              </a:lnSpc>
            </a:pPr>
            <a:r>
              <a:rPr lang="es-ES" sz="2800" dirty="0"/>
              <a:t>Rango no es una clase</a:t>
            </a:r>
          </a:p>
          <a:p>
            <a:pPr lvl="1">
              <a:lnSpc>
                <a:spcPct val="140000"/>
              </a:lnSpc>
            </a:pPr>
            <a:r>
              <a:rPr lang="es-ES" sz="2400" dirty="0"/>
              <a:t>Data </a:t>
            </a:r>
            <a:r>
              <a:rPr lang="es-ES" sz="2400" dirty="0" err="1"/>
              <a:t>Properties</a:t>
            </a:r>
            <a:endParaRPr lang="es-ES" sz="2400" dirty="0"/>
          </a:p>
          <a:p>
            <a:pPr>
              <a:lnSpc>
                <a:spcPct val="140000"/>
              </a:lnSpc>
            </a:pPr>
            <a:r>
              <a:rPr lang="es-ES" sz="2800" dirty="0"/>
              <a:t>Rango es una clase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Relaciones a otras instancias de la clase</a:t>
            </a:r>
          </a:p>
          <a:p>
            <a:pPr lvl="1">
              <a:lnSpc>
                <a:spcPct val="140000"/>
              </a:lnSpc>
            </a:pPr>
            <a:r>
              <a:rPr lang="es-ES" dirty="0" err="1"/>
              <a:t>Object</a:t>
            </a:r>
            <a:r>
              <a:rPr lang="es-ES" dirty="0"/>
              <a:t> </a:t>
            </a:r>
            <a:r>
              <a:rPr lang="es-ES" dirty="0" err="1"/>
              <a:t>Properties</a:t>
            </a:r>
            <a:endParaRPr lang="es-E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828388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8961054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31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000" dirty="0"/>
              <a:t>Las restricciones definen el conjunto de valores posibles para una propiedad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Las restricciones más comunes son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Dominio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Rango</a:t>
            </a:r>
          </a:p>
          <a:p>
            <a:pPr>
              <a:lnSpc>
                <a:spcPct val="140000"/>
              </a:lnSpc>
            </a:pPr>
            <a:r>
              <a:rPr lang="es-ES" sz="2000" dirty="0"/>
              <a:t>No son restricciones a comprobar, son axiomas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28388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4894936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32</a:t>
            </a:fld>
            <a:endParaRPr lang="es-E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28388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1412776"/>
            <a:ext cx="5144072" cy="5184576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28184" y="1412776"/>
            <a:ext cx="2306216" cy="4988024"/>
          </a:xfrm>
        </p:spPr>
        <p:txBody>
          <a:bodyPr/>
          <a:lstStyle/>
          <a:p>
            <a:r>
              <a:rPr lang="es-ES" dirty="0"/>
              <a:t>Moisés y los creadores de Ontologías inconsistentes</a:t>
            </a:r>
          </a:p>
        </p:txBody>
      </p:sp>
    </p:spTree>
    <p:extLst>
      <p:ext uri="{BB962C8B-B14F-4D97-AF65-F5344CB8AC3E}">
        <p14:creationId xmlns:p14="http://schemas.microsoft.com/office/powerpoint/2010/main" val="27188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33</a:t>
            </a:fld>
            <a:endParaRPr lang="es-ES"/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268760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sz="2400" dirty="0"/>
              <a:t>Crear instancias de las clases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La clase se convierte en un tipo directo de la instancia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Las superclases del tipo directo son tipos de la instancias</a:t>
            </a:r>
          </a:p>
          <a:p>
            <a:pPr>
              <a:lnSpc>
                <a:spcPct val="140000"/>
              </a:lnSpc>
            </a:pPr>
            <a:r>
              <a:rPr lang="es-ES" sz="2400" dirty="0"/>
              <a:t>Asignar valores a las propiedades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Los valores asignados deben cumplir las restricciones impuestas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Se pueden usar razonadores para comprobar que las restricciones se cumplan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496944" cy="67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5047696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dirty="0"/>
              <a:t>Restricciones</a:t>
            </a:r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546861"/>
      </p:ext>
    </p:extLst>
  </p:cSld>
  <p:clrMapOvr>
    <a:masterClrMapping/>
  </p:clrMapOvr>
  <p:transition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35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Restricciones: </a:t>
            </a:r>
            <a:r>
              <a:rPr lang="es-ES" b="1" dirty="0" err="1">
                <a:solidFill>
                  <a:schemeClr val="tx1"/>
                </a:solidFill>
              </a:rPr>
              <a:t>Quantifier</a:t>
            </a:r>
            <a:r>
              <a:rPr lang="es-ES" b="1" dirty="0">
                <a:solidFill>
                  <a:schemeClr val="tx1"/>
                </a:solidFill>
              </a:rPr>
              <a:t> </a:t>
            </a:r>
            <a:r>
              <a:rPr lang="es-ES" b="1" dirty="0" err="1">
                <a:solidFill>
                  <a:schemeClr val="tx1"/>
                </a:solidFill>
              </a:rPr>
              <a:t>restrictions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i="1" dirty="0"/>
              <a:t>Existencial</a:t>
            </a:r>
          </a:p>
          <a:p>
            <a:pPr lvl="1">
              <a:lnSpc>
                <a:spcPct val="140000"/>
              </a:lnSpc>
            </a:pPr>
            <a:r>
              <a:rPr lang="es-ES" i="1" dirty="0"/>
              <a:t>Una pizza picante es una pizza que contiene al menos un ingrediente picante</a:t>
            </a:r>
          </a:p>
          <a:p>
            <a:pPr lvl="1">
              <a:lnSpc>
                <a:spcPct val="140000"/>
              </a:lnSpc>
            </a:pPr>
            <a:r>
              <a:rPr lang="es-ES" i="1" dirty="0" err="1"/>
              <a:t>Some</a:t>
            </a:r>
            <a:endParaRPr lang="es-ES" i="1" dirty="0"/>
          </a:p>
          <a:p>
            <a:pPr>
              <a:lnSpc>
                <a:spcPct val="140000"/>
              </a:lnSpc>
            </a:pPr>
            <a:r>
              <a:rPr lang="es-ES" sz="2400" i="1" dirty="0"/>
              <a:t>Universal</a:t>
            </a:r>
          </a:p>
          <a:p>
            <a:pPr lvl="1">
              <a:lnSpc>
                <a:spcPct val="140000"/>
              </a:lnSpc>
            </a:pPr>
            <a:r>
              <a:rPr lang="es-ES" i="1" dirty="0"/>
              <a:t>Una pizza vegana es una pizza donde todos los ingredientes son vegetales</a:t>
            </a:r>
          </a:p>
          <a:p>
            <a:pPr lvl="1">
              <a:lnSpc>
                <a:spcPct val="140000"/>
              </a:lnSpc>
            </a:pPr>
            <a:r>
              <a:rPr lang="es-ES" i="1" dirty="0" err="1"/>
              <a:t>Only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187896659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36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Restricciones: </a:t>
            </a:r>
            <a:r>
              <a:rPr lang="es-ES" b="1" dirty="0" err="1">
                <a:solidFill>
                  <a:schemeClr val="tx1"/>
                </a:solidFill>
              </a:rPr>
              <a:t>Cardinality</a:t>
            </a:r>
            <a:r>
              <a:rPr lang="es-ES" b="1" dirty="0">
                <a:solidFill>
                  <a:schemeClr val="tx1"/>
                </a:solidFill>
              </a:rPr>
              <a:t> </a:t>
            </a:r>
            <a:r>
              <a:rPr lang="es-ES" b="1" dirty="0" err="1">
                <a:solidFill>
                  <a:schemeClr val="tx1"/>
                </a:solidFill>
              </a:rPr>
              <a:t>restrictions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Mínimo número de relaciones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Pizza Beverly </a:t>
            </a:r>
            <a:r>
              <a:rPr lang="es-ES" dirty="0" err="1"/>
              <a:t>Hills</a:t>
            </a:r>
            <a:endParaRPr lang="es-ES" dirty="0"/>
          </a:p>
          <a:p>
            <a:pPr>
              <a:lnSpc>
                <a:spcPct val="140000"/>
              </a:lnSpc>
            </a:pPr>
            <a:r>
              <a:rPr lang="es-ES" dirty="0"/>
              <a:t>Máximo número de relaciones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Pizza de Oferta</a:t>
            </a:r>
          </a:p>
          <a:p>
            <a:pPr>
              <a:lnSpc>
                <a:spcPct val="140000"/>
              </a:lnSpc>
            </a:pPr>
            <a:r>
              <a:rPr lang="es-ES" dirty="0"/>
              <a:t>Número exacto de relaciones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Pizza Binaria</a:t>
            </a:r>
          </a:p>
          <a:p>
            <a:pPr>
              <a:lnSpc>
                <a:spcPct val="140000"/>
              </a:lnSpc>
            </a:pPr>
            <a:r>
              <a:rPr lang="es-ES" dirty="0"/>
              <a:t>Restricciones cualificadas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Limitan el rango de la relación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Pizza </a:t>
            </a:r>
            <a:r>
              <a:rPr lang="es-ES" dirty="0" err="1"/>
              <a:t>triqueseada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308763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37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Restricciones: por valor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 err="1"/>
              <a:t>hasValue</a:t>
            </a:r>
            <a:r>
              <a:rPr lang="es-ES" dirty="0"/>
              <a:t> </a:t>
            </a:r>
            <a:r>
              <a:rPr lang="es-ES" dirty="0" err="1"/>
              <a:t>restrictions</a:t>
            </a:r>
            <a:endParaRPr lang="es-ES" dirty="0"/>
          </a:p>
          <a:p>
            <a:pPr lvl="1">
              <a:lnSpc>
                <a:spcPct val="140000"/>
              </a:lnSpc>
            </a:pPr>
            <a:r>
              <a:rPr lang="es-ES" dirty="0"/>
              <a:t>Equivalente a enumeraciones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Usa el símbolo </a:t>
            </a:r>
          </a:p>
          <a:p>
            <a:pPr lvl="2">
              <a:lnSpc>
                <a:spcPct val="140000"/>
              </a:lnSpc>
            </a:pPr>
            <a:r>
              <a:rPr lang="es-ES" dirty="0"/>
              <a:t>Pizza </a:t>
            </a:r>
            <a:r>
              <a:rPr lang="es-ES" dirty="0" err="1"/>
              <a:t>EuroMediterranea</a:t>
            </a:r>
            <a:r>
              <a:rPr lang="es-ES" dirty="0"/>
              <a:t> = </a:t>
            </a:r>
          </a:p>
          <a:p>
            <a:pPr lvl="2">
              <a:lnSpc>
                <a:spcPct val="140000"/>
              </a:lnSpc>
            </a:pPr>
            <a:r>
              <a:rPr lang="es-ES" dirty="0" err="1"/>
              <a:t>Pizza.tienePaisOrigen</a:t>
            </a:r>
            <a:r>
              <a:rPr lang="es-ES" dirty="0"/>
              <a:t>       {Italia, España, Grecia, Francia}</a:t>
            </a:r>
          </a:p>
          <a:p>
            <a:pPr>
              <a:lnSpc>
                <a:spcPct val="140000"/>
              </a:lnSpc>
            </a:pPr>
            <a:endParaRPr lang="es-E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370" y="2204864"/>
            <a:ext cx="443569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212976"/>
            <a:ext cx="190101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6210581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38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Restricciones: operaciones conjuntos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556792"/>
            <a:ext cx="313372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437112"/>
            <a:ext cx="2724150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9238934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dirty="0"/>
              <a:t>Propiedades</a:t>
            </a:r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5099118"/>
      </p:ext>
    </p:extLst>
  </p:cSld>
  <p:clrMapOvr>
    <a:masterClrMapping/>
  </p:clrMapOvr>
  <p:transition>
    <p:cover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40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Propiedades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Propiedades y </a:t>
            </a:r>
            <a:r>
              <a:rPr lang="es-ES" dirty="0" err="1"/>
              <a:t>subpropiedades</a:t>
            </a:r>
            <a:endParaRPr lang="es-ES" dirty="0"/>
          </a:p>
          <a:p>
            <a:pPr lvl="1">
              <a:lnSpc>
                <a:spcPct val="140000"/>
              </a:lnSpc>
            </a:pPr>
            <a:r>
              <a:rPr lang="es-ES" dirty="0"/>
              <a:t>Cuando agrupamos propiedades en </a:t>
            </a:r>
            <a:r>
              <a:rPr lang="es-ES" dirty="0" err="1"/>
              <a:t>subpropiedades</a:t>
            </a:r>
            <a:r>
              <a:rPr lang="es-ES" dirty="0"/>
              <a:t>?</a:t>
            </a:r>
          </a:p>
          <a:p>
            <a:pPr>
              <a:lnSpc>
                <a:spcPct val="140000"/>
              </a:lnSpc>
            </a:pPr>
            <a:r>
              <a:rPr lang="es-ES" dirty="0"/>
              <a:t>Domino y rango de la propiedad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Recordad que son tratadas como axiomas!</a:t>
            </a:r>
          </a:p>
          <a:p>
            <a:pPr>
              <a:lnSpc>
                <a:spcPct val="140000"/>
              </a:lnSpc>
            </a:pPr>
            <a:r>
              <a:rPr lang="es-ES" dirty="0"/>
              <a:t>Propiedad Inversa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Del tipo 		</a:t>
            </a:r>
            <a:r>
              <a:rPr lang="es-ES" i="1" dirty="0" err="1"/>
              <a:t>hasComponent</a:t>
            </a:r>
            <a:r>
              <a:rPr lang="es-ES" dirty="0"/>
              <a:t>   	</a:t>
            </a:r>
            <a:r>
              <a:rPr lang="es-ES" i="1" dirty="0" err="1"/>
              <a:t>isComponentOf</a:t>
            </a:r>
            <a:endParaRPr lang="es-ES" i="1" dirty="0"/>
          </a:p>
          <a:p>
            <a:pPr lvl="1">
              <a:lnSpc>
                <a:spcPct val="140000"/>
              </a:lnSpc>
            </a:pPr>
            <a:r>
              <a:rPr lang="es-ES" dirty="0"/>
              <a:t>Donde el dominio y el rango, </a:t>
            </a:r>
            <a:r>
              <a:rPr lang="es-ES"/>
              <a:t>se intercambian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735560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41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Propiedades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Propiedad funcional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Cuando A y B están relacionados mediante una propiedad funcional sólo una instancia de B puede estar relacionada con A</a:t>
            </a:r>
          </a:p>
          <a:p>
            <a:pPr lvl="2">
              <a:lnSpc>
                <a:spcPct val="140000"/>
              </a:lnSpc>
            </a:pPr>
            <a:r>
              <a:rPr lang="es-ES" dirty="0"/>
              <a:t>Que ocurre si más de una instancia de B está relacionada con A?</a:t>
            </a:r>
          </a:p>
          <a:p>
            <a:pPr lvl="2">
              <a:lnSpc>
                <a:spcPct val="140000"/>
              </a:lnSpc>
            </a:pPr>
            <a:endParaRPr lang="es-ES" dirty="0"/>
          </a:p>
          <a:p>
            <a:pPr>
              <a:lnSpc>
                <a:spcPct val="140000"/>
              </a:lnSpc>
            </a:pPr>
            <a:endParaRPr lang="es-ES" dirty="0"/>
          </a:p>
          <a:p>
            <a:pPr marL="0" indent="0">
              <a:lnSpc>
                <a:spcPct val="140000"/>
              </a:lnSpc>
              <a:buNone/>
            </a:pPr>
            <a:endParaRPr lang="es-ES" dirty="0"/>
          </a:p>
          <a:p>
            <a:pPr>
              <a:lnSpc>
                <a:spcPct val="140000"/>
              </a:lnSpc>
            </a:pPr>
            <a:r>
              <a:rPr lang="es-ES" dirty="0"/>
              <a:t>Propiedad funcional inversa</a:t>
            </a:r>
          </a:p>
          <a:p>
            <a:pPr>
              <a:lnSpc>
                <a:spcPct val="140000"/>
              </a:lnSpc>
            </a:pPr>
            <a:endParaRPr lang="es-E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3789040"/>
            <a:ext cx="49149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7388263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42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Propiedades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Propiedad transitiva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Si una instancia de A se relaciona con una de B y una de B con C, la instancia de A se relaciona con la de C</a:t>
            </a:r>
          </a:p>
          <a:p>
            <a:pPr>
              <a:lnSpc>
                <a:spcPct val="140000"/>
              </a:lnSpc>
            </a:pPr>
            <a:r>
              <a:rPr lang="es-ES" dirty="0"/>
              <a:t>Propiedad simétrica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Si una instancia de A se relaciona con una de B, la de B se relaciona con la de A</a:t>
            </a:r>
          </a:p>
          <a:p>
            <a:pPr>
              <a:lnSpc>
                <a:spcPct val="140000"/>
              </a:lnSpc>
            </a:pPr>
            <a:r>
              <a:rPr lang="es-ES" dirty="0"/>
              <a:t>Propiedad asimétrica (</a:t>
            </a:r>
            <a:r>
              <a:rPr lang="es-ES" dirty="0" err="1"/>
              <a:t>antisimétrica</a:t>
            </a:r>
            <a:r>
              <a:rPr lang="es-ES" dirty="0"/>
              <a:t>)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Si una instancia de A se relaciona con una de B, la de B no se puede relacionar con la de A</a:t>
            </a:r>
          </a:p>
          <a:p>
            <a:pPr lvl="2">
              <a:lnSpc>
                <a:spcPct val="140000"/>
              </a:lnSpc>
            </a:pPr>
            <a:r>
              <a:rPr lang="es-ES" dirty="0"/>
              <a:t>Y que pasa si se relaciona?</a:t>
            </a:r>
          </a:p>
          <a:p>
            <a:pPr>
              <a:lnSpc>
                <a:spcPct val="14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0738958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43</a:t>
            </a:fld>
            <a:endParaRPr lang="es-E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412776"/>
            <a:ext cx="5144072" cy="5184576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28184" y="1412776"/>
            <a:ext cx="2306216" cy="4988024"/>
          </a:xfrm>
        </p:spPr>
        <p:txBody>
          <a:bodyPr/>
          <a:lstStyle/>
          <a:p>
            <a:r>
              <a:rPr lang="es-ES" dirty="0"/>
              <a:t>Moisés y los creadores de Ontologías inconsistentes</a:t>
            </a:r>
          </a:p>
        </p:txBody>
      </p:sp>
    </p:spTree>
    <p:extLst>
      <p:ext uri="{BB962C8B-B14F-4D97-AF65-F5344CB8AC3E}">
        <p14:creationId xmlns:p14="http://schemas.microsoft.com/office/powerpoint/2010/main" val="180182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44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Propiedades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Propiedad reflexiva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Si P es reflexiva y una instancia A tiene P, P se aplica a la instancia de A</a:t>
            </a:r>
          </a:p>
          <a:p>
            <a:pPr>
              <a:lnSpc>
                <a:spcPct val="140000"/>
              </a:lnSpc>
            </a:pPr>
            <a:r>
              <a:rPr lang="es-ES" dirty="0"/>
              <a:t>Propiedad irreflexiva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Si P es reflexiva y una instancia A tiene P, P no se puede aplicar a la instancia de A</a:t>
            </a:r>
          </a:p>
          <a:p>
            <a:pPr lvl="2">
              <a:lnSpc>
                <a:spcPct val="140000"/>
              </a:lnSpc>
            </a:pPr>
            <a:r>
              <a:rPr lang="es-ES" dirty="0"/>
              <a:t>Y que pasa si se aplica?</a:t>
            </a:r>
          </a:p>
        </p:txBody>
      </p:sp>
    </p:spTree>
    <p:extLst>
      <p:ext uri="{BB962C8B-B14F-4D97-AF65-F5344CB8AC3E}">
        <p14:creationId xmlns:p14="http://schemas.microsoft.com/office/powerpoint/2010/main" val="4273081559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45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Propiedades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Data </a:t>
            </a:r>
            <a:r>
              <a:rPr lang="es-ES" dirty="0" err="1"/>
              <a:t>properties</a:t>
            </a:r>
            <a:endParaRPr lang="es-ES" dirty="0"/>
          </a:p>
          <a:p>
            <a:pPr lvl="1">
              <a:lnSpc>
                <a:spcPct val="140000"/>
              </a:lnSpc>
            </a:pPr>
            <a:r>
              <a:rPr lang="es-ES" dirty="0"/>
              <a:t>Tienen sentido todas las restricciones aplicadas a propiedades en las data </a:t>
            </a:r>
            <a:r>
              <a:rPr lang="es-ES" dirty="0" err="1"/>
              <a:t>properties</a:t>
            </a:r>
            <a:r>
              <a:rPr lang="es-ES" dirty="0"/>
              <a:t>?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Si es que no, cuales tienen sentido?</a:t>
            </a:r>
          </a:p>
        </p:txBody>
      </p:sp>
    </p:spTree>
    <p:extLst>
      <p:ext uri="{BB962C8B-B14F-4D97-AF65-F5344CB8AC3E}">
        <p14:creationId xmlns:p14="http://schemas.microsoft.com/office/powerpoint/2010/main" val="802458551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dirty="0" err="1"/>
              <a:t>Protégé</a:t>
            </a:r>
            <a:endParaRPr lang="es-ES" dirty="0"/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1150593"/>
      </p:ext>
    </p:extLst>
  </p:cSld>
  <p:clrMapOvr>
    <a:masterClrMapping/>
  </p:clrMapOvr>
  <p:transition>
    <p:cover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47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 err="1">
                <a:solidFill>
                  <a:schemeClr val="tx1"/>
                </a:solidFill>
              </a:rPr>
              <a:t>Protégé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Crear una Ontología nueva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De que tipo?</a:t>
            </a:r>
          </a:p>
          <a:p>
            <a:pPr lvl="1">
              <a:lnSpc>
                <a:spcPct val="140000"/>
              </a:lnSpc>
            </a:pPr>
            <a:r>
              <a:rPr lang="es-ES" dirty="0" err="1"/>
              <a:t>Save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as y volver a abrir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Añadir comentario a la Ontología</a:t>
            </a:r>
          </a:p>
          <a:p>
            <a:pPr>
              <a:lnSpc>
                <a:spcPct val="140000"/>
              </a:lnSpc>
            </a:pPr>
            <a:r>
              <a:rPr lang="es-ES" dirty="0"/>
              <a:t>Crear clases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Crear una subclase de </a:t>
            </a:r>
            <a:r>
              <a:rPr lang="es-ES" dirty="0" err="1"/>
              <a:t>Thing</a:t>
            </a:r>
            <a:endParaRPr lang="es-ES" dirty="0"/>
          </a:p>
          <a:p>
            <a:pPr lvl="1">
              <a:lnSpc>
                <a:spcPct val="140000"/>
              </a:lnSpc>
            </a:pPr>
            <a:r>
              <a:rPr lang="es-ES" dirty="0"/>
              <a:t>Crear hermano y subclase de la clase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Crear otro hermano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Borrar el segundo hermano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Hacer que la clase y su hermano sean disjuntas</a:t>
            </a:r>
          </a:p>
          <a:p>
            <a:pPr lvl="2">
              <a:lnSpc>
                <a:spcPct val="140000"/>
              </a:lnSpc>
            </a:pPr>
            <a:r>
              <a:rPr lang="es-ES" dirty="0"/>
              <a:t>Creación masiva de clases con el </a:t>
            </a:r>
            <a:r>
              <a:rPr lang="es-ES" dirty="0" err="1"/>
              <a:t>Wizard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0320316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48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 err="1">
                <a:solidFill>
                  <a:schemeClr val="tx1"/>
                </a:solidFill>
              </a:rPr>
              <a:t>Protégé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Propiedades (</a:t>
            </a:r>
            <a:r>
              <a:rPr lang="es-ES" dirty="0" err="1"/>
              <a:t>Object</a:t>
            </a:r>
            <a:r>
              <a:rPr lang="es-ES" dirty="0"/>
              <a:t> </a:t>
            </a:r>
            <a:r>
              <a:rPr lang="es-ES" dirty="0" err="1"/>
              <a:t>Properties</a:t>
            </a:r>
            <a:r>
              <a:rPr lang="es-ES" dirty="0"/>
              <a:t>)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Crear una propiedad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Crear una </a:t>
            </a:r>
            <a:r>
              <a:rPr lang="es-ES" dirty="0" err="1"/>
              <a:t>subpropiedad</a:t>
            </a:r>
            <a:endParaRPr lang="es-ES" dirty="0"/>
          </a:p>
          <a:p>
            <a:pPr lvl="1">
              <a:lnSpc>
                <a:spcPct val="140000"/>
              </a:lnSpc>
            </a:pPr>
            <a:r>
              <a:rPr lang="es-ES" dirty="0"/>
              <a:t>Asignar Dominio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Asignar Rango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Asignar restricciones a las propiedades</a:t>
            </a:r>
          </a:p>
          <a:p>
            <a:pPr>
              <a:lnSpc>
                <a:spcPct val="140000"/>
              </a:lnSpc>
            </a:pPr>
            <a:r>
              <a:rPr lang="es-ES" dirty="0"/>
              <a:t>Propiedades (Data </a:t>
            </a:r>
            <a:r>
              <a:rPr lang="es-ES" dirty="0" err="1"/>
              <a:t>Properties</a:t>
            </a:r>
            <a:r>
              <a:rPr lang="es-ES" dirty="0"/>
              <a:t>)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Crear propiedad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Asignar Dominio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Asignar Rango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Asignar Rango con conjunto de valores permitidos</a:t>
            </a:r>
          </a:p>
          <a:p>
            <a:pPr>
              <a:lnSpc>
                <a:spcPct val="14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6381069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49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525338"/>
            <a:ext cx="7696200" cy="533400"/>
          </a:xfrm>
        </p:spPr>
        <p:txBody>
          <a:bodyPr/>
          <a:lstStyle/>
          <a:p>
            <a:r>
              <a:rPr lang="es-ES" b="1" dirty="0" err="1">
                <a:solidFill>
                  <a:schemeClr val="tx1"/>
                </a:solidFill>
              </a:rPr>
              <a:t>Protégé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1089248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/>
              <a:t>Crear </a:t>
            </a:r>
            <a:r>
              <a:rPr lang="es-ES" dirty="0" err="1"/>
              <a:t>Individuals</a:t>
            </a:r>
            <a:endParaRPr lang="es-ES" dirty="0"/>
          </a:p>
          <a:p>
            <a:pPr>
              <a:lnSpc>
                <a:spcPct val="140000"/>
              </a:lnSpc>
            </a:pPr>
            <a:r>
              <a:rPr lang="es-ES" dirty="0"/>
              <a:t>Restricciones en clases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Asignar </a:t>
            </a:r>
            <a:r>
              <a:rPr lang="es-ES" dirty="0" err="1"/>
              <a:t>Necessary</a:t>
            </a:r>
            <a:r>
              <a:rPr lang="es-ES" dirty="0"/>
              <a:t> </a:t>
            </a:r>
            <a:r>
              <a:rPr lang="es-ES" dirty="0" err="1"/>
              <a:t>Conditions</a:t>
            </a:r>
            <a:r>
              <a:rPr lang="es-ES" dirty="0"/>
              <a:t> a una clase</a:t>
            </a:r>
          </a:p>
          <a:p>
            <a:pPr lvl="1">
              <a:lnSpc>
                <a:spcPct val="140000"/>
              </a:lnSpc>
            </a:pPr>
            <a:r>
              <a:rPr lang="es-ES" dirty="0"/>
              <a:t>Asignar </a:t>
            </a:r>
            <a:r>
              <a:rPr lang="es-ES" dirty="0" err="1"/>
              <a:t>Necessary</a:t>
            </a:r>
            <a:r>
              <a:rPr lang="es-ES" dirty="0"/>
              <a:t> and </a:t>
            </a:r>
            <a:r>
              <a:rPr lang="es-ES" dirty="0" err="1"/>
              <a:t>Suficient</a:t>
            </a:r>
            <a:r>
              <a:rPr lang="es-ES" dirty="0"/>
              <a:t> </a:t>
            </a:r>
            <a:r>
              <a:rPr lang="es-ES" dirty="0" err="1"/>
              <a:t>Conditions</a:t>
            </a:r>
            <a:r>
              <a:rPr lang="es-ES" dirty="0"/>
              <a:t> a una clase</a:t>
            </a:r>
          </a:p>
          <a:p>
            <a:pPr>
              <a:lnSpc>
                <a:spcPct val="140000"/>
              </a:lnSpc>
            </a:pPr>
            <a:r>
              <a:rPr lang="es-ES" dirty="0"/>
              <a:t>Usando el razonador para comprobar la consistencia y clasificar</a:t>
            </a:r>
          </a:p>
          <a:p>
            <a:pPr>
              <a:lnSpc>
                <a:spcPct val="140000"/>
              </a:lnSpc>
            </a:pPr>
            <a:r>
              <a:rPr lang="es-ES" dirty="0"/>
              <a:t>Añadir instancias</a:t>
            </a:r>
          </a:p>
          <a:p>
            <a:pPr>
              <a:lnSpc>
                <a:spcPct val="14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8691787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1916113"/>
            <a:ext cx="7772400" cy="1143000"/>
          </a:xfrm>
        </p:spPr>
        <p:txBody>
          <a:bodyPr/>
          <a:lstStyle/>
          <a:p>
            <a:r>
              <a:rPr lang="es-ES" dirty="0"/>
              <a:t>Referencias</a:t>
            </a:r>
          </a:p>
        </p:txBody>
      </p:sp>
      <p:sp>
        <p:nvSpPr>
          <p:cNvPr id="2874371" name="Rectangle 3"/>
          <p:cNvSpPr>
            <a:spLocks noChangeArrowheads="1"/>
          </p:cNvSpPr>
          <p:nvPr/>
        </p:nvSpPr>
        <p:spPr bwMode="auto">
          <a:xfrm>
            <a:off x="0" y="2924175"/>
            <a:ext cx="7315200" cy="123825"/>
          </a:xfrm>
          <a:prstGeom prst="rect">
            <a:avLst/>
          </a:prstGeom>
          <a:solidFill>
            <a:srgbClr val="CECECE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481263"/>
      </p:ext>
    </p:extLst>
  </p:cSld>
  <p:clrMapOvr>
    <a:masterClrMapping/>
  </p:clrMapOvr>
  <p:transition>
    <p:cover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51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-50726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Referencias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513184"/>
            <a:ext cx="7620000" cy="4572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s-ES" dirty="0" err="1"/>
              <a:t>Cyc</a:t>
            </a:r>
            <a:endParaRPr lang="es-ES" dirty="0"/>
          </a:p>
          <a:p>
            <a:pPr lvl="1">
              <a:lnSpc>
                <a:spcPct val="140000"/>
              </a:lnSpc>
            </a:pPr>
            <a:r>
              <a:rPr lang="es-ES" dirty="0">
                <a:hlinkClick r:id="rId3"/>
              </a:rPr>
              <a:t>http://www.cyc.com/</a:t>
            </a:r>
            <a:endParaRPr lang="es-ES" dirty="0"/>
          </a:p>
          <a:p>
            <a:pPr lvl="1">
              <a:lnSpc>
                <a:spcPct val="140000"/>
              </a:lnSpc>
            </a:pPr>
            <a:r>
              <a:rPr lang="es-ES" dirty="0">
                <a:hlinkClick r:id="rId4"/>
              </a:rPr>
              <a:t>http://www.opencyc.org/</a:t>
            </a:r>
            <a:endParaRPr lang="es-ES" dirty="0"/>
          </a:p>
          <a:p>
            <a:pPr>
              <a:lnSpc>
                <a:spcPct val="140000"/>
              </a:lnSpc>
            </a:pPr>
            <a:r>
              <a:rPr lang="es-ES" dirty="0"/>
              <a:t>DAML</a:t>
            </a:r>
          </a:p>
          <a:p>
            <a:pPr lvl="1">
              <a:lnSpc>
                <a:spcPct val="140000"/>
              </a:lnSpc>
            </a:pPr>
            <a:r>
              <a:rPr lang="es-ES" dirty="0">
                <a:hlinkClick r:id="rId5"/>
              </a:rPr>
              <a:t>http://www.daml.org/</a:t>
            </a:r>
            <a:endParaRPr lang="es-ES" dirty="0"/>
          </a:p>
          <a:p>
            <a:pPr>
              <a:lnSpc>
                <a:spcPct val="140000"/>
              </a:lnSpc>
            </a:pPr>
            <a:r>
              <a:rPr lang="es-ES" dirty="0"/>
              <a:t>OIL</a:t>
            </a:r>
          </a:p>
          <a:p>
            <a:pPr lvl="1">
              <a:lnSpc>
                <a:spcPct val="140000"/>
              </a:lnSpc>
            </a:pPr>
            <a:r>
              <a:rPr lang="es-ES" dirty="0">
                <a:hlinkClick r:id="rId6"/>
              </a:rPr>
              <a:t>http://www.cs.vu.nl/~frankh/postscript/IEEE-IS01.pdf</a:t>
            </a:r>
            <a:endParaRPr lang="es-ES" dirty="0"/>
          </a:p>
          <a:p>
            <a:pPr>
              <a:lnSpc>
                <a:spcPct val="140000"/>
              </a:lnSpc>
            </a:pPr>
            <a:r>
              <a:rPr lang="es-ES" dirty="0"/>
              <a:t>RDF</a:t>
            </a:r>
          </a:p>
          <a:p>
            <a:pPr lvl="1">
              <a:lnSpc>
                <a:spcPct val="140000"/>
              </a:lnSpc>
            </a:pPr>
            <a:r>
              <a:rPr lang="es-ES" dirty="0">
                <a:hlinkClick r:id="rId7"/>
              </a:rPr>
              <a:t>http://www.xml.com/pub/a/2001/01/24/rdf.html</a:t>
            </a:r>
            <a:endParaRPr lang="es-ES" dirty="0"/>
          </a:p>
          <a:p>
            <a:pPr>
              <a:lnSpc>
                <a:spcPct val="140000"/>
              </a:lnSpc>
            </a:pPr>
            <a:r>
              <a:rPr lang="es-ES" b="1" dirty="0"/>
              <a:t>OWL</a:t>
            </a:r>
          </a:p>
          <a:p>
            <a:pPr lvl="1">
              <a:lnSpc>
                <a:spcPct val="140000"/>
              </a:lnSpc>
            </a:pPr>
            <a:r>
              <a:rPr lang="es-ES" dirty="0">
                <a:hlinkClick r:id="rId8"/>
              </a:rPr>
              <a:t>http://owl.cs.manchester.ac.uk/tutorials/protegeowltutorial/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4205792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E1B99-B6E8-D84E-9E3D-BD4049DDA75E}" type="slidenum">
              <a:rPr lang="es-ES" smtClean="0"/>
              <a:pPr/>
              <a:t>52</a:t>
            </a:fld>
            <a:endParaRPr lang="es-ES"/>
          </a:p>
        </p:txBody>
      </p:sp>
      <p:sp>
        <p:nvSpPr>
          <p:cNvPr id="93798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838200" y="-50726"/>
            <a:ext cx="7696200" cy="5334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Referencias</a:t>
            </a:r>
          </a:p>
        </p:txBody>
      </p:sp>
      <p:sp>
        <p:nvSpPr>
          <p:cNvPr id="93798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99592" y="513184"/>
            <a:ext cx="7620000" cy="45720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s-ES" dirty="0" err="1"/>
              <a:t>Protégé</a:t>
            </a:r>
            <a:endParaRPr lang="es-ES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s-ES" dirty="0">
                <a:hlinkClick r:id="rId3"/>
              </a:rPr>
              <a:t>http://protege.stanford.edu</a:t>
            </a:r>
            <a:endParaRPr lang="es-ES" dirty="0"/>
          </a:p>
          <a:p>
            <a:pPr marL="457200" indent="-457200">
              <a:buFont typeface="Arial" pitchFamily="34" charset="0"/>
              <a:buChar char="•"/>
            </a:pPr>
            <a:r>
              <a:rPr lang="es-ES" dirty="0" err="1"/>
              <a:t>Ontologia</a:t>
            </a:r>
            <a:r>
              <a:rPr lang="es-ES" dirty="0"/>
              <a:t> de pizzas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s-ES" dirty="0">
                <a:hlinkClick r:id="rId4"/>
              </a:rPr>
              <a:t>www.co-ode.org/</a:t>
            </a:r>
            <a:r>
              <a:rPr lang="es-ES" b="1" dirty="0">
                <a:hlinkClick r:id="rId4"/>
              </a:rPr>
              <a:t>ontologies</a:t>
            </a:r>
            <a:r>
              <a:rPr lang="es-ES" dirty="0">
                <a:hlinkClick r:id="rId4"/>
              </a:rPr>
              <a:t>/</a:t>
            </a:r>
            <a:r>
              <a:rPr lang="es-ES" b="1" dirty="0">
                <a:hlinkClick r:id="rId4"/>
              </a:rPr>
              <a:t>pizza</a:t>
            </a:r>
            <a:r>
              <a:rPr lang="es-ES" dirty="0">
                <a:hlinkClick r:id="rId4"/>
              </a:rPr>
              <a:t>/</a:t>
            </a:r>
            <a:endParaRPr lang="es-ES" dirty="0"/>
          </a:p>
          <a:p>
            <a:pPr>
              <a:lnSpc>
                <a:spcPct val="140000"/>
              </a:lnSpc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7846153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FB2B51-DCE5-FF4A-AE24-D515E37E97E0}" type="slidenum">
              <a:rPr lang="en-GB"/>
              <a:pPr/>
              <a:t>53</a:t>
            </a:fld>
            <a:endParaRPr lang="en-GB"/>
          </a:p>
        </p:txBody>
      </p:sp>
      <p:pic>
        <p:nvPicPr>
          <p:cNvPr id="451595" name="Picture 6" descr="D:\downloads\DropBox\My Dropbox\Logo KEML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1516063"/>
            <a:ext cx="7058025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691680" y="4221088"/>
            <a:ext cx="6369050" cy="1743075"/>
          </a:xfrm>
          <a:prstGeom prst="rect">
            <a:avLst/>
          </a:prstGeom>
        </p:spPr>
        <p:txBody>
          <a:bodyPr/>
          <a:lstStyle>
            <a:lvl1pPr marL="342900" indent="-342900" algn="l" defTabSz="7620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90033"/>
              </a:buClr>
              <a:buSzPct val="75000"/>
              <a:buFont typeface="Wingdings" charset="0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99"/>
              </a:buClr>
              <a:buSzPct val="65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2pPr>
            <a:lvl3pPr marL="1143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Monotype Sorts" charset="0"/>
              <a:buChar char="u"/>
              <a:defRPr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3pPr>
            <a:lvl4pPr marL="1600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0066"/>
              </a:buClr>
              <a:buSzPct val="60000"/>
              <a:buFont typeface="Monotype Sorts" charset="0"/>
              <a:buChar char="t"/>
              <a:defRPr sz="16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4pPr>
            <a:lvl5pPr marL="20574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5pPr>
            <a:lvl6pPr marL="25146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6pPr>
            <a:lvl7pPr marL="29718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7pPr>
            <a:lvl8pPr marL="34290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8pPr>
            <a:lvl9pPr marL="3886200" indent="-228600" algn="l" defTabSz="7620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60000"/>
              <a:buChar char="–"/>
              <a:defRPr sz="1400">
                <a:solidFill>
                  <a:schemeClr val="tx1"/>
                </a:solidFill>
                <a:latin typeface="+mn-lt"/>
                <a:ea typeface="Tahoma" charset="0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_tradnl" sz="2000" dirty="0"/>
              <a:t>Ulises Cortés, Luis Oliva Felipe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{</a:t>
            </a:r>
            <a:r>
              <a:rPr lang="es-ES" sz="1600" dirty="0" err="1"/>
              <a:t>ia,loliva</a:t>
            </a:r>
            <a:r>
              <a:rPr lang="es-ES" sz="1600" dirty="0"/>
              <a:t>}@</a:t>
            </a:r>
            <a:r>
              <a:rPr lang="es-ES" sz="1600" dirty="0" err="1"/>
              <a:t>lsi.upc.edu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http://</a:t>
            </a:r>
            <a:r>
              <a:rPr lang="es-ES" sz="1600" dirty="0" err="1"/>
              <a:t>www.lsi.upc.edu</a:t>
            </a:r>
            <a:r>
              <a:rPr lang="es-ES" sz="1600" dirty="0"/>
              <a:t>/</a:t>
            </a:r>
            <a:r>
              <a:rPr lang="es-ES_tradnl" sz="1400" b="1" noProof="1"/>
              <a:t>{ia,loliva}</a:t>
            </a:r>
            <a:endParaRPr lang="es-ES" sz="16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s-ES" sz="1600" dirty="0"/>
              <a:t>2017</a:t>
            </a:r>
            <a:endParaRPr lang="es-ES_tradnl" sz="1600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KEMLg">
  <a:themeElements>
    <a:clrScheme name="KEMLg 8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0000FF"/>
      </a:hlink>
      <a:folHlink>
        <a:srgbClr val="CECECE"/>
      </a:folHlink>
    </a:clrScheme>
    <a:fontScheme name="KEMLg">
      <a:majorFont>
        <a:latin typeface="Tahoma"/>
        <a:ea typeface="ＭＳ Ｐゴシック"/>
        <a:cs typeface="Tahoma"/>
      </a:majorFont>
      <a:minorFont>
        <a:latin typeface="Tahoma"/>
        <a:ea typeface="ＭＳ Ｐゴシック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99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KEML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EML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EMLg 8">
        <a:dk1>
          <a:srgbClr val="000000"/>
        </a:dk1>
        <a:lt1>
          <a:srgbClr val="FFFFFF"/>
        </a:lt1>
        <a:dk2>
          <a:srgbClr val="000000"/>
        </a:dk2>
        <a:lt2>
          <a:srgbClr val="919191"/>
        </a:lt2>
        <a:accent1>
          <a:srgbClr val="618FFD"/>
        </a:accent1>
        <a:accent2>
          <a:srgbClr val="00AE00"/>
        </a:accent2>
        <a:accent3>
          <a:srgbClr val="FFFFFF"/>
        </a:accent3>
        <a:accent4>
          <a:srgbClr val="000000"/>
        </a:accent4>
        <a:accent5>
          <a:srgbClr val="B7C6FE"/>
        </a:accent5>
        <a:accent6>
          <a:srgbClr val="009D00"/>
        </a:accent6>
        <a:hlink>
          <a:srgbClr val="0000FF"/>
        </a:hlink>
        <a:folHlink>
          <a:srgbClr val="CECE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10618</TotalTime>
  <Pages>63</Pages>
  <Words>2227</Words>
  <Application>Microsoft Macintosh PowerPoint</Application>
  <PresentationFormat>On-screen Show (4:3)</PresentationFormat>
  <Paragraphs>395</Paragraphs>
  <Slides>53</Slides>
  <Notes>47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ＭＳ Ｐゴシック</vt:lpstr>
      <vt:lpstr>Arial</vt:lpstr>
      <vt:lpstr>Comic Sans MS</vt:lpstr>
      <vt:lpstr>Monotype Sorts</vt:lpstr>
      <vt:lpstr>Tahoma</vt:lpstr>
      <vt:lpstr>Times New Roman</vt:lpstr>
      <vt:lpstr>Wingdings</vt:lpstr>
      <vt:lpstr>KEMLg</vt:lpstr>
      <vt:lpstr>Image</vt:lpstr>
      <vt:lpstr>Ontologías, Protégé y OWL</vt:lpstr>
      <vt:lpstr>Índice</vt:lpstr>
      <vt:lpstr>Indice I</vt:lpstr>
      <vt:lpstr>Indice II</vt:lpstr>
      <vt:lpstr>Teoría básica sobre Ontologías </vt:lpstr>
      <vt:lpstr>Filosofía (Aristóteles y Platón)</vt:lpstr>
      <vt:lpstr>Preguntas clave</vt:lpstr>
      <vt:lpstr>Transducción</vt:lpstr>
      <vt:lpstr>Lenguaje</vt:lpstr>
      <vt:lpstr>Niveles ontológicos</vt:lpstr>
      <vt:lpstr>Grado de usabilidad</vt:lpstr>
      <vt:lpstr>Informática</vt:lpstr>
      <vt:lpstr>Funcionalidad</vt:lpstr>
      <vt:lpstr>Base tecnológica</vt:lpstr>
      <vt:lpstr>Base tecnológica</vt:lpstr>
      <vt:lpstr>Relacionados</vt:lpstr>
      <vt:lpstr>Ontology Web Language (OWL)</vt:lpstr>
      <vt:lpstr>OWL es como una patata frita</vt:lpstr>
      <vt:lpstr>OWL Lite</vt:lpstr>
      <vt:lpstr>OWL DL</vt:lpstr>
      <vt:lpstr>Ciclo de desarrollo de una Ontología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Tipos de clases: Equivalente</vt:lpstr>
      <vt:lpstr>Tipos de clases: Primitiva</vt:lpstr>
      <vt:lpstr>PowerPoint Presentation</vt:lpstr>
      <vt:lpstr>PowerPoint Presentation</vt:lpstr>
      <vt:lpstr>PowerPoint Presentation</vt:lpstr>
      <vt:lpstr>PowerPoint Presentation</vt:lpstr>
      <vt:lpstr>Restricciones</vt:lpstr>
      <vt:lpstr>Restricciones: Quantifier restrictions</vt:lpstr>
      <vt:lpstr>Restricciones: Cardinality restrictions</vt:lpstr>
      <vt:lpstr>Restricciones: por valor</vt:lpstr>
      <vt:lpstr>Restricciones: operaciones conjuntos</vt:lpstr>
      <vt:lpstr>Propiedades</vt:lpstr>
      <vt:lpstr>Propiedades</vt:lpstr>
      <vt:lpstr>Propiedades</vt:lpstr>
      <vt:lpstr>Propiedades</vt:lpstr>
      <vt:lpstr>PowerPoint Presentation</vt:lpstr>
      <vt:lpstr>Propiedades</vt:lpstr>
      <vt:lpstr>Propiedades</vt:lpstr>
      <vt:lpstr>Protégé</vt:lpstr>
      <vt:lpstr>Protégé</vt:lpstr>
      <vt:lpstr>Protégé</vt:lpstr>
      <vt:lpstr>Protégé</vt:lpstr>
      <vt:lpstr>Referencias</vt:lpstr>
      <vt:lpstr>Referencias</vt:lpstr>
      <vt:lpstr>Referencias</vt:lpstr>
      <vt:lpstr>PowerPoint Presentation</vt:lpstr>
    </vt:vector>
  </TitlesOfParts>
  <Company>KEMLG-UPC</Company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título de diapositiva</dc:title>
  <dc:subject>Curs-Doctorat- SISPD</dc:subject>
  <dc:creator>Miquel Sànchez i Marrè</dc:creator>
  <dc:description>2003</dc:description>
  <cp:lastModifiedBy>Luis Oliva-Felipe</cp:lastModifiedBy>
  <cp:revision>420</cp:revision>
  <cp:lastPrinted>2003-07-21T14:29:41Z</cp:lastPrinted>
  <dcterms:created xsi:type="dcterms:W3CDTF">2002-03-05T14:15:09Z</dcterms:created>
  <dcterms:modified xsi:type="dcterms:W3CDTF">2018-03-07T21:42:56Z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2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C:\temp\pre</vt:lpwstr>
  </property>
</Properties>
</file>