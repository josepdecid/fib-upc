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480" r:id="rId2"/>
    <p:sldId id="842" r:id="rId3"/>
    <p:sldId id="843" r:id="rId4"/>
    <p:sldId id="844" r:id="rId5"/>
    <p:sldId id="845" r:id="rId6"/>
    <p:sldId id="846" r:id="rId7"/>
    <p:sldId id="847" r:id="rId8"/>
    <p:sldId id="841" r:id="rId9"/>
    <p:sldId id="849" r:id="rId10"/>
    <p:sldId id="850" r:id="rId11"/>
    <p:sldId id="851" r:id="rId12"/>
    <p:sldId id="852" r:id="rId13"/>
    <p:sldId id="853" r:id="rId14"/>
    <p:sldId id="854" r:id="rId15"/>
    <p:sldId id="855" r:id="rId16"/>
    <p:sldId id="856" r:id="rId17"/>
    <p:sldId id="857" r:id="rId18"/>
    <p:sldId id="434" r:id="rId19"/>
  </p:sldIdLst>
  <p:sldSz cx="9144000" cy="6858000" type="screen4x3"/>
  <p:notesSz cx="7099300" cy="102346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0033CC"/>
    <a:srgbClr val="FF9966"/>
    <a:srgbClr val="3366CC"/>
    <a:srgbClr val="0066CC"/>
    <a:srgbClr val="33CCFF"/>
    <a:srgbClr val="66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96" autoAdjust="0"/>
    <p:restoredTop sz="86464" autoAdjust="0"/>
  </p:normalViewPr>
  <p:slideViewPr>
    <p:cSldViewPr>
      <p:cViewPr varScale="1">
        <p:scale>
          <a:sx n="108" d="100"/>
          <a:sy n="108" d="100"/>
        </p:scale>
        <p:origin x="1208" y="192"/>
      </p:cViewPr>
      <p:guideLst>
        <p:guide orient="horz" pos="2160"/>
        <p:guide pos="1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4024" y="21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0523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9325" y="4892675"/>
            <a:ext cx="5200650" cy="42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663" tIns="44536" rIns="90663" bIns="445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editar el estilo del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898525"/>
            <a:ext cx="4767263" cy="3575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018583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>
            <a:extLst>
              <a:ext uri="{FF2B5EF4-FFF2-40B4-BE49-F238E27FC236}">
                <a16:creationId xmlns:a16="http://schemas.microsoft.com/office/drawing/2014/main" id="{A642D238-808E-2B45-8A5B-6E41734D876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06" tIns="47453" rIns="94906" bIns="47453"/>
          <a:lstStyle/>
          <a:p>
            <a:fld id="{ADE2259E-3F9C-124E-BF40-66C2D7E5A649}" type="slidenum">
              <a:rPr lang="en-US" altLang="es-ES"/>
              <a:pPr/>
              <a:t>4</a:t>
            </a:fld>
            <a:endParaRPr lang="en-US" altLang="es-ES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58618EB0-7F1C-C740-A527-A01B099B0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1597A159-D8BB-6445-8547-E9EA4CED7F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377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>
            <a:extLst>
              <a:ext uri="{FF2B5EF4-FFF2-40B4-BE49-F238E27FC236}">
                <a16:creationId xmlns:a16="http://schemas.microsoft.com/office/drawing/2014/main" id="{AE664AD8-215B-F945-8F3F-3346EE83791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06" tIns="47453" rIns="94906" bIns="47453"/>
          <a:lstStyle/>
          <a:p>
            <a:fld id="{10BF8A99-CA63-5E44-88C3-1C9FA8E80CA0}" type="slidenum">
              <a:rPr lang="en-US" altLang="es-ES"/>
              <a:pPr/>
              <a:t>5</a:t>
            </a:fld>
            <a:endParaRPr lang="en-US" altLang="es-E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EAFABAEC-760F-CE4B-971F-16C13C95BF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BDCC859-38A3-0844-8B7D-122FC52A0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25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>
            <a:extLst>
              <a:ext uri="{FF2B5EF4-FFF2-40B4-BE49-F238E27FC236}">
                <a16:creationId xmlns:a16="http://schemas.microsoft.com/office/drawing/2014/main" id="{095EF77B-0A72-6C43-9498-5FBAD15A3BF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06" tIns="47453" rIns="94906" bIns="47453"/>
          <a:lstStyle/>
          <a:p>
            <a:fld id="{C983A448-CB2A-124B-8FC2-26891E319080}" type="slidenum">
              <a:rPr lang="en-US" altLang="es-ES"/>
              <a:pPr/>
              <a:t>6</a:t>
            </a:fld>
            <a:endParaRPr lang="en-US" altLang="es-ES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F57DE2E0-AA4D-894A-92DF-E4C236C9C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0929B4D-7F0C-C74A-B9F4-850D45853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535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>
            <a:extLst>
              <a:ext uri="{FF2B5EF4-FFF2-40B4-BE49-F238E27FC236}">
                <a16:creationId xmlns:a16="http://schemas.microsoft.com/office/drawing/2014/main" id="{58B24E88-C3E9-FA44-AC53-D03426F5297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06" tIns="47453" rIns="94906" bIns="47453"/>
          <a:lstStyle/>
          <a:p>
            <a:fld id="{7EC9F2FD-5454-0547-8A9C-932321E8576B}" type="slidenum">
              <a:rPr lang="en-US" altLang="es-ES"/>
              <a:pPr/>
              <a:t>7</a:t>
            </a:fld>
            <a:endParaRPr lang="en-US" altLang="es-E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95F7C7B-723B-C747-940A-C305E31C18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AD609C1-C904-3B42-9C77-1438155D0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760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ext Box 1">
            <a:extLst>
              <a:ext uri="{FF2B5EF4-FFF2-40B4-BE49-F238E27FC236}">
                <a16:creationId xmlns:a16="http://schemas.microsoft.com/office/drawing/2014/main" id="{E0EF27FB-7972-434C-9782-6C3C1C88920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6738" name="Text Box 2">
            <a:extLst>
              <a:ext uri="{FF2B5EF4-FFF2-40B4-BE49-F238E27FC236}">
                <a16:creationId xmlns:a16="http://schemas.microsoft.com/office/drawing/2014/main" id="{65B73C6B-019D-E844-A74C-5BA8388A5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52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ext Box 1">
            <a:extLst>
              <a:ext uri="{FF2B5EF4-FFF2-40B4-BE49-F238E27FC236}">
                <a16:creationId xmlns:a16="http://schemas.microsoft.com/office/drawing/2014/main" id="{FA831D39-9539-2D4A-B877-21EC98BF657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7762" name="Text Box 2">
            <a:extLst>
              <a:ext uri="{FF2B5EF4-FFF2-40B4-BE49-F238E27FC236}">
                <a16:creationId xmlns:a16="http://schemas.microsoft.com/office/drawing/2014/main" id="{94461428-A47B-2D4E-BDF6-0F4B34DCD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433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ext Box 1">
            <a:extLst>
              <a:ext uri="{FF2B5EF4-FFF2-40B4-BE49-F238E27FC236}">
                <a16:creationId xmlns:a16="http://schemas.microsoft.com/office/drawing/2014/main" id="{98326496-3618-CE4A-8B47-FF2514F4C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1E099626-7609-E245-A5FA-E870A3E79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324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ext Box 1">
            <a:extLst>
              <a:ext uri="{FF2B5EF4-FFF2-40B4-BE49-F238E27FC236}">
                <a16:creationId xmlns:a16="http://schemas.microsoft.com/office/drawing/2014/main" id="{98326496-3618-CE4A-8B47-FF2514F4C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1E099626-7609-E245-A5FA-E870A3E79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ext Box 1">
            <a:extLst>
              <a:ext uri="{FF2B5EF4-FFF2-40B4-BE49-F238E27FC236}">
                <a16:creationId xmlns:a16="http://schemas.microsoft.com/office/drawing/2014/main" id="{98326496-3618-CE4A-8B47-FF2514F4C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1E099626-7609-E245-A5FA-E870A3E79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048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ext Box 1">
            <a:extLst>
              <a:ext uri="{FF2B5EF4-FFF2-40B4-BE49-F238E27FC236}">
                <a16:creationId xmlns:a16="http://schemas.microsoft.com/office/drawing/2014/main" id="{98326496-3618-CE4A-8B47-FF2514F4C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1E099626-7609-E245-A5FA-E870A3E79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271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ext Box 1">
            <a:extLst>
              <a:ext uri="{FF2B5EF4-FFF2-40B4-BE49-F238E27FC236}">
                <a16:creationId xmlns:a16="http://schemas.microsoft.com/office/drawing/2014/main" id="{98326496-3618-CE4A-8B47-FF2514F4C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1E099626-7609-E245-A5FA-E870A3E79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533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ext Box 1">
            <a:extLst>
              <a:ext uri="{FF2B5EF4-FFF2-40B4-BE49-F238E27FC236}">
                <a16:creationId xmlns:a16="http://schemas.microsoft.com/office/drawing/2014/main" id="{98326496-3618-CE4A-8B47-FF2514F4C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1E099626-7609-E245-A5FA-E870A3E79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26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ext Box 1">
            <a:extLst>
              <a:ext uri="{FF2B5EF4-FFF2-40B4-BE49-F238E27FC236}">
                <a16:creationId xmlns:a16="http://schemas.microsoft.com/office/drawing/2014/main" id="{98326496-3618-CE4A-8B47-FF2514F4C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63638" y="898525"/>
            <a:ext cx="4768850" cy="3576638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1E099626-7609-E245-A5FA-E870A3E79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94263"/>
            <a:ext cx="5202237" cy="426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s-E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229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05251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Haga clic para modificar el estilo de título del patrón</a:t>
            </a:r>
          </a:p>
        </p:txBody>
      </p:sp>
      <p:sp>
        <p:nvSpPr>
          <p:cNvPr id="363523" name="Rectangle 307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65400"/>
            <a:ext cx="6400800" cy="1008063"/>
          </a:xfrm>
        </p:spPr>
        <p:txBody>
          <a:bodyPr/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en-GB" noProof="0"/>
              <a:t>Haga clic para modificar el estilo de subtítulo del patrón</a:t>
            </a:r>
          </a:p>
        </p:txBody>
      </p:sp>
      <p:sp>
        <p:nvSpPr>
          <p:cNvPr id="363531" name="Text Box 3083"/>
          <p:cNvSpPr txBox="1">
            <a:spLocks noChangeArrowheads="1"/>
          </p:cNvSpPr>
          <p:nvPr/>
        </p:nvSpPr>
        <p:spPr bwMode="auto">
          <a:xfrm>
            <a:off x="3559175" y="5356225"/>
            <a:ext cx="2093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s-ES_tradnl" sz="1400" b="1">
                <a:solidFill>
                  <a:srgbClr val="3366CC"/>
                </a:solidFill>
                <a:latin typeface="Arial" charset="0"/>
              </a:rPr>
              <a:t>https://kemlg.upc.edu</a:t>
            </a:r>
            <a:endParaRPr lang="es-ES_tradnl" sz="1600" b="1">
              <a:solidFill>
                <a:srgbClr val="3366CC"/>
              </a:solidFill>
              <a:latin typeface="Arial" charset="0"/>
            </a:endParaRPr>
          </a:p>
        </p:txBody>
      </p:sp>
      <p:sp>
        <p:nvSpPr>
          <p:cNvPr id="363533" name="Rectangle 3085"/>
          <p:cNvSpPr>
            <a:spLocks noChangeArrowheads="1"/>
          </p:cNvSpPr>
          <p:nvPr/>
        </p:nvSpPr>
        <p:spPr bwMode="auto">
          <a:xfrm>
            <a:off x="7620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63534" name="Rectangle 3086"/>
          <p:cNvSpPr>
            <a:spLocks noChangeArrowheads="1"/>
          </p:cNvSpPr>
          <p:nvPr/>
        </p:nvSpPr>
        <p:spPr bwMode="auto">
          <a:xfrm>
            <a:off x="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pic>
        <p:nvPicPr>
          <p:cNvPr id="363541" name="Picture 62" descr="foto_recerc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5767388"/>
            <a:ext cx="559435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2" name="Picture 6" descr="D:\downloads\DropBox\My Dropbox\Logo KEMLG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721350"/>
            <a:ext cx="25590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3" name="Picture 14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681788"/>
            <a:ext cx="302418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A92189-4A1C-DB4D-A308-1760EA4C79C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25175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ECFFE-D909-A54B-9E36-5B28267DFB3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9409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8006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42978C-4137-6443-84BD-CC58B3416CB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75704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24B2D1-D158-C646-9C0A-320FB65A053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921123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912407-5BEB-3D40-9ED7-C51081FCAFF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7117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AD81EF-3F60-AD43-9869-74A8F6B660A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969197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AC0E16-C757-0749-992C-A745A5993F6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44622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BB4CC3-83DB-714A-B00C-6C1FE5864B1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12652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E8638C-4D79-2747-9836-D4232E9E59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111610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10350" y="704850"/>
            <a:ext cx="1924050" cy="569595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04850"/>
            <a:ext cx="5619750" cy="569595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CEDAE4-4E43-CE46-A499-A3AFECB12B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61754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4" name="Object 60"/>
          <p:cNvGraphicFramePr>
            <a:graphicFrameLocks noChangeAspect="1"/>
          </p:cNvGraphicFramePr>
          <p:nvPr/>
        </p:nvGraphicFramePr>
        <p:xfrm>
          <a:off x="4648200" y="4017963"/>
          <a:ext cx="4471988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" name="Image" r:id="rId14" imgW="2926464" imgH="1830962" progId="Photoshop.Image.7">
                  <p:embed/>
                </p:oleObj>
              </mc:Choice>
              <mc:Fallback>
                <p:oleObj name="Image" r:id="rId14" imgW="2926464" imgH="1830962" progId="Photoshop.Image.7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54000" contrast="-6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1072" b="9831"/>
                      <a:stretch>
                        <a:fillRect/>
                      </a:stretch>
                    </p:blipFill>
                    <p:spPr bwMode="auto">
                      <a:xfrm>
                        <a:off x="4648200" y="4017963"/>
                        <a:ext cx="4471988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04850"/>
            <a:ext cx="769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Títol de la diapositiva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7620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estil del text del patró a primer nivell</a:t>
            </a:r>
          </a:p>
          <a:p>
            <a:pPr lvl="1"/>
            <a:r>
              <a:rPr lang="es-ES_tradnl"/>
              <a:t>segon nivell</a:t>
            </a:r>
          </a:p>
          <a:p>
            <a:pPr lvl="2"/>
            <a:r>
              <a:rPr lang="es-ES_tradnl"/>
              <a:t>tercer nivell</a:t>
            </a:r>
          </a:p>
          <a:p>
            <a:pPr lvl="3"/>
            <a:r>
              <a:rPr lang="es-ES_tradnl"/>
              <a:t>quart nivell</a:t>
            </a:r>
          </a:p>
          <a:p>
            <a:pPr lvl="4"/>
            <a:r>
              <a:rPr lang="es-ES_tradnl"/>
              <a:t>cinque nivell</a:t>
            </a:r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1513" y="6529388"/>
            <a:ext cx="823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>
                <a:latin typeface="+mn-lt"/>
              </a:defRPr>
            </a:lvl1pPr>
          </a:lstStyle>
          <a:p>
            <a:fld id="{CB1D7B28-07DB-7846-8CC9-84E067EB0A94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81" name="Rectangle 57"/>
          <p:cNvSpPr>
            <a:spLocks noChangeArrowheads="1"/>
          </p:cNvSpPr>
          <p:nvPr/>
        </p:nvSpPr>
        <p:spPr bwMode="auto">
          <a:xfrm>
            <a:off x="7620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82" name="Rectangle 58"/>
          <p:cNvSpPr>
            <a:spLocks noChangeArrowheads="1"/>
          </p:cNvSpPr>
          <p:nvPr/>
        </p:nvSpPr>
        <p:spPr bwMode="auto">
          <a:xfrm>
            <a:off x="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pic>
        <p:nvPicPr>
          <p:cNvPr id="1089" name="Picture 62" descr="foto_recerc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0"/>
            <a:ext cx="25908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0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38" y="0"/>
            <a:ext cx="11874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1" name="Picture 14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419100"/>
            <a:ext cx="1296987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dt="0"/>
  <p:txStyles>
    <p:titleStyle>
      <a:lvl1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2pPr>
      <a:lvl3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3pPr>
      <a:lvl4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4pPr>
      <a:lvl5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5pPr>
      <a:lvl6pPr marL="4572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6pPr>
      <a:lvl7pPr marL="9144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7pPr>
      <a:lvl8pPr marL="13716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8pPr>
      <a:lvl9pPr marL="18288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9pPr>
    </p:titleStyle>
    <p:bodyStyle>
      <a:lvl1pPr marL="342900" indent="-342900" algn="l" defTabSz="762000" rtl="0" eaLnBrk="0" fontAlgn="base" hangingPunct="0">
        <a:spcBef>
          <a:spcPct val="30000"/>
        </a:spcBef>
        <a:spcAft>
          <a:spcPct val="0"/>
        </a:spcAft>
        <a:buClr>
          <a:srgbClr val="990033"/>
        </a:buClr>
        <a:buSzPct val="75000"/>
        <a:buFont typeface="Wingdings" charset="0"/>
        <a:buChar char="l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0" fontAlgn="base" hangingPunct="0">
        <a:spcBef>
          <a:spcPct val="20000"/>
        </a:spcBef>
        <a:spcAft>
          <a:spcPct val="0"/>
        </a:spcAft>
        <a:buClr>
          <a:srgbClr val="006699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Tahoma" charset="0"/>
          <a:cs typeface="+mn-cs"/>
        </a:defRPr>
      </a:lvl2pPr>
      <a:lvl3pPr marL="1143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60000"/>
        <a:buFont typeface="Monotype Sorts" charset="0"/>
        <a:buChar char="u"/>
        <a:defRPr>
          <a:solidFill>
            <a:schemeClr val="tx1"/>
          </a:solidFill>
          <a:latin typeface="+mn-lt"/>
          <a:ea typeface="Tahoma" charset="0"/>
          <a:cs typeface="+mn-cs"/>
        </a:defRPr>
      </a:lvl3pPr>
      <a:lvl4pPr marL="1600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660066"/>
        </a:buClr>
        <a:buSzPct val="60000"/>
        <a:buFont typeface="Monotype Sorts" charset="0"/>
        <a:buChar char="t"/>
        <a:defRPr sz="1600">
          <a:solidFill>
            <a:schemeClr val="tx1"/>
          </a:solidFill>
          <a:latin typeface="+mn-lt"/>
          <a:ea typeface="Tahoma" charset="0"/>
          <a:cs typeface="+mn-cs"/>
        </a:defRPr>
      </a:lvl4pPr>
      <a:lvl5pPr marL="20574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5pPr>
      <a:lvl6pPr marL="25146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6pPr>
      <a:lvl7pPr marL="29718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7pPr>
      <a:lvl8pPr marL="3429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8pPr>
      <a:lvl9pPr marL="3886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33375"/>
            <a:ext cx="7847013" cy="2016125"/>
          </a:xfrm>
        </p:spPr>
        <p:txBody>
          <a:bodyPr/>
          <a:lstStyle/>
          <a:p>
            <a:pPr algn="ctr"/>
            <a:r>
              <a:rPr lang="es-ES" sz="4000" b="1" dirty="0"/>
              <a:t>Diseño de ontologías y </a:t>
            </a:r>
            <a:r>
              <a:rPr lang="en-GB" sz="4000" b="1" dirty="0"/>
              <a:t>Protégé </a:t>
            </a:r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17625" y="2909888"/>
            <a:ext cx="6369050" cy="1743075"/>
          </a:xfrm>
        </p:spPr>
        <p:txBody>
          <a:bodyPr/>
          <a:lstStyle/>
          <a:p>
            <a:r>
              <a:rPr lang="es-ES_tradnl" sz="2000" dirty="0"/>
              <a:t>Ulises Cortés, Luis Oliva Felipe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{</a:t>
            </a:r>
            <a:r>
              <a:rPr lang="es-ES" sz="1600" err="1"/>
              <a:t>ia</a:t>
            </a:r>
            <a:r>
              <a:rPr lang="es-ES" sz="1600"/>
              <a:t>,loliva</a:t>
            </a:r>
            <a:r>
              <a:rPr lang="es-ES" sz="1600" dirty="0"/>
              <a:t>}@cs.upc.edu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http://www.cs.upc.edu/~</a:t>
            </a:r>
            <a:r>
              <a:rPr lang="es-ES_tradnl" sz="1400" b="1" noProof="1"/>
              <a:t>{ia, loliva}</a:t>
            </a:r>
            <a:endParaRPr lang="es-ES" sz="1600" dirty="0"/>
          </a:p>
          <a:p>
            <a:pPr>
              <a:lnSpc>
                <a:spcPct val="160000"/>
              </a:lnSpc>
            </a:pPr>
            <a:r>
              <a:rPr lang="en-GB" sz="1600" dirty="0">
                <a:solidFill>
                  <a:srgbClr val="000000"/>
                </a:solidFill>
              </a:rPr>
              <a:t>SID2017</a:t>
            </a:r>
            <a:endParaRPr lang="es-ES_tradnl" sz="1600" dirty="0"/>
          </a:p>
        </p:txBody>
      </p:sp>
      <p:sp>
        <p:nvSpPr>
          <p:cNvPr id="520196" name="Rectangle 4"/>
          <p:cNvSpPr>
            <a:spLocks noChangeArrowheads="1"/>
          </p:cNvSpPr>
          <p:nvPr/>
        </p:nvSpPr>
        <p:spPr bwMode="auto">
          <a:xfrm>
            <a:off x="0" y="2133600"/>
            <a:ext cx="7848600" cy="16827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A50F-26ED-334D-9507-41DEF027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Principios de desarrollo de una ontología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8BE00-7156-2B47-82C8-504D5E4B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Claridad y Objetividad</a:t>
            </a:r>
          </a:p>
          <a:p>
            <a:pPr lvl="1"/>
            <a:r>
              <a:rPr lang="es-ES" dirty="0"/>
              <a:t>Una ontología debería dar al usuario el significado de términos de una manera objetiva en un lenguaje adecuado</a:t>
            </a:r>
          </a:p>
          <a:p>
            <a:r>
              <a:rPr lang="es-ES" dirty="0"/>
              <a:t>Completitud</a:t>
            </a:r>
          </a:p>
          <a:p>
            <a:pPr lvl="1"/>
            <a:r>
              <a:rPr lang="es-ES" dirty="0"/>
              <a:t>Las definiciones han de expresarse en términos de condiciones necesarias y suficientes</a:t>
            </a:r>
          </a:p>
          <a:p>
            <a:r>
              <a:rPr lang="es-ES" dirty="0"/>
              <a:t>Consistencia</a:t>
            </a:r>
          </a:p>
          <a:p>
            <a:pPr lvl="1"/>
            <a:r>
              <a:rPr lang="es-ES" dirty="0"/>
              <a:t>Hay que asegurarse de que las inferencias sean consistentes con las definiciones</a:t>
            </a:r>
          </a:p>
          <a:p>
            <a:r>
              <a:rPr lang="es-ES" dirty="0"/>
              <a:t>Principio de distinción ontológica</a:t>
            </a:r>
          </a:p>
          <a:p>
            <a:pPr lvl="1"/>
            <a:r>
              <a:rPr lang="es-ES" dirty="0"/>
              <a:t>Las clases en una ontología deben ser disjuntas (donde proceda)</a:t>
            </a:r>
          </a:p>
          <a:p>
            <a:pPr marL="457200" lvl="1" indent="0">
              <a:buNone/>
            </a:pP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52892-6C10-A04F-82FC-9EEFCDA755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244485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A50F-26ED-334D-9507-41DEF027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Principios de desarrollo de una ontología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8BE00-7156-2B47-82C8-504D5E4B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Diversificación</a:t>
            </a:r>
          </a:p>
          <a:p>
            <a:pPr lvl="1"/>
            <a:r>
              <a:rPr lang="es-ES" dirty="0"/>
              <a:t>Diversificación de las jerarquías para incrementar la capacidad de los mecanismos de herencia múltiple</a:t>
            </a:r>
          </a:p>
          <a:p>
            <a:r>
              <a:rPr lang="es-ES" dirty="0"/>
              <a:t>Modularidad</a:t>
            </a:r>
          </a:p>
          <a:p>
            <a:pPr lvl="1"/>
            <a:r>
              <a:rPr lang="es-ES" dirty="0"/>
              <a:t>Para reducir el acoplamiento</a:t>
            </a:r>
          </a:p>
          <a:p>
            <a:r>
              <a:rPr lang="es-ES" dirty="0"/>
              <a:t>Estandarización de nombres</a:t>
            </a:r>
          </a:p>
          <a:p>
            <a:pPr lvl="1"/>
            <a:r>
              <a:rPr lang="es-ES" dirty="0"/>
              <a:t>Consistencia en la forma de nombrar clases, relaciones e individuos</a:t>
            </a:r>
          </a:p>
          <a:p>
            <a:r>
              <a:rPr lang="es-ES" dirty="0"/>
              <a:t>Minimizar la distancia semántica</a:t>
            </a:r>
          </a:p>
          <a:p>
            <a:pPr lvl="1"/>
            <a:r>
              <a:rPr lang="es-ES" dirty="0"/>
              <a:t>Términos relacionados deberían estar próximos, agrupados y/o representados utilizando las mismas primitivas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52892-6C10-A04F-82FC-9EEFCDA755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23930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8BB8940-1892-0A46-BD4F-E44DBED35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r>
              <a:rPr lang="en-GB" dirty="0" err="1"/>
              <a:t>Tamaño</a:t>
            </a:r>
            <a:r>
              <a:rPr lang="en-GB" dirty="0"/>
              <a:t> y </a:t>
            </a:r>
            <a:r>
              <a:rPr lang="en-GB" dirty="0" err="1"/>
              <a:t>alcance</a:t>
            </a:r>
            <a:r>
              <a:rPr lang="en-GB" dirty="0"/>
              <a:t> de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ontolog</a:t>
            </a:r>
            <a:r>
              <a:rPr lang="es-ES" dirty="0" err="1"/>
              <a:t>ía</a:t>
            </a:r>
            <a:endParaRPr lang="en-GB" dirty="0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B0D494F-9494-9F45-AD36-11E6AF2CB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484313"/>
            <a:ext cx="7388225" cy="4824412"/>
          </a:xfrm>
        </p:spPr>
        <p:txBody>
          <a:bodyPr/>
          <a:lstStyle/>
          <a:p>
            <a:pPr>
              <a:buFont typeface="Arial"/>
              <a:buChar char="•"/>
              <a:defRPr/>
            </a:pPr>
            <a:r>
              <a:rPr lang="en-GB" dirty="0"/>
              <a:t>Dos </a:t>
            </a:r>
            <a:r>
              <a:rPr lang="en-GB" dirty="0" err="1"/>
              <a:t>extremos</a:t>
            </a:r>
            <a:r>
              <a:rPr lang="en-GB" dirty="0"/>
              <a:t> (</a:t>
            </a:r>
            <a:r>
              <a:rPr lang="en-GB" dirty="0" err="1"/>
              <a:t>normalmente</a:t>
            </a:r>
            <a:r>
              <a:rPr lang="en-GB" dirty="0"/>
              <a:t> </a:t>
            </a:r>
            <a:r>
              <a:rPr lang="en-GB" dirty="0" err="1"/>
              <a:t>algo</a:t>
            </a:r>
            <a:r>
              <a:rPr lang="en-GB" dirty="0"/>
              <a:t> a </a:t>
            </a:r>
            <a:r>
              <a:rPr lang="en-GB" dirty="0" err="1"/>
              <a:t>medio</a:t>
            </a:r>
            <a:r>
              <a:rPr lang="en-GB" dirty="0"/>
              <a:t> </a:t>
            </a:r>
            <a:r>
              <a:rPr lang="en-GB" dirty="0" err="1"/>
              <a:t>camino</a:t>
            </a:r>
            <a:r>
              <a:rPr lang="en-GB" dirty="0"/>
              <a:t>):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Una </a:t>
            </a:r>
            <a:r>
              <a:rPr lang="en-GB" dirty="0" err="1"/>
              <a:t>ontolog</a:t>
            </a:r>
            <a:r>
              <a:rPr lang="es-ES" dirty="0" err="1"/>
              <a:t>ía</a:t>
            </a:r>
            <a:r>
              <a:rPr lang="es-ES" dirty="0"/>
              <a:t> enorme</a:t>
            </a:r>
            <a:r>
              <a:rPr lang="en-GB" dirty="0"/>
              <a:t>       que </a:t>
            </a:r>
            <a:r>
              <a:rPr lang="en-GB" dirty="0" err="1"/>
              <a:t>captura</a:t>
            </a:r>
            <a:r>
              <a:rPr lang="en-GB" dirty="0"/>
              <a:t> </a:t>
            </a:r>
            <a:r>
              <a:rPr lang="en-GB" i="1" dirty="0" err="1">
                <a:solidFill>
                  <a:srgbClr val="000090"/>
                </a:solidFill>
              </a:rPr>
              <a:t>todo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Una </a:t>
            </a:r>
            <a:r>
              <a:rPr lang="en-GB" dirty="0" err="1"/>
              <a:t>ontolog</a:t>
            </a:r>
            <a:r>
              <a:rPr lang="es-ES" dirty="0" err="1"/>
              <a:t>ía</a:t>
            </a:r>
            <a:r>
              <a:rPr lang="es-ES" dirty="0"/>
              <a:t> </a:t>
            </a:r>
            <a:r>
              <a:rPr lang="en-GB" dirty="0"/>
              <a:t>(</a:t>
            </a:r>
            <a:r>
              <a:rPr lang="en-GB" dirty="0" err="1"/>
              <a:t>pequeña</a:t>
            </a:r>
            <a:r>
              <a:rPr lang="en-GB" dirty="0"/>
              <a:t>) para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aplicaci</a:t>
            </a:r>
            <a:r>
              <a:rPr lang="es-ES" dirty="0" err="1"/>
              <a:t>ón</a:t>
            </a:r>
            <a:r>
              <a:rPr lang="es-ES" dirty="0"/>
              <a:t> específica</a:t>
            </a:r>
            <a:endParaRPr lang="en-GB" dirty="0"/>
          </a:p>
        </p:txBody>
      </p:sp>
      <p:sp>
        <p:nvSpPr>
          <p:cNvPr id="40964" name="Oval 4">
            <a:extLst>
              <a:ext uri="{FF2B5EF4-FFF2-40B4-BE49-F238E27FC236}">
                <a16:creationId xmlns:a16="http://schemas.microsoft.com/office/drawing/2014/main" id="{8825A73D-132F-0E43-963C-04C68B168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888" y="4221163"/>
            <a:ext cx="98425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 sz="3000">
                <a:latin typeface="Arial" charset="0"/>
                <a:ea typeface="ＭＳ Ｐゴシック" charset="0"/>
                <a:cs typeface="ＭＳ Ｐゴシック" charset="0"/>
              </a:rPr>
              <a:t>O</a:t>
            </a:r>
            <a:endParaRPr lang="en-GB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28004" name="Group 62">
            <a:extLst>
              <a:ext uri="{FF2B5EF4-FFF2-40B4-BE49-F238E27FC236}">
                <a16:creationId xmlns:a16="http://schemas.microsoft.com/office/drawing/2014/main" id="{72AE3917-AE41-EE44-925D-CC1E5B1358B4}"/>
              </a:ext>
            </a:extLst>
          </p:cNvPr>
          <p:cNvGrpSpPr>
            <a:grpSpLocks/>
          </p:cNvGrpSpPr>
          <p:nvPr/>
        </p:nvGrpSpPr>
        <p:grpSpPr bwMode="auto">
          <a:xfrm>
            <a:off x="1125538" y="3500438"/>
            <a:ext cx="2884487" cy="2590800"/>
            <a:chOff x="768" y="2352"/>
            <a:chExt cx="1968" cy="1632"/>
          </a:xfrm>
        </p:grpSpPr>
        <p:sp>
          <p:nvSpPr>
            <p:cNvPr id="40966" name="Rectangle 6">
              <a:extLst>
                <a:ext uri="{FF2B5EF4-FFF2-40B4-BE49-F238E27FC236}">
                  <a16:creationId xmlns:a16="http://schemas.microsoft.com/office/drawing/2014/main" id="{631A1CD9-5819-874D-BADD-2F5CBB958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600"/>
              <a:ext cx="288" cy="288"/>
            </a:xfrm>
            <a:prstGeom prst="rect">
              <a:avLst/>
            </a:prstGeom>
            <a:solidFill>
              <a:srgbClr val="77EB0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A</a:t>
              </a:r>
              <a:endParaRPr lang="en-GB" sz="3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967" name="Rectangle 7">
              <a:extLst>
                <a:ext uri="{FF2B5EF4-FFF2-40B4-BE49-F238E27FC236}">
                  <a16:creationId xmlns:a16="http://schemas.microsoft.com/office/drawing/2014/main" id="{D0419306-AF0D-3942-8632-214E4E9E6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648"/>
              <a:ext cx="288" cy="288"/>
            </a:xfrm>
            <a:prstGeom prst="rect">
              <a:avLst/>
            </a:prstGeom>
            <a:solidFill>
              <a:srgbClr val="77EB0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A</a:t>
              </a:r>
              <a:endParaRPr lang="en-GB" sz="3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968" name="Rectangle 8">
              <a:extLst>
                <a:ext uri="{FF2B5EF4-FFF2-40B4-BE49-F238E27FC236}">
                  <a16:creationId xmlns:a16="http://schemas.microsoft.com/office/drawing/2014/main" id="{AB869115-0B28-6948-A1CC-93ED4D20E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880"/>
              <a:ext cx="288" cy="288"/>
            </a:xfrm>
            <a:prstGeom prst="rect">
              <a:avLst/>
            </a:prstGeom>
            <a:solidFill>
              <a:srgbClr val="77EB0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A</a:t>
              </a:r>
              <a:endParaRPr lang="en-GB" sz="3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969" name="Rectangle 9">
              <a:extLst>
                <a:ext uri="{FF2B5EF4-FFF2-40B4-BE49-F238E27FC236}">
                  <a16:creationId xmlns:a16="http://schemas.microsoft.com/office/drawing/2014/main" id="{9AEFE69B-CE1E-2C4B-9104-6829C74ED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352"/>
              <a:ext cx="288" cy="288"/>
            </a:xfrm>
            <a:prstGeom prst="rect">
              <a:avLst/>
            </a:prstGeom>
            <a:solidFill>
              <a:srgbClr val="77EB0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A</a:t>
              </a:r>
              <a:endParaRPr lang="en-GB" sz="3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970" name="Rectangle 10">
              <a:extLst>
                <a:ext uri="{FF2B5EF4-FFF2-40B4-BE49-F238E27FC236}">
                  <a16:creationId xmlns:a16="http://schemas.microsoft.com/office/drawing/2014/main" id="{7578C1AA-31B7-554E-9916-CFD2C820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696"/>
              <a:ext cx="288" cy="288"/>
            </a:xfrm>
            <a:prstGeom prst="rect">
              <a:avLst/>
            </a:prstGeom>
            <a:solidFill>
              <a:srgbClr val="77EB0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A</a:t>
              </a:r>
              <a:endParaRPr lang="en-GB" sz="3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971" name="Rectangle 11">
              <a:extLst>
                <a:ext uri="{FF2B5EF4-FFF2-40B4-BE49-F238E27FC236}">
                  <a16:creationId xmlns:a16="http://schemas.microsoft.com/office/drawing/2014/main" id="{7C7A0D48-1F36-794C-B9DB-AA99938AA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" y="2400"/>
              <a:ext cx="287" cy="288"/>
            </a:xfrm>
            <a:prstGeom prst="rect">
              <a:avLst/>
            </a:prstGeom>
            <a:solidFill>
              <a:srgbClr val="77EB0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A</a:t>
              </a:r>
              <a:endParaRPr lang="en-GB" sz="3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972" name="Rectangle 12">
              <a:extLst>
                <a:ext uri="{FF2B5EF4-FFF2-40B4-BE49-F238E27FC236}">
                  <a16:creationId xmlns:a16="http://schemas.microsoft.com/office/drawing/2014/main" id="{1ADF8F43-7854-D04F-81B1-F5F9930B6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976"/>
              <a:ext cx="288" cy="288"/>
            </a:xfrm>
            <a:prstGeom prst="rect">
              <a:avLst/>
            </a:prstGeom>
            <a:solidFill>
              <a:srgbClr val="77EB0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A</a:t>
              </a:r>
              <a:endParaRPr lang="en-GB" sz="3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1023" name="Group 63">
            <a:extLst>
              <a:ext uri="{FF2B5EF4-FFF2-40B4-BE49-F238E27FC236}">
                <a16:creationId xmlns:a16="http://schemas.microsoft.com/office/drawing/2014/main" id="{ECA89A6C-2F93-C24C-93DC-B321DA4419A7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729038"/>
            <a:ext cx="2039937" cy="2058987"/>
            <a:chOff x="1056" y="2349"/>
            <a:chExt cx="1392" cy="1297"/>
          </a:xfrm>
        </p:grpSpPr>
        <p:cxnSp>
          <p:nvCxnSpPr>
            <p:cNvPr id="40974" name="AutoShape 14">
              <a:extLst>
                <a:ext uri="{FF2B5EF4-FFF2-40B4-BE49-F238E27FC236}">
                  <a16:creationId xmlns:a16="http://schemas.microsoft.com/office/drawing/2014/main" id="{91780B05-7F93-CB4F-B79A-C85028866B9B}"/>
                </a:ext>
              </a:extLst>
            </p:cNvPr>
            <p:cNvCxnSpPr>
              <a:cxnSpLocks noChangeShapeType="1"/>
              <a:stCxn id="40971" idx="2"/>
              <a:endCxn id="40964" idx="1"/>
            </p:cNvCxnSpPr>
            <p:nvPr/>
          </p:nvCxnSpPr>
          <p:spPr bwMode="auto">
            <a:xfrm>
              <a:off x="1296" y="2541"/>
              <a:ext cx="268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975" name="AutoShape 15">
              <a:extLst>
                <a:ext uri="{FF2B5EF4-FFF2-40B4-BE49-F238E27FC236}">
                  <a16:creationId xmlns:a16="http://schemas.microsoft.com/office/drawing/2014/main" id="{EBEBB1A4-B845-8049-945C-0610FC071246}"/>
                </a:ext>
              </a:extLst>
            </p:cNvPr>
            <p:cNvCxnSpPr>
              <a:cxnSpLocks noChangeShapeType="1"/>
              <a:stCxn id="40968" idx="3"/>
              <a:endCxn id="40964" idx="2"/>
            </p:cNvCxnSpPr>
            <p:nvPr/>
          </p:nvCxnSpPr>
          <p:spPr bwMode="auto">
            <a:xfrm>
              <a:off x="1056" y="2877"/>
              <a:ext cx="409" cy="1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976" name="AutoShape 16">
              <a:extLst>
                <a:ext uri="{FF2B5EF4-FFF2-40B4-BE49-F238E27FC236}">
                  <a16:creationId xmlns:a16="http://schemas.microsoft.com/office/drawing/2014/main" id="{2B563D4E-CF98-8145-A717-883753F7B576}"/>
                </a:ext>
              </a:extLst>
            </p:cNvPr>
            <p:cNvCxnSpPr>
              <a:cxnSpLocks noChangeShapeType="1"/>
              <a:stCxn id="40966" idx="3"/>
              <a:endCxn id="40964" idx="3"/>
            </p:cNvCxnSpPr>
            <p:nvPr/>
          </p:nvCxnSpPr>
          <p:spPr bwMode="auto">
            <a:xfrm flipV="1">
              <a:off x="1200" y="3233"/>
              <a:ext cx="364" cy="3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977" name="AutoShape 17">
              <a:extLst>
                <a:ext uri="{FF2B5EF4-FFF2-40B4-BE49-F238E27FC236}">
                  <a16:creationId xmlns:a16="http://schemas.microsoft.com/office/drawing/2014/main" id="{047F494D-450F-884B-A436-7441351476CB}"/>
                </a:ext>
              </a:extLst>
            </p:cNvPr>
            <p:cNvCxnSpPr>
              <a:cxnSpLocks noChangeShapeType="1"/>
              <a:stCxn id="40970" idx="0"/>
              <a:endCxn id="40964" idx="4"/>
            </p:cNvCxnSpPr>
            <p:nvPr/>
          </p:nvCxnSpPr>
          <p:spPr bwMode="auto">
            <a:xfrm flipH="1" flipV="1">
              <a:off x="1801" y="3331"/>
              <a:ext cx="68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978" name="AutoShape 18">
              <a:extLst>
                <a:ext uri="{FF2B5EF4-FFF2-40B4-BE49-F238E27FC236}">
                  <a16:creationId xmlns:a16="http://schemas.microsoft.com/office/drawing/2014/main" id="{261F1F62-A98A-5643-8433-37F787DC0D3B}"/>
                </a:ext>
              </a:extLst>
            </p:cNvPr>
            <p:cNvCxnSpPr>
              <a:cxnSpLocks noChangeShapeType="1"/>
              <a:stCxn id="40967" idx="1"/>
              <a:endCxn id="40964" idx="5"/>
            </p:cNvCxnSpPr>
            <p:nvPr/>
          </p:nvCxnSpPr>
          <p:spPr bwMode="auto">
            <a:xfrm flipH="1" flipV="1">
              <a:off x="2039" y="3233"/>
              <a:ext cx="364" cy="4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979" name="AutoShape 19">
              <a:extLst>
                <a:ext uri="{FF2B5EF4-FFF2-40B4-BE49-F238E27FC236}">
                  <a16:creationId xmlns:a16="http://schemas.microsoft.com/office/drawing/2014/main" id="{65F2BFF6-10A1-584E-8929-DF44C56A51EC}"/>
                </a:ext>
              </a:extLst>
            </p:cNvPr>
            <p:cNvCxnSpPr>
              <a:cxnSpLocks noChangeShapeType="1"/>
              <a:stCxn id="40972" idx="1"/>
              <a:endCxn id="40964" idx="6"/>
            </p:cNvCxnSpPr>
            <p:nvPr/>
          </p:nvCxnSpPr>
          <p:spPr bwMode="auto">
            <a:xfrm flipH="1">
              <a:off x="2137" y="2973"/>
              <a:ext cx="311" cy="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0980" name="AutoShape 20">
              <a:extLst>
                <a:ext uri="{FF2B5EF4-FFF2-40B4-BE49-F238E27FC236}">
                  <a16:creationId xmlns:a16="http://schemas.microsoft.com/office/drawing/2014/main" id="{A41A2E8C-753B-E044-AD7F-851334C04918}"/>
                </a:ext>
              </a:extLst>
            </p:cNvPr>
            <p:cNvCxnSpPr>
              <a:cxnSpLocks noChangeShapeType="1"/>
              <a:stCxn id="40969" idx="1"/>
              <a:endCxn id="40964" idx="7"/>
            </p:cNvCxnSpPr>
            <p:nvPr/>
          </p:nvCxnSpPr>
          <p:spPr bwMode="auto">
            <a:xfrm flipH="1">
              <a:off x="2039" y="2349"/>
              <a:ext cx="121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41000" name="Rectangle 40">
            <a:extLst>
              <a:ext uri="{FF2B5EF4-FFF2-40B4-BE49-F238E27FC236}">
                <a16:creationId xmlns:a16="http://schemas.microsoft.com/office/drawing/2014/main" id="{350A16D8-C359-2646-B911-13D0986BE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263" y="5638800"/>
            <a:ext cx="422275" cy="4572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1" name="Rectangle 41">
            <a:extLst>
              <a:ext uri="{FF2B5EF4-FFF2-40B4-BE49-F238E27FC236}">
                <a16:creationId xmlns:a16="http://schemas.microsoft.com/office/drawing/2014/main" id="{33E32AFC-0EC6-CE4A-91EE-DE8F880D5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5715000"/>
            <a:ext cx="420687" cy="4572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2" name="Rectangle 42">
            <a:extLst>
              <a:ext uri="{FF2B5EF4-FFF2-40B4-BE49-F238E27FC236}">
                <a16:creationId xmlns:a16="http://schemas.microsoft.com/office/drawing/2014/main" id="{B06EB173-6E0F-CF44-A790-B3433A18A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4495800"/>
            <a:ext cx="422275" cy="4572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3" name="Rectangle 43">
            <a:extLst>
              <a:ext uri="{FF2B5EF4-FFF2-40B4-BE49-F238E27FC236}">
                <a16:creationId xmlns:a16="http://schemas.microsoft.com/office/drawing/2014/main" id="{AFEDCBC9-7E04-A74D-A07E-37BE530F8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3657600"/>
            <a:ext cx="422275" cy="4572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4" name="Rectangle 44">
            <a:extLst>
              <a:ext uri="{FF2B5EF4-FFF2-40B4-BE49-F238E27FC236}">
                <a16:creationId xmlns:a16="http://schemas.microsoft.com/office/drawing/2014/main" id="{A5DBE6A5-2DEF-8C40-BF1F-EE538B10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5791200"/>
            <a:ext cx="422275" cy="4572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5" name="Rectangle 45">
            <a:extLst>
              <a:ext uri="{FF2B5EF4-FFF2-40B4-BE49-F238E27FC236}">
                <a16:creationId xmlns:a16="http://schemas.microsoft.com/office/drawing/2014/main" id="{064694A6-E3FF-7742-B48C-7DA562C05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3733800"/>
            <a:ext cx="420687" cy="4572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6" name="Rectangle 46">
            <a:extLst>
              <a:ext uri="{FF2B5EF4-FFF2-40B4-BE49-F238E27FC236}">
                <a16:creationId xmlns:a16="http://schemas.microsoft.com/office/drawing/2014/main" id="{97B6A9E9-35D2-6F4E-AF8F-A594B5B4A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338" y="4648200"/>
            <a:ext cx="422275" cy="4572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1024" name="Group 64">
            <a:extLst>
              <a:ext uri="{FF2B5EF4-FFF2-40B4-BE49-F238E27FC236}">
                <a16:creationId xmlns:a16="http://schemas.microsoft.com/office/drawing/2014/main" id="{BD49C358-B1CC-CC4D-82C0-3CFD6BE5DB5B}"/>
              </a:ext>
            </a:extLst>
          </p:cNvPr>
          <p:cNvGrpSpPr>
            <a:grpSpLocks/>
          </p:cNvGrpSpPr>
          <p:nvPr/>
        </p:nvGrpSpPr>
        <p:grpSpPr bwMode="auto">
          <a:xfrm>
            <a:off x="6048375" y="3657600"/>
            <a:ext cx="633413" cy="457200"/>
            <a:chOff x="4128" y="2304"/>
            <a:chExt cx="432" cy="288"/>
          </a:xfrm>
        </p:grpSpPr>
        <p:sp>
          <p:nvSpPr>
            <p:cNvPr id="40965" name="Oval 5">
              <a:extLst>
                <a:ext uri="{FF2B5EF4-FFF2-40B4-BE49-F238E27FC236}">
                  <a16:creationId xmlns:a16="http://schemas.microsoft.com/office/drawing/2014/main" id="{FE4AB156-8AB2-CE48-A3E2-64FCCE738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O</a:t>
              </a:r>
            </a:p>
          </p:txBody>
        </p:sp>
        <p:cxnSp>
          <p:nvCxnSpPr>
            <p:cNvPr id="41007" name="AutoShape 47">
              <a:extLst>
                <a:ext uri="{FF2B5EF4-FFF2-40B4-BE49-F238E27FC236}">
                  <a16:creationId xmlns:a16="http://schemas.microsoft.com/office/drawing/2014/main" id="{87D47E7D-117C-D746-975F-FAA9161E6F41}"/>
                </a:ext>
              </a:extLst>
            </p:cNvPr>
            <p:cNvCxnSpPr>
              <a:cxnSpLocks noChangeShapeType="1"/>
              <a:stCxn id="41005" idx="3"/>
              <a:endCxn id="40965" idx="2"/>
            </p:cNvCxnSpPr>
            <p:nvPr/>
          </p:nvCxnSpPr>
          <p:spPr bwMode="auto">
            <a:xfrm flipV="1">
              <a:off x="4128" y="2448"/>
              <a:ext cx="144" cy="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41027" name="Group 67">
            <a:extLst>
              <a:ext uri="{FF2B5EF4-FFF2-40B4-BE49-F238E27FC236}">
                <a16:creationId xmlns:a16="http://schemas.microsoft.com/office/drawing/2014/main" id="{C7F3F67A-CBC1-7D47-9516-57A2858CC712}"/>
              </a:ext>
            </a:extLst>
          </p:cNvPr>
          <p:cNvGrpSpPr>
            <a:grpSpLocks/>
          </p:cNvGrpSpPr>
          <p:nvPr/>
        </p:nvGrpSpPr>
        <p:grpSpPr bwMode="auto">
          <a:xfrm>
            <a:off x="7526338" y="3810000"/>
            <a:ext cx="844550" cy="457200"/>
            <a:chOff x="5136" y="2400"/>
            <a:chExt cx="576" cy="288"/>
          </a:xfrm>
        </p:grpSpPr>
        <p:cxnSp>
          <p:nvCxnSpPr>
            <p:cNvPr id="41013" name="AutoShape 53">
              <a:extLst>
                <a:ext uri="{FF2B5EF4-FFF2-40B4-BE49-F238E27FC236}">
                  <a16:creationId xmlns:a16="http://schemas.microsoft.com/office/drawing/2014/main" id="{3B1036F7-D19B-974A-8F80-C7F5C2D6BF5C}"/>
                </a:ext>
              </a:extLst>
            </p:cNvPr>
            <p:cNvCxnSpPr>
              <a:cxnSpLocks noChangeShapeType="1"/>
              <a:stCxn id="41003" idx="3"/>
              <a:endCxn id="41014" idx="1"/>
            </p:cNvCxnSpPr>
            <p:nvPr/>
          </p:nvCxnSpPr>
          <p:spPr bwMode="auto">
            <a:xfrm flipV="1">
              <a:off x="5136" y="2442"/>
              <a:ext cx="330" cy="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014" name="Oval 54">
              <a:extLst>
                <a:ext uri="{FF2B5EF4-FFF2-40B4-BE49-F238E27FC236}">
                  <a16:creationId xmlns:a16="http://schemas.microsoft.com/office/drawing/2014/main" id="{27B5C71B-1DA9-E14F-8EA0-FBDAA58FC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240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O</a:t>
              </a:r>
            </a:p>
          </p:txBody>
        </p:sp>
      </p:grpSp>
      <p:grpSp>
        <p:nvGrpSpPr>
          <p:cNvPr id="41028" name="Group 68">
            <a:extLst>
              <a:ext uri="{FF2B5EF4-FFF2-40B4-BE49-F238E27FC236}">
                <a16:creationId xmlns:a16="http://schemas.microsoft.com/office/drawing/2014/main" id="{6E110543-D07A-5840-AF36-2BC7D9B4377A}"/>
              </a:ext>
            </a:extLst>
          </p:cNvPr>
          <p:cNvGrpSpPr>
            <a:grpSpLocks/>
          </p:cNvGrpSpPr>
          <p:nvPr/>
        </p:nvGrpSpPr>
        <p:grpSpPr bwMode="auto">
          <a:xfrm>
            <a:off x="6823075" y="4343400"/>
            <a:ext cx="703263" cy="533400"/>
            <a:chOff x="4656" y="2736"/>
            <a:chExt cx="480" cy="336"/>
          </a:xfrm>
        </p:grpSpPr>
        <p:cxnSp>
          <p:nvCxnSpPr>
            <p:cNvPr id="41012" name="AutoShape 52">
              <a:extLst>
                <a:ext uri="{FF2B5EF4-FFF2-40B4-BE49-F238E27FC236}">
                  <a16:creationId xmlns:a16="http://schemas.microsoft.com/office/drawing/2014/main" id="{E7142C5B-7B98-644A-B692-E678D4200B2D}"/>
                </a:ext>
              </a:extLst>
            </p:cNvPr>
            <p:cNvCxnSpPr>
              <a:cxnSpLocks noChangeShapeType="1"/>
              <a:stCxn id="41006" idx="1"/>
              <a:endCxn id="41016" idx="5"/>
            </p:cNvCxnSpPr>
            <p:nvPr/>
          </p:nvCxnSpPr>
          <p:spPr bwMode="auto">
            <a:xfrm flipH="1" flipV="1">
              <a:off x="4902" y="2982"/>
              <a:ext cx="234" cy="9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016" name="Oval 56">
              <a:extLst>
                <a:ext uri="{FF2B5EF4-FFF2-40B4-BE49-F238E27FC236}">
                  <a16:creationId xmlns:a16="http://schemas.microsoft.com/office/drawing/2014/main" id="{43480BBD-4C49-D44D-8969-62E660DE6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O</a:t>
              </a:r>
            </a:p>
          </p:txBody>
        </p:sp>
      </p:grpSp>
      <p:grpSp>
        <p:nvGrpSpPr>
          <p:cNvPr id="41036" name="Group 76">
            <a:extLst>
              <a:ext uri="{FF2B5EF4-FFF2-40B4-BE49-F238E27FC236}">
                <a16:creationId xmlns:a16="http://schemas.microsoft.com/office/drawing/2014/main" id="{27993038-3B15-D04E-8985-53BE31961218}"/>
              </a:ext>
            </a:extLst>
          </p:cNvPr>
          <p:cNvGrpSpPr>
            <a:grpSpLocks/>
          </p:cNvGrpSpPr>
          <p:nvPr/>
        </p:nvGrpSpPr>
        <p:grpSpPr bwMode="auto">
          <a:xfrm>
            <a:off x="6677025" y="5013325"/>
            <a:ext cx="420688" cy="777875"/>
            <a:chOff x="4464" y="3158"/>
            <a:chExt cx="288" cy="490"/>
          </a:xfrm>
        </p:grpSpPr>
        <p:cxnSp>
          <p:nvCxnSpPr>
            <p:cNvPr id="41010" name="AutoShape 50">
              <a:extLst>
                <a:ext uri="{FF2B5EF4-FFF2-40B4-BE49-F238E27FC236}">
                  <a16:creationId xmlns:a16="http://schemas.microsoft.com/office/drawing/2014/main" id="{0E417DA7-AAB4-E54E-A86C-AC8B7887A45D}"/>
                </a:ext>
              </a:extLst>
            </p:cNvPr>
            <p:cNvCxnSpPr>
              <a:cxnSpLocks noChangeShapeType="1"/>
              <a:stCxn id="41004" idx="0"/>
              <a:endCxn id="41018" idx="4"/>
            </p:cNvCxnSpPr>
            <p:nvPr/>
          </p:nvCxnSpPr>
          <p:spPr bwMode="auto">
            <a:xfrm flipV="1">
              <a:off x="4560" y="3446"/>
              <a:ext cx="49" cy="2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018" name="Oval 58">
              <a:extLst>
                <a:ext uri="{FF2B5EF4-FFF2-40B4-BE49-F238E27FC236}">
                  <a16:creationId xmlns:a16="http://schemas.microsoft.com/office/drawing/2014/main" id="{87C6631F-025F-4840-A10B-98B3B6853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5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O</a:t>
              </a:r>
            </a:p>
          </p:txBody>
        </p:sp>
      </p:grpSp>
      <p:grpSp>
        <p:nvGrpSpPr>
          <p:cNvPr id="41025" name="Group 65">
            <a:extLst>
              <a:ext uri="{FF2B5EF4-FFF2-40B4-BE49-F238E27FC236}">
                <a16:creationId xmlns:a16="http://schemas.microsoft.com/office/drawing/2014/main" id="{78671B5A-A95F-7340-821B-C8FA6DFB7637}"/>
              </a:ext>
            </a:extLst>
          </p:cNvPr>
          <p:cNvGrpSpPr>
            <a:grpSpLocks/>
          </p:cNvGrpSpPr>
          <p:nvPr/>
        </p:nvGrpSpPr>
        <p:grpSpPr bwMode="auto">
          <a:xfrm>
            <a:off x="5697538" y="5715000"/>
            <a:ext cx="633412" cy="457200"/>
            <a:chOff x="3888" y="3600"/>
            <a:chExt cx="432" cy="288"/>
          </a:xfrm>
        </p:grpSpPr>
        <p:cxnSp>
          <p:nvCxnSpPr>
            <p:cNvPr id="41009" name="AutoShape 49">
              <a:extLst>
                <a:ext uri="{FF2B5EF4-FFF2-40B4-BE49-F238E27FC236}">
                  <a16:creationId xmlns:a16="http://schemas.microsoft.com/office/drawing/2014/main" id="{5C61AC1F-8B35-DB4D-B924-5503EB3820C9}"/>
                </a:ext>
              </a:extLst>
            </p:cNvPr>
            <p:cNvCxnSpPr>
              <a:cxnSpLocks noChangeShapeType="1"/>
              <a:stCxn id="41000" idx="3"/>
              <a:endCxn id="41019" idx="2"/>
            </p:cNvCxnSpPr>
            <p:nvPr/>
          </p:nvCxnSpPr>
          <p:spPr bwMode="auto">
            <a:xfrm>
              <a:off x="3888" y="3696"/>
              <a:ext cx="144" cy="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019" name="Oval 59">
              <a:extLst>
                <a:ext uri="{FF2B5EF4-FFF2-40B4-BE49-F238E27FC236}">
                  <a16:creationId xmlns:a16="http://schemas.microsoft.com/office/drawing/2014/main" id="{BD17498A-7A8B-774B-8778-75C3BB7DF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0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O</a:t>
              </a:r>
            </a:p>
          </p:txBody>
        </p:sp>
      </p:grpSp>
      <p:grpSp>
        <p:nvGrpSpPr>
          <p:cNvPr id="41029" name="Group 69">
            <a:extLst>
              <a:ext uri="{FF2B5EF4-FFF2-40B4-BE49-F238E27FC236}">
                <a16:creationId xmlns:a16="http://schemas.microsoft.com/office/drawing/2014/main" id="{C0CCD8F7-5CFB-C84B-BF26-E908CEA2545A}"/>
              </a:ext>
            </a:extLst>
          </p:cNvPr>
          <p:cNvGrpSpPr>
            <a:grpSpLocks/>
          </p:cNvGrpSpPr>
          <p:nvPr/>
        </p:nvGrpSpPr>
        <p:grpSpPr bwMode="auto">
          <a:xfrm>
            <a:off x="5275263" y="4953000"/>
            <a:ext cx="422275" cy="609600"/>
            <a:chOff x="3600" y="3120"/>
            <a:chExt cx="288" cy="384"/>
          </a:xfrm>
        </p:grpSpPr>
        <p:cxnSp>
          <p:nvCxnSpPr>
            <p:cNvPr id="41008" name="AutoShape 48">
              <a:extLst>
                <a:ext uri="{FF2B5EF4-FFF2-40B4-BE49-F238E27FC236}">
                  <a16:creationId xmlns:a16="http://schemas.microsoft.com/office/drawing/2014/main" id="{D41727B3-D2EA-3A47-87E0-0625D39207AE}"/>
                </a:ext>
              </a:extLst>
            </p:cNvPr>
            <p:cNvCxnSpPr>
              <a:cxnSpLocks noChangeShapeType="1"/>
              <a:stCxn id="41002" idx="2"/>
              <a:endCxn id="41020" idx="0"/>
            </p:cNvCxnSpPr>
            <p:nvPr/>
          </p:nvCxnSpPr>
          <p:spPr bwMode="auto">
            <a:xfrm>
              <a:off x="3600" y="3120"/>
              <a:ext cx="144" cy="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020" name="Oval 60">
              <a:extLst>
                <a:ext uri="{FF2B5EF4-FFF2-40B4-BE49-F238E27FC236}">
                  <a16:creationId xmlns:a16="http://schemas.microsoft.com/office/drawing/2014/main" id="{B2C7707D-AC4B-D544-A71E-33BE1E0F8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O</a:t>
              </a:r>
            </a:p>
          </p:txBody>
        </p:sp>
      </p:grpSp>
      <p:sp>
        <p:nvSpPr>
          <p:cNvPr id="41021" name="Line 61">
            <a:extLst>
              <a:ext uri="{FF2B5EF4-FFF2-40B4-BE49-F238E27FC236}">
                <a16:creationId xmlns:a16="http://schemas.microsoft.com/office/drawing/2014/main" id="{021E834C-6ECE-104E-9574-412F931F91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3200400"/>
            <a:ext cx="0" cy="327660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32" name="Oval 72">
            <a:extLst>
              <a:ext uri="{FF2B5EF4-FFF2-40B4-BE49-F238E27FC236}">
                <a16:creationId xmlns:a16="http://schemas.microsoft.com/office/drawing/2014/main" id="{7998DEFA-24BD-9A4E-B6EE-0D4BA00A6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569" y="1885949"/>
            <a:ext cx="280987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 sz="1600" dirty="0">
                <a:latin typeface="Arial" charset="0"/>
                <a:ea typeface="ＭＳ Ｐゴシック" charset="0"/>
                <a:cs typeface="ＭＳ Ｐゴシック" charset="0"/>
              </a:rPr>
              <a:t>O</a:t>
            </a: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34" name="Rectangle 74">
            <a:extLst>
              <a:ext uri="{FF2B5EF4-FFF2-40B4-BE49-F238E27FC236}">
                <a16:creationId xmlns:a16="http://schemas.microsoft.com/office/drawing/2014/main" id="{D8E62932-66F9-EF4E-B5C3-A62AA455F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8193" y="2276872"/>
            <a:ext cx="280987" cy="304800"/>
          </a:xfrm>
          <a:prstGeom prst="rect">
            <a:avLst/>
          </a:prstGeom>
          <a:solidFill>
            <a:srgbClr val="77EB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 sz="1600" dirty="0"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endParaRPr lang="en-GB" sz="3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35" name="Line 75">
            <a:extLst>
              <a:ext uri="{FF2B5EF4-FFF2-40B4-BE49-F238E27FC236}">
                <a16:creationId xmlns:a16="http://schemas.microsoft.com/office/drawing/2014/main" id="{BF826E6F-2E1B-064A-91D7-A9664176F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688" y="3200400"/>
            <a:ext cx="724376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1037" name="Group 77">
            <a:extLst>
              <a:ext uri="{FF2B5EF4-FFF2-40B4-BE49-F238E27FC236}">
                <a16:creationId xmlns:a16="http://schemas.microsoft.com/office/drawing/2014/main" id="{7C8F65F8-1957-E04B-BDD1-102A65537672}"/>
              </a:ext>
            </a:extLst>
          </p:cNvPr>
          <p:cNvGrpSpPr>
            <a:grpSpLocks/>
          </p:cNvGrpSpPr>
          <p:nvPr/>
        </p:nvGrpSpPr>
        <p:grpSpPr bwMode="auto">
          <a:xfrm>
            <a:off x="6543675" y="5013325"/>
            <a:ext cx="912813" cy="930275"/>
            <a:chOff x="4465" y="3158"/>
            <a:chExt cx="623" cy="586"/>
          </a:xfrm>
        </p:grpSpPr>
        <p:cxnSp>
          <p:nvCxnSpPr>
            <p:cNvPr id="41011" name="AutoShape 51">
              <a:extLst>
                <a:ext uri="{FF2B5EF4-FFF2-40B4-BE49-F238E27FC236}">
                  <a16:creationId xmlns:a16="http://schemas.microsoft.com/office/drawing/2014/main" id="{7F477862-BC84-114F-888C-1B95AC894697}"/>
                </a:ext>
              </a:extLst>
            </p:cNvPr>
            <p:cNvCxnSpPr>
              <a:cxnSpLocks noChangeShapeType="1"/>
              <a:stCxn id="41001" idx="1"/>
              <a:endCxn id="41017" idx="4"/>
            </p:cNvCxnSpPr>
            <p:nvPr/>
          </p:nvCxnSpPr>
          <p:spPr bwMode="auto">
            <a:xfrm flipH="1" flipV="1">
              <a:off x="4609" y="3446"/>
              <a:ext cx="479" cy="29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017" name="Oval 57">
              <a:extLst>
                <a:ext uri="{FF2B5EF4-FFF2-40B4-BE49-F238E27FC236}">
                  <a16:creationId xmlns:a16="http://schemas.microsoft.com/office/drawing/2014/main" id="{A26C26FC-CBAF-604D-818A-305D638E8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" y="315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Font typeface="Times New Roman" charset="0"/>
                <a:buNone/>
                <a:defRPr/>
              </a:pPr>
              <a:r>
                <a:rPr lang="en-GB">
                  <a:latin typeface="Arial" charset="0"/>
                  <a:ea typeface="ＭＳ Ｐゴシック" charset="0"/>
                  <a:cs typeface="ＭＳ Ｐゴシック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611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4B584DE-0D93-3848-A098-02847F433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r>
              <a:rPr lang="en-GB" dirty="0"/>
              <a:t>”</a:t>
            </a:r>
            <a:r>
              <a:rPr lang="en-GB" dirty="0" err="1"/>
              <a:t>Ontolog</a:t>
            </a:r>
            <a:r>
              <a:rPr lang="es-ES" dirty="0" err="1"/>
              <a:t>ía</a:t>
            </a:r>
            <a:r>
              <a:rPr lang="es-ES" dirty="0"/>
              <a:t> grande</a:t>
            </a:r>
            <a:r>
              <a:rPr lang="en-GB" dirty="0"/>
              <a:t>"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F6003C2-6283-B34C-9B27-FD944856C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557338"/>
            <a:ext cx="7388225" cy="4568825"/>
          </a:xfrm>
        </p:spPr>
        <p:txBody>
          <a:bodyPr/>
          <a:lstStyle/>
          <a:p>
            <a:pPr>
              <a:buFont typeface="Arial"/>
              <a:buChar char="•"/>
              <a:defRPr/>
            </a:pPr>
            <a:r>
              <a:rPr lang="en-GB" dirty="0" err="1"/>
              <a:t>Beneficios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 err="1"/>
              <a:t>Pocas</a:t>
            </a:r>
            <a:r>
              <a:rPr lang="en-GB" dirty="0"/>
              <a:t> o </a:t>
            </a:r>
            <a:r>
              <a:rPr lang="en-GB" dirty="0" err="1"/>
              <a:t>ninguna</a:t>
            </a:r>
            <a:r>
              <a:rPr lang="en-GB" dirty="0"/>
              <a:t> </a:t>
            </a:r>
            <a:r>
              <a:rPr lang="en-GB" dirty="0" err="1"/>
              <a:t>inconsistencia</a:t>
            </a:r>
            <a:r>
              <a:rPr lang="en-GB" dirty="0"/>
              <a:t> </a:t>
            </a:r>
            <a:r>
              <a:rPr lang="en-GB" dirty="0" err="1"/>
              <a:t>interna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M</a:t>
            </a:r>
            <a:r>
              <a:rPr lang="es-ES" dirty="0" err="1"/>
              <a:t>ás</a:t>
            </a:r>
            <a:r>
              <a:rPr lang="es-ES" dirty="0"/>
              <a:t> fácil p</a:t>
            </a:r>
            <a:r>
              <a:rPr lang="en-GB" dirty="0" err="1"/>
              <a:t>ara</a:t>
            </a:r>
            <a:r>
              <a:rPr lang="en-GB" dirty="0"/>
              <a:t> el </a:t>
            </a:r>
            <a:r>
              <a:rPr lang="en-GB" dirty="0" err="1"/>
              <a:t>desarrollador</a:t>
            </a:r>
            <a:r>
              <a:rPr lang="en-GB" dirty="0"/>
              <a:t> de la </a:t>
            </a:r>
            <a:r>
              <a:rPr lang="en-GB" dirty="0" err="1"/>
              <a:t>aplicaci</a:t>
            </a:r>
            <a:r>
              <a:rPr lang="es-ES" dirty="0" err="1"/>
              <a:t>ón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 err="1"/>
              <a:t>Documentaci</a:t>
            </a:r>
            <a:r>
              <a:rPr lang="es-ES" dirty="0" err="1"/>
              <a:t>ón</a:t>
            </a:r>
            <a:r>
              <a:rPr lang="es-ES" dirty="0"/>
              <a:t> uniforme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 err="1"/>
              <a:t>Menos</a:t>
            </a:r>
            <a:r>
              <a:rPr lang="en-GB" dirty="0"/>
              <a:t> </a:t>
            </a:r>
            <a:r>
              <a:rPr lang="en-GB" dirty="0" err="1"/>
              <a:t>solapamiento</a:t>
            </a:r>
            <a:endParaRPr lang="en-GB" dirty="0"/>
          </a:p>
          <a:p>
            <a:pPr>
              <a:buFont typeface="Arial"/>
              <a:buChar char="•"/>
              <a:defRPr/>
            </a:pPr>
            <a:r>
              <a:rPr lang="en-GB" dirty="0" err="1"/>
              <a:t>Desventajas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¿Qui</a:t>
            </a:r>
            <a:r>
              <a:rPr lang="es-ES" dirty="0" err="1"/>
              <a:t>én</a:t>
            </a:r>
            <a:r>
              <a:rPr lang="es-ES" dirty="0"/>
              <a:t> la mantiene?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¿Qui</a:t>
            </a:r>
            <a:r>
              <a:rPr lang="es-ES" dirty="0" err="1"/>
              <a:t>én</a:t>
            </a:r>
            <a:r>
              <a:rPr lang="es-ES" dirty="0"/>
              <a:t> es el responsable?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M</a:t>
            </a:r>
            <a:r>
              <a:rPr lang="es-ES" dirty="0" err="1"/>
              <a:t>ás</a:t>
            </a:r>
            <a:r>
              <a:rPr lang="es-ES" dirty="0"/>
              <a:t> pesado y lento de usar (tanto para el usuario como para la aplicación</a:t>
            </a:r>
            <a:r>
              <a:rPr lang="en-GB" dirty="0"/>
              <a:t>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 err="1"/>
              <a:t>Dif</a:t>
            </a:r>
            <a:r>
              <a:rPr lang="es-ES" dirty="0" err="1"/>
              <a:t>ícil</a:t>
            </a:r>
            <a:r>
              <a:rPr lang="es-ES" dirty="0"/>
              <a:t> tener en cuenta las opiniones y preferencias de todo el mundo en su diseño y actualización</a:t>
            </a:r>
            <a:endParaRPr lang="en-GB" dirty="0"/>
          </a:p>
          <a:p>
            <a:pPr>
              <a:buFont typeface="Arial"/>
              <a:buChar char="•"/>
              <a:defRPr/>
            </a:pPr>
            <a:r>
              <a:rPr lang="en-GB" dirty="0" err="1"/>
              <a:t>Ejemplo</a:t>
            </a:r>
            <a:r>
              <a:rPr lang="en-GB" dirty="0"/>
              <a:t>: </a:t>
            </a:r>
            <a:r>
              <a:rPr lang="en-GB" dirty="0" err="1"/>
              <a:t>Cyc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824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E7060D7-2A91-754A-AF51-A67C248A6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r>
              <a:rPr lang="en-GB" dirty="0"/>
              <a:t>”</a:t>
            </a:r>
            <a:r>
              <a:rPr lang="en-GB" dirty="0" err="1"/>
              <a:t>Pequeñas</a:t>
            </a:r>
            <a:r>
              <a:rPr lang="en-GB" dirty="0"/>
              <a:t> </a:t>
            </a:r>
            <a:r>
              <a:rPr lang="en-GB" dirty="0" err="1"/>
              <a:t>ontolog</a:t>
            </a:r>
            <a:r>
              <a:rPr lang="es-ES" dirty="0" err="1"/>
              <a:t>ías</a:t>
            </a:r>
            <a:r>
              <a:rPr lang="en-GB" dirty="0"/>
              <a:t>"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E0A3BB5-A5D8-0E46-BA0F-A84FEF264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  <a:defRPr/>
            </a:pPr>
            <a:r>
              <a:rPr lang="en-GB" dirty="0" err="1"/>
              <a:t>Beneficios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Se </a:t>
            </a:r>
            <a:r>
              <a:rPr lang="en-GB" dirty="0" err="1"/>
              <a:t>ajusta</a:t>
            </a:r>
            <a:r>
              <a:rPr lang="en-GB" dirty="0"/>
              <a:t> </a:t>
            </a:r>
            <a:r>
              <a:rPr lang="en-GB" dirty="0" err="1"/>
              <a:t>bien</a:t>
            </a:r>
            <a:r>
              <a:rPr lang="en-GB" dirty="0"/>
              <a:t> a las </a:t>
            </a:r>
            <a:r>
              <a:rPr lang="en-GB" dirty="0" err="1"/>
              <a:t>necesidades</a:t>
            </a:r>
            <a:r>
              <a:rPr lang="en-GB" dirty="0"/>
              <a:t> de la </a:t>
            </a:r>
            <a:r>
              <a:rPr lang="en-GB" dirty="0" err="1"/>
              <a:t>aplicaci</a:t>
            </a:r>
            <a:r>
              <a:rPr lang="es-ES" dirty="0" err="1"/>
              <a:t>ón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M</a:t>
            </a:r>
            <a:r>
              <a:rPr lang="es-ES" dirty="0" err="1"/>
              <a:t>ás</a:t>
            </a:r>
            <a:r>
              <a:rPr lang="es-ES" dirty="0"/>
              <a:t> rápido de usar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/>
              <a:t>M</a:t>
            </a:r>
            <a:r>
              <a:rPr lang="es-ES" dirty="0" err="1"/>
              <a:t>ás</a:t>
            </a:r>
            <a:r>
              <a:rPr lang="es-ES" dirty="0"/>
              <a:t> </a:t>
            </a:r>
            <a:r>
              <a:rPr lang="es-ES" dirty="0" err="1"/>
              <a:t>sencilo</a:t>
            </a:r>
            <a:r>
              <a:rPr lang="es-ES" dirty="0"/>
              <a:t> formar una visión completa de una ontología (menos conceptos y relaciones)</a:t>
            </a:r>
            <a:r>
              <a:rPr lang="en-GB" dirty="0"/>
              <a:t> </a:t>
            </a:r>
          </a:p>
          <a:p>
            <a:pPr marL="400050">
              <a:buFont typeface="Arial"/>
              <a:buChar char="•"/>
              <a:defRPr/>
            </a:pPr>
            <a:r>
              <a:rPr lang="en-GB" dirty="0" err="1"/>
              <a:t>Desventajas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 err="1"/>
              <a:t>Diferentes</a:t>
            </a:r>
            <a:r>
              <a:rPr lang="en-GB" dirty="0"/>
              <a:t> </a:t>
            </a:r>
            <a:r>
              <a:rPr lang="en-GB" dirty="0" err="1"/>
              <a:t>ontolo</a:t>
            </a:r>
            <a:r>
              <a:rPr lang="es-ES" dirty="0" err="1"/>
              <a:t>gías</a:t>
            </a:r>
            <a:r>
              <a:rPr lang="es-ES" dirty="0"/>
              <a:t> no se ajustan entre ellas sin </a:t>
            </a:r>
            <a:r>
              <a:rPr lang="es-ES" dirty="0" err="1"/>
              <a:t>almenos</a:t>
            </a:r>
            <a:r>
              <a:rPr lang="es-ES" dirty="0"/>
              <a:t>:</a:t>
            </a:r>
          </a:p>
          <a:p>
            <a:pPr marL="1200150" lvl="2" indent="-342900">
              <a:buFont typeface="Arial"/>
              <a:buChar char="•"/>
              <a:defRPr/>
            </a:pPr>
            <a:r>
              <a:rPr lang="es-ES" dirty="0"/>
              <a:t>Un cuerpo de coordinación central </a:t>
            </a:r>
            <a:r>
              <a:rPr lang="en-GB" dirty="0"/>
              <a:t>o</a:t>
            </a:r>
          </a:p>
          <a:p>
            <a:pPr marL="1200150" lvl="2" indent="-285750">
              <a:buFont typeface="Arial"/>
              <a:buChar char="•"/>
              <a:defRPr/>
            </a:pPr>
            <a:r>
              <a:rPr lang="en-GB" dirty="0"/>
              <a:t>Software de </a:t>
            </a:r>
            <a:r>
              <a:rPr lang="en-GB" dirty="0" err="1"/>
              <a:t>alineamiento</a:t>
            </a:r>
            <a:r>
              <a:rPr lang="en-GB" dirty="0"/>
              <a:t> de </a:t>
            </a:r>
            <a:r>
              <a:rPr lang="en-GB" dirty="0" err="1"/>
              <a:t>ontolog</a:t>
            </a:r>
            <a:r>
              <a:rPr lang="es-ES" dirty="0" err="1"/>
              <a:t>ías</a:t>
            </a:r>
            <a:endParaRPr lang="en-GB" dirty="0"/>
          </a:p>
          <a:p>
            <a:pPr marL="1200150" lvl="2" indent="-285750">
              <a:buFont typeface="Arial"/>
              <a:buChar char="•"/>
              <a:defRPr/>
            </a:pPr>
            <a:r>
              <a:rPr lang="en-GB" dirty="0" err="1"/>
              <a:t>Coincidencia</a:t>
            </a:r>
            <a:endParaRPr lang="en-GB" dirty="0"/>
          </a:p>
          <a:p>
            <a:pPr marL="800100" lvl="1" indent="-342900">
              <a:buFont typeface="Arial"/>
              <a:buChar char="•"/>
              <a:defRPr/>
            </a:pPr>
            <a:r>
              <a:rPr lang="en-GB" dirty="0" err="1"/>
              <a:t>Trabajo</a:t>
            </a:r>
            <a:r>
              <a:rPr lang="en-GB" dirty="0"/>
              <a:t> </a:t>
            </a:r>
            <a:r>
              <a:rPr lang="en-GB" dirty="0" err="1"/>
              <a:t>solapado</a:t>
            </a:r>
            <a:r>
              <a:rPr lang="en-GB" dirty="0"/>
              <a:t> – </a:t>
            </a:r>
            <a:r>
              <a:rPr lang="en-GB" dirty="0" err="1"/>
              <a:t>algunos</a:t>
            </a:r>
            <a:r>
              <a:rPr lang="en-GB" dirty="0"/>
              <a:t> </a:t>
            </a:r>
            <a:r>
              <a:rPr lang="en-GB" dirty="0" err="1"/>
              <a:t>conceptos</a:t>
            </a:r>
            <a:r>
              <a:rPr lang="en-GB" dirty="0"/>
              <a:t> </a:t>
            </a:r>
            <a:r>
              <a:rPr lang="en-GB" dirty="0" err="1"/>
              <a:t>definidos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m</a:t>
            </a:r>
            <a:r>
              <a:rPr lang="es-ES" dirty="0" err="1"/>
              <a:t>últiples</a:t>
            </a:r>
            <a:r>
              <a:rPr lang="es-ES" dirty="0"/>
              <a:t> ontologías, de la misma manera o (incluso peor) de manera diferente</a:t>
            </a:r>
            <a:endParaRPr lang="en-GB" dirty="0"/>
          </a:p>
        </p:txBody>
      </p:sp>
      <p:sp>
        <p:nvSpPr>
          <p:cNvPr id="44036" name="AutoShape 4">
            <a:extLst>
              <a:ext uri="{FF2B5EF4-FFF2-40B4-BE49-F238E27FC236}">
                <a16:creationId xmlns:a16="http://schemas.microsoft.com/office/drawing/2014/main" id="{F398754F-1493-B843-8527-48443DA329F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44208" y="5013176"/>
            <a:ext cx="287635" cy="304800"/>
          </a:xfrm>
          <a:prstGeom prst="diamond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 typeface="Times New Roman" charset="0"/>
              <a:buNone/>
              <a:defRPr/>
            </a:pPr>
            <a:r>
              <a:rPr lang="en-GB" dirty="0">
                <a:latin typeface="Arial" charset="0"/>
                <a:ea typeface="ＭＳ Ｐゴシック" charset="0"/>
                <a:cs typeface="ＭＳ Ｐゴシック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79540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03C38C4-E812-A148-BDA7-D831839D8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r>
              <a:rPr lang="en-GB" dirty="0"/>
              <a:t>Mix / </a:t>
            </a:r>
            <a:r>
              <a:rPr lang="en-GB" dirty="0" err="1"/>
              <a:t>Otras</a:t>
            </a:r>
            <a:r>
              <a:rPr lang="en-GB" dirty="0"/>
              <a:t> </a:t>
            </a:r>
            <a:r>
              <a:rPr lang="en-GB" dirty="0" err="1"/>
              <a:t>maneras</a:t>
            </a:r>
            <a:endParaRPr lang="en-GB" dirty="0"/>
          </a:p>
        </p:txBody>
      </p:sp>
      <p:sp>
        <p:nvSpPr>
          <p:cNvPr id="45059" name="Line 3">
            <a:extLst>
              <a:ext uri="{FF2B5EF4-FFF2-40B4-BE49-F238E27FC236}">
                <a16:creationId xmlns:a16="http://schemas.microsoft.com/office/drawing/2014/main" id="{4EEE0BED-D162-6E45-80A1-662B26964F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1752600"/>
            <a:ext cx="0" cy="464820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5060" name="Line 4">
            <a:extLst>
              <a:ext uri="{FF2B5EF4-FFF2-40B4-BE49-F238E27FC236}">
                <a16:creationId xmlns:a16="http://schemas.microsoft.com/office/drawing/2014/main" id="{820B9465-FEF8-B648-B818-5B34F34D98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4550" y="4038600"/>
            <a:ext cx="766603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5229" name="Group 173">
            <a:extLst>
              <a:ext uri="{FF2B5EF4-FFF2-40B4-BE49-F238E27FC236}">
                <a16:creationId xmlns:a16="http://schemas.microsoft.com/office/drawing/2014/main" id="{CC0A515B-E690-974E-95A0-13B9BD835904}"/>
              </a:ext>
            </a:extLst>
          </p:cNvPr>
          <p:cNvGrpSpPr>
            <a:grpSpLocks/>
          </p:cNvGrpSpPr>
          <p:nvPr/>
        </p:nvGrpSpPr>
        <p:grpSpPr bwMode="auto">
          <a:xfrm>
            <a:off x="505185" y="1514475"/>
            <a:ext cx="3784240" cy="2305050"/>
            <a:chOff x="345" y="954"/>
            <a:chExt cx="2582" cy="1452"/>
          </a:xfrm>
        </p:grpSpPr>
        <p:grpSp>
          <p:nvGrpSpPr>
            <p:cNvPr id="134215" name="Group 158">
              <a:extLst>
                <a:ext uri="{FF2B5EF4-FFF2-40B4-BE49-F238E27FC236}">
                  <a16:creationId xmlns:a16="http://schemas.microsoft.com/office/drawing/2014/main" id="{D01434D1-812F-D943-B287-7D8F6DFCDC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960"/>
              <a:ext cx="2015" cy="1446"/>
              <a:chOff x="912" y="960"/>
              <a:chExt cx="2015" cy="1446"/>
            </a:xfrm>
          </p:grpSpPr>
          <p:sp>
            <p:nvSpPr>
              <p:cNvPr id="45138" name="Oval 82">
                <a:extLst>
                  <a:ext uri="{FF2B5EF4-FFF2-40B4-BE49-F238E27FC236}">
                    <a16:creationId xmlns:a16="http://schemas.microsoft.com/office/drawing/2014/main" id="{D8167163-5169-D742-9B18-8C3885C03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" y="1377"/>
                <a:ext cx="572" cy="57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 sz="3000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  <a:endParaRPr lang="en-GB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0" name="Rectangle 84">
                <a:extLst>
                  <a:ext uri="{FF2B5EF4-FFF2-40B4-BE49-F238E27FC236}">
                    <a16:creationId xmlns:a16="http://schemas.microsoft.com/office/drawing/2014/main" id="{8BF34AFE-EC3D-7248-B6E3-8D1D1279BD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" y="2160"/>
                <a:ext cx="247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2" name="Rectangle 86">
                <a:extLst>
                  <a:ext uri="{FF2B5EF4-FFF2-40B4-BE49-F238E27FC236}">
                    <a16:creationId xmlns:a16="http://schemas.microsoft.com/office/drawing/2014/main" id="{16DA0119-F1B5-9A43-9513-3B6F51215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459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3" name="Rectangle 87">
                <a:extLst>
                  <a:ext uri="{FF2B5EF4-FFF2-40B4-BE49-F238E27FC236}">
                    <a16:creationId xmlns:a16="http://schemas.microsoft.com/office/drawing/2014/main" id="{9ED1BAE0-F722-D948-8C1E-2B605035F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8" y="1104"/>
                <a:ext cx="247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5" name="Rectangle 89">
                <a:extLst>
                  <a:ext uri="{FF2B5EF4-FFF2-40B4-BE49-F238E27FC236}">
                    <a16:creationId xmlns:a16="http://schemas.microsoft.com/office/drawing/2014/main" id="{0EDD2B10-10A4-2D42-8E19-311837DCC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" y="960"/>
                <a:ext cx="247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6" name="Rectangle 90">
                <a:extLst>
                  <a:ext uri="{FF2B5EF4-FFF2-40B4-BE49-F238E27FC236}">
                    <a16:creationId xmlns:a16="http://schemas.microsoft.com/office/drawing/2014/main" id="{D6405BE2-BDBD-F040-9B79-1EBFEDB2B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914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56" name="Oval 100">
                <a:extLst>
                  <a:ext uri="{FF2B5EF4-FFF2-40B4-BE49-F238E27FC236}">
                    <a16:creationId xmlns:a16="http://schemas.microsoft.com/office/drawing/2014/main" id="{451DB6BD-AE75-0049-9D6E-3F99C52EF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4" y="1008"/>
                <a:ext cx="237" cy="23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cxnSp>
            <p:nvCxnSpPr>
              <p:cNvPr id="45157" name="AutoShape 101">
                <a:extLst>
                  <a:ext uri="{FF2B5EF4-FFF2-40B4-BE49-F238E27FC236}">
                    <a16:creationId xmlns:a16="http://schemas.microsoft.com/office/drawing/2014/main" id="{17070D61-ADF2-6545-B7B4-4941199D1DA7}"/>
                  </a:ext>
                </a:extLst>
              </p:cNvPr>
              <p:cNvCxnSpPr>
                <a:cxnSpLocks noChangeShapeType="1"/>
                <a:stCxn id="45145" idx="3"/>
                <a:endCxn id="45156" idx="2"/>
              </p:cNvCxnSpPr>
              <p:nvPr/>
            </p:nvCxnSpPr>
            <p:spPr bwMode="auto">
              <a:xfrm>
                <a:off x="1400" y="1083"/>
                <a:ext cx="234" cy="4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159" name="AutoShape 103">
                <a:extLst>
                  <a:ext uri="{FF2B5EF4-FFF2-40B4-BE49-F238E27FC236}">
                    <a16:creationId xmlns:a16="http://schemas.microsoft.com/office/drawing/2014/main" id="{7415F420-47A2-CA44-A146-4A30EB8174B0}"/>
                  </a:ext>
                </a:extLst>
              </p:cNvPr>
              <p:cNvCxnSpPr>
                <a:cxnSpLocks noChangeShapeType="1"/>
                <a:stCxn id="45143" idx="3"/>
                <a:endCxn id="45160" idx="1"/>
              </p:cNvCxnSpPr>
              <p:nvPr/>
            </p:nvCxnSpPr>
            <p:spPr bwMode="auto">
              <a:xfrm>
                <a:off x="2502" y="1227"/>
                <a:ext cx="221" cy="24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60" name="Oval 104">
                <a:extLst>
                  <a:ext uri="{FF2B5EF4-FFF2-40B4-BE49-F238E27FC236}">
                    <a16:creationId xmlns:a16="http://schemas.microsoft.com/office/drawing/2014/main" id="{C14B77FD-FB69-D042-BE97-2A7ED8280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440"/>
                <a:ext cx="239" cy="23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cxnSp>
            <p:nvCxnSpPr>
              <p:cNvPr id="45162" name="AutoShape 106">
                <a:extLst>
                  <a:ext uri="{FF2B5EF4-FFF2-40B4-BE49-F238E27FC236}">
                    <a16:creationId xmlns:a16="http://schemas.microsoft.com/office/drawing/2014/main" id="{C6EF2179-98C5-874E-A6FE-45FD4A091AB5}"/>
                  </a:ext>
                </a:extLst>
              </p:cNvPr>
              <p:cNvCxnSpPr>
                <a:cxnSpLocks noChangeShapeType="1"/>
                <a:stCxn id="45146" idx="1"/>
                <a:endCxn id="45163" idx="5"/>
              </p:cNvCxnSpPr>
              <p:nvPr/>
            </p:nvCxnSpPr>
            <p:spPr bwMode="auto">
              <a:xfrm flipH="1" flipV="1">
                <a:off x="2414" y="1980"/>
                <a:ext cx="226" cy="5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63" name="Oval 107">
                <a:extLst>
                  <a:ext uri="{FF2B5EF4-FFF2-40B4-BE49-F238E27FC236}">
                    <a16:creationId xmlns:a16="http://schemas.microsoft.com/office/drawing/2014/main" id="{2A0BF1F6-D124-4E46-AF14-4D2A4884D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776"/>
                <a:ext cx="239" cy="23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cxnSp>
            <p:nvCxnSpPr>
              <p:cNvPr id="45171" name="AutoShape 115">
                <a:extLst>
                  <a:ext uri="{FF2B5EF4-FFF2-40B4-BE49-F238E27FC236}">
                    <a16:creationId xmlns:a16="http://schemas.microsoft.com/office/drawing/2014/main" id="{313F1A17-A069-5740-A90B-A66C45165CF3}"/>
                  </a:ext>
                </a:extLst>
              </p:cNvPr>
              <p:cNvCxnSpPr>
                <a:cxnSpLocks noChangeShapeType="1"/>
                <a:stCxn id="45140" idx="3"/>
                <a:endCxn id="45172" idx="2"/>
              </p:cNvCxnSpPr>
              <p:nvPr/>
            </p:nvCxnSpPr>
            <p:spPr bwMode="auto">
              <a:xfrm flipV="1">
                <a:off x="1257" y="2280"/>
                <a:ext cx="471" cy="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72" name="Oval 116">
                <a:extLst>
                  <a:ext uri="{FF2B5EF4-FFF2-40B4-BE49-F238E27FC236}">
                    <a16:creationId xmlns:a16="http://schemas.microsoft.com/office/drawing/2014/main" id="{45CCD67E-9180-6041-A6E6-1FF133FDC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160"/>
                <a:ext cx="239" cy="23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cxnSp>
            <p:nvCxnSpPr>
              <p:cNvPr id="45174" name="AutoShape 118">
                <a:extLst>
                  <a:ext uri="{FF2B5EF4-FFF2-40B4-BE49-F238E27FC236}">
                    <a16:creationId xmlns:a16="http://schemas.microsoft.com/office/drawing/2014/main" id="{B24E4F23-904F-5E4B-A083-A1414CA6DD67}"/>
                  </a:ext>
                </a:extLst>
              </p:cNvPr>
              <p:cNvCxnSpPr>
                <a:cxnSpLocks noChangeShapeType="1"/>
                <a:stCxn id="45142" idx="2"/>
                <a:endCxn id="45175" idx="1"/>
              </p:cNvCxnSpPr>
              <p:nvPr/>
            </p:nvCxnSpPr>
            <p:spPr bwMode="auto">
              <a:xfrm>
                <a:off x="1036" y="1705"/>
                <a:ext cx="78" cy="11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75" name="Oval 119">
                <a:extLst>
                  <a:ext uri="{FF2B5EF4-FFF2-40B4-BE49-F238E27FC236}">
                    <a16:creationId xmlns:a16="http://schemas.microsoft.com/office/drawing/2014/main" id="{FFBCF0DD-0FB1-8247-BBE6-FA95BA1C9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9" y="1781"/>
                <a:ext cx="239" cy="23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cxnSp>
            <p:nvCxnSpPr>
              <p:cNvPr id="45176" name="AutoShape 120">
                <a:extLst>
                  <a:ext uri="{FF2B5EF4-FFF2-40B4-BE49-F238E27FC236}">
                    <a16:creationId xmlns:a16="http://schemas.microsoft.com/office/drawing/2014/main" id="{E5F78395-EBBC-1047-8073-20C82CBE9AD2}"/>
                  </a:ext>
                </a:extLst>
              </p:cNvPr>
              <p:cNvCxnSpPr>
                <a:cxnSpLocks noChangeShapeType="1"/>
                <a:stCxn id="45175" idx="6"/>
                <a:endCxn id="45138" idx="2"/>
              </p:cNvCxnSpPr>
              <p:nvPr/>
            </p:nvCxnSpPr>
            <p:spPr bwMode="auto">
              <a:xfrm flipV="1">
                <a:off x="1321" y="1664"/>
                <a:ext cx="170" cy="23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177" name="AutoShape 121">
                <a:extLst>
                  <a:ext uri="{FF2B5EF4-FFF2-40B4-BE49-F238E27FC236}">
                    <a16:creationId xmlns:a16="http://schemas.microsoft.com/office/drawing/2014/main" id="{CF4DAC16-6FAA-1E47-A7F0-B29BB437A0ED}"/>
                  </a:ext>
                </a:extLst>
              </p:cNvPr>
              <p:cNvCxnSpPr>
                <a:cxnSpLocks noChangeShapeType="1"/>
                <a:stCxn id="45172" idx="0"/>
                <a:endCxn id="45138" idx="4"/>
              </p:cNvCxnSpPr>
              <p:nvPr/>
            </p:nvCxnSpPr>
            <p:spPr bwMode="auto">
              <a:xfrm flipH="1" flipV="1">
                <a:off x="1777" y="1951"/>
                <a:ext cx="74" cy="20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179" name="AutoShape 123">
                <a:extLst>
                  <a:ext uri="{FF2B5EF4-FFF2-40B4-BE49-F238E27FC236}">
                    <a16:creationId xmlns:a16="http://schemas.microsoft.com/office/drawing/2014/main" id="{698B0BE8-D138-934F-83CC-2A73D54F9036}"/>
                  </a:ext>
                </a:extLst>
              </p:cNvPr>
              <p:cNvCxnSpPr>
                <a:cxnSpLocks noChangeShapeType="1"/>
                <a:stCxn id="45156" idx="4"/>
                <a:endCxn id="45138" idx="0"/>
              </p:cNvCxnSpPr>
              <p:nvPr/>
            </p:nvCxnSpPr>
            <p:spPr bwMode="auto">
              <a:xfrm>
                <a:off x="1752" y="1247"/>
                <a:ext cx="25" cy="13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180" name="AutoShape 124">
                <a:extLst>
                  <a:ext uri="{FF2B5EF4-FFF2-40B4-BE49-F238E27FC236}">
                    <a16:creationId xmlns:a16="http://schemas.microsoft.com/office/drawing/2014/main" id="{B9A9D591-D18E-BD4E-9335-7C7AA98C0092}"/>
                  </a:ext>
                </a:extLst>
              </p:cNvPr>
              <p:cNvCxnSpPr>
                <a:cxnSpLocks noChangeShapeType="1"/>
                <a:stCxn id="45163" idx="2"/>
                <a:endCxn id="45138" idx="6"/>
              </p:cNvCxnSpPr>
              <p:nvPr/>
            </p:nvCxnSpPr>
            <p:spPr bwMode="auto">
              <a:xfrm flipH="1" flipV="1">
                <a:off x="2063" y="1664"/>
                <a:ext cx="145" cy="23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186" name="AutoShape 130">
                <a:extLst>
                  <a:ext uri="{FF2B5EF4-FFF2-40B4-BE49-F238E27FC236}">
                    <a16:creationId xmlns:a16="http://schemas.microsoft.com/office/drawing/2014/main" id="{2E657D07-B923-B947-B5E9-BBEBB81C1BBE}"/>
                  </a:ext>
                </a:extLst>
              </p:cNvPr>
              <p:cNvCxnSpPr>
                <a:cxnSpLocks noChangeShapeType="1"/>
                <a:stCxn id="45160" idx="2"/>
                <a:endCxn id="45138" idx="7"/>
              </p:cNvCxnSpPr>
              <p:nvPr/>
            </p:nvCxnSpPr>
            <p:spPr bwMode="auto">
              <a:xfrm flipH="1" flipV="1">
                <a:off x="1977" y="1461"/>
                <a:ext cx="711" cy="9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5228" name="Text Box 172">
              <a:extLst>
                <a:ext uri="{FF2B5EF4-FFF2-40B4-BE49-F238E27FC236}">
                  <a16:creationId xmlns:a16="http://schemas.microsoft.com/office/drawing/2014/main" id="{7343E36A-38E5-5542-A925-4C1FB8A48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" y="954"/>
              <a:ext cx="80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GB" sz="1800" i="1" dirty="0" err="1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Ontolog</a:t>
              </a:r>
              <a:r>
                <a:rPr lang="es-ES" sz="1800" i="1" dirty="0" err="1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ía</a:t>
              </a:r>
              <a:endParaRPr lang="es-ES" sz="1800" i="1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  <a:p>
              <a:pPr>
                <a:buFont typeface="Times New Roman" charset="0"/>
                <a:buNone/>
                <a:defRPr/>
              </a:pPr>
              <a:r>
                <a:rPr lang="es-ES" sz="1800" i="1" dirty="0">
                  <a:solidFill>
                    <a:srgbClr val="000000"/>
                  </a:solidFill>
                  <a:cs typeface="ＭＳ Ｐゴシック" charset="0"/>
                </a:rPr>
                <a:t>superior</a:t>
              </a:r>
              <a:endParaRPr lang="en-GB" sz="1800" i="1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5233" name="Group 177">
            <a:extLst>
              <a:ext uri="{FF2B5EF4-FFF2-40B4-BE49-F238E27FC236}">
                <a16:creationId xmlns:a16="http://schemas.microsoft.com/office/drawing/2014/main" id="{467D8ADB-BCD4-864D-9F14-7EB53D353DB6}"/>
              </a:ext>
            </a:extLst>
          </p:cNvPr>
          <p:cNvGrpSpPr>
            <a:grpSpLocks/>
          </p:cNvGrpSpPr>
          <p:nvPr/>
        </p:nvGrpSpPr>
        <p:grpSpPr bwMode="auto">
          <a:xfrm>
            <a:off x="4708525" y="1319213"/>
            <a:ext cx="3705225" cy="2608262"/>
            <a:chOff x="3213" y="831"/>
            <a:chExt cx="2529" cy="1643"/>
          </a:xfrm>
        </p:grpSpPr>
        <p:grpSp>
          <p:nvGrpSpPr>
            <p:cNvPr id="134184" name="Group 148">
              <a:extLst>
                <a:ext uri="{FF2B5EF4-FFF2-40B4-BE49-F238E27FC236}">
                  <a16:creationId xmlns:a16="http://schemas.microsoft.com/office/drawing/2014/main" id="{77C7D157-CDBF-3248-A440-19A321527A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3" y="831"/>
              <a:ext cx="2529" cy="1643"/>
              <a:chOff x="3213" y="831"/>
              <a:chExt cx="2529" cy="1643"/>
            </a:xfrm>
          </p:grpSpPr>
          <p:sp>
            <p:nvSpPr>
              <p:cNvPr id="45109" name="Rectangle 53">
                <a:extLst>
                  <a:ext uri="{FF2B5EF4-FFF2-40B4-BE49-F238E27FC236}">
                    <a16:creationId xmlns:a16="http://schemas.microsoft.com/office/drawing/2014/main" id="{D827D05B-024E-934C-8034-96E96A6266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160"/>
                <a:ext cx="238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1" name="Rectangle 55">
                <a:extLst>
                  <a:ext uri="{FF2B5EF4-FFF2-40B4-BE49-F238E27FC236}">
                    <a16:creationId xmlns:a16="http://schemas.microsoft.com/office/drawing/2014/main" id="{9E8B03FB-C9E2-5F46-A633-A4BD7039C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6"/>
                <a:ext cx="239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2" name="Rectangle 56">
                <a:extLst>
                  <a:ext uri="{FF2B5EF4-FFF2-40B4-BE49-F238E27FC236}">
                    <a16:creationId xmlns:a16="http://schemas.microsoft.com/office/drawing/2014/main" id="{4F8EA968-54FA-B342-84DA-6CB7342A3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" y="1008"/>
                <a:ext cx="239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4" name="Rectangle 58">
                <a:extLst>
                  <a:ext uri="{FF2B5EF4-FFF2-40B4-BE49-F238E27FC236}">
                    <a16:creationId xmlns:a16="http://schemas.microsoft.com/office/drawing/2014/main" id="{730E5A66-170F-7747-91C4-9904D48B9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5" y="1048"/>
                <a:ext cx="236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5" name="Rectangle 59">
                <a:extLst>
                  <a:ext uri="{FF2B5EF4-FFF2-40B4-BE49-F238E27FC236}">
                    <a16:creationId xmlns:a16="http://schemas.microsoft.com/office/drawing/2014/main" id="{B3D8810A-53DD-F540-A27F-1D4511A14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7" y="1888"/>
                <a:ext cx="239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134191" name="Group 60">
                <a:extLst>
                  <a:ext uri="{FF2B5EF4-FFF2-40B4-BE49-F238E27FC236}">
                    <a16:creationId xmlns:a16="http://schemas.microsoft.com/office/drawing/2014/main" id="{77B48859-B8E9-694D-9CD8-BED837A97A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4" y="1008"/>
                <a:ext cx="358" cy="239"/>
                <a:chOff x="4128" y="2304"/>
                <a:chExt cx="432" cy="288"/>
              </a:xfrm>
            </p:grpSpPr>
            <p:sp>
              <p:nvSpPr>
                <p:cNvPr id="45117" name="Oval 61">
                  <a:extLst>
                    <a:ext uri="{FF2B5EF4-FFF2-40B4-BE49-F238E27FC236}">
                      <a16:creationId xmlns:a16="http://schemas.microsoft.com/office/drawing/2014/main" id="{5257188C-4D8C-B549-84F2-5A196CC8F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2" y="2304"/>
                  <a:ext cx="292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buFont typeface="Times New Roman" charset="0"/>
                    <a:buNone/>
                    <a:defRPr/>
                  </a:pPr>
                  <a:r>
                    <a:rPr lang="en-GB">
                      <a:latin typeface="Arial" charset="0"/>
                      <a:ea typeface="ＭＳ Ｐゴシック" charset="0"/>
                      <a:cs typeface="ＭＳ Ｐゴシック" charset="0"/>
                    </a:rPr>
                    <a:t>O</a:t>
                  </a:r>
                </a:p>
              </p:txBody>
            </p:sp>
            <p:cxnSp>
              <p:nvCxnSpPr>
                <p:cNvPr id="45118" name="AutoShape 62">
                  <a:extLst>
                    <a:ext uri="{FF2B5EF4-FFF2-40B4-BE49-F238E27FC236}">
                      <a16:creationId xmlns:a16="http://schemas.microsoft.com/office/drawing/2014/main" id="{E2B63FAE-393F-7B44-BE44-497667145F27}"/>
                    </a:ext>
                  </a:extLst>
                </p:cNvPr>
                <p:cNvCxnSpPr>
                  <a:cxnSpLocks noChangeShapeType="1"/>
                  <a:stCxn id="45114" idx="3"/>
                  <a:endCxn id="45117" idx="2"/>
                </p:cNvCxnSpPr>
                <p:nvPr/>
              </p:nvCxnSpPr>
              <p:spPr bwMode="auto">
                <a:xfrm flipV="1">
                  <a:off x="4128" y="2449"/>
                  <a:ext cx="144" cy="47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34192" name="Group 63">
                <a:extLst>
                  <a:ext uri="{FF2B5EF4-FFF2-40B4-BE49-F238E27FC236}">
                    <a16:creationId xmlns:a16="http://schemas.microsoft.com/office/drawing/2014/main" id="{3C9A558F-ABBB-D841-831C-F6D23CAD16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50" y="1088"/>
                <a:ext cx="478" cy="239"/>
                <a:chOff x="5136" y="2400"/>
                <a:chExt cx="576" cy="288"/>
              </a:xfrm>
            </p:grpSpPr>
            <p:cxnSp>
              <p:nvCxnSpPr>
                <p:cNvPr id="45120" name="AutoShape 64">
                  <a:extLst>
                    <a:ext uri="{FF2B5EF4-FFF2-40B4-BE49-F238E27FC236}">
                      <a16:creationId xmlns:a16="http://schemas.microsoft.com/office/drawing/2014/main" id="{F2E06A6C-80ED-4A4E-8387-771AF789043F}"/>
                    </a:ext>
                  </a:extLst>
                </p:cNvPr>
                <p:cNvCxnSpPr>
                  <a:cxnSpLocks noChangeShapeType="1"/>
                  <a:stCxn id="45112" idx="3"/>
                  <a:endCxn id="45121" idx="1"/>
                </p:cNvCxnSpPr>
                <p:nvPr/>
              </p:nvCxnSpPr>
              <p:spPr bwMode="auto">
                <a:xfrm flipV="1">
                  <a:off x="5136" y="2442"/>
                  <a:ext cx="330" cy="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5121" name="Oval 65">
                  <a:extLst>
                    <a:ext uri="{FF2B5EF4-FFF2-40B4-BE49-F238E27FC236}">
                      <a16:creationId xmlns:a16="http://schemas.microsoft.com/office/drawing/2014/main" id="{7A2AD958-C123-D944-BB89-427F1FFE5C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25" y="2400"/>
                  <a:ext cx="287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buFont typeface="Times New Roman" charset="0"/>
                    <a:buNone/>
                    <a:defRPr/>
                  </a:pPr>
                  <a:r>
                    <a:rPr lang="en-GB">
                      <a:latin typeface="Arial" charset="0"/>
                      <a:ea typeface="ＭＳ Ｐゴシック" charset="0"/>
                      <a:cs typeface="ＭＳ Ｐゴシック" charset="0"/>
                    </a:rPr>
                    <a:t>O</a:t>
                  </a:r>
                </a:p>
              </p:txBody>
            </p:sp>
          </p:grpSp>
          <p:grpSp>
            <p:nvGrpSpPr>
              <p:cNvPr id="134193" name="Group 66">
                <a:extLst>
                  <a:ext uri="{FF2B5EF4-FFF2-40B4-BE49-F238E27FC236}">
                    <a16:creationId xmlns:a16="http://schemas.microsoft.com/office/drawing/2014/main" id="{DBD3C0A2-C59A-3641-9672-7B905D9C3C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79" y="1728"/>
                <a:ext cx="398" cy="279"/>
                <a:chOff x="4656" y="2736"/>
                <a:chExt cx="480" cy="336"/>
              </a:xfrm>
            </p:grpSpPr>
            <p:cxnSp>
              <p:nvCxnSpPr>
                <p:cNvPr id="45123" name="AutoShape 67">
                  <a:extLst>
                    <a:ext uri="{FF2B5EF4-FFF2-40B4-BE49-F238E27FC236}">
                      <a16:creationId xmlns:a16="http://schemas.microsoft.com/office/drawing/2014/main" id="{4722F56C-39F7-F445-9618-4D4AFF1B5B4E}"/>
                    </a:ext>
                  </a:extLst>
                </p:cNvPr>
                <p:cNvCxnSpPr>
                  <a:cxnSpLocks noChangeShapeType="1"/>
                  <a:stCxn id="45115" idx="1"/>
                  <a:endCxn id="45124" idx="5"/>
                </p:cNvCxnSpPr>
                <p:nvPr/>
              </p:nvCxnSpPr>
              <p:spPr bwMode="auto">
                <a:xfrm flipH="1" flipV="1">
                  <a:off x="4902" y="2982"/>
                  <a:ext cx="234" cy="9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5124" name="Oval 68">
                  <a:extLst>
                    <a:ext uri="{FF2B5EF4-FFF2-40B4-BE49-F238E27FC236}">
                      <a16:creationId xmlns:a16="http://schemas.microsoft.com/office/drawing/2014/main" id="{36583AD6-C459-8A48-9FA3-A1E771638D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6" y="2736"/>
                  <a:ext cx="286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buFont typeface="Times New Roman" charset="0"/>
                    <a:buNone/>
                    <a:defRPr/>
                  </a:pPr>
                  <a:r>
                    <a:rPr lang="en-GB">
                      <a:latin typeface="Arial" charset="0"/>
                      <a:ea typeface="ＭＳ Ｐゴシック" charset="0"/>
                      <a:cs typeface="ＭＳ Ｐゴシック" charset="0"/>
                    </a:rPr>
                    <a:t>O</a:t>
                  </a:r>
                </a:p>
              </p:txBody>
            </p:sp>
          </p:grpSp>
          <p:cxnSp>
            <p:nvCxnSpPr>
              <p:cNvPr id="45132" name="AutoShape 76">
                <a:extLst>
                  <a:ext uri="{FF2B5EF4-FFF2-40B4-BE49-F238E27FC236}">
                    <a16:creationId xmlns:a16="http://schemas.microsoft.com/office/drawing/2014/main" id="{02CB952B-2170-004C-BF76-B307D3F0BB17}"/>
                  </a:ext>
                </a:extLst>
              </p:cNvPr>
              <p:cNvCxnSpPr>
                <a:cxnSpLocks noChangeShapeType="1"/>
                <a:stCxn id="45109" idx="3"/>
                <a:endCxn id="45133" idx="2"/>
              </p:cNvCxnSpPr>
              <p:nvPr/>
            </p:nvCxnSpPr>
            <p:spPr bwMode="auto">
              <a:xfrm flipV="1">
                <a:off x="3791" y="2203"/>
                <a:ext cx="143" cy="7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33" name="Oval 77">
                <a:extLst>
                  <a:ext uri="{FF2B5EF4-FFF2-40B4-BE49-F238E27FC236}">
                    <a16:creationId xmlns:a16="http://schemas.microsoft.com/office/drawing/2014/main" id="{77D1140B-4D82-A448-B3A4-12894842E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" y="2083"/>
                <a:ext cx="239" cy="23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cxnSp>
            <p:nvCxnSpPr>
              <p:cNvPr id="45135" name="AutoShape 79">
                <a:extLst>
                  <a:ext uri="{FF2B5EF4-FFF2-40B4-BE49-F238E27FC236}">
                    <a16:creationId xmlns:a16="http://schemas.microsoft.com/office/drawing/2014/main" id="{6B6E3CBF-C06F-164E-A5D0-5D74E19CBB82}"/>
                  </a:ext>
                </a:extLst>
              </p:cNvPr>
              <p:cNvCxnSpPr>
                <a:cxnSpLocks noChangeShapeType="1"/>
                <a:stCxn id="45111" idx="2"/>
                <a:endCxn id="45136" idx="0"/>
              </p:cNvCxnSpPr>
              <p:nvPr/>
            </p:nvCxnSpPr>
            <p:spPr bwMode="auto">
              <a:xfrm flipH="1">
                <a:off x="3480" y="1685"/>
                <a:ext cx="96" cy="20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36" name="Oval 80">
                <a:extLst>
                  <a:ext uri="{FF2B5EF4-FFF2-40B4-BE49-F238E27FC236}">
                    <a16:creationId xmlns:a16="http://schemas.microsoft.com/office/drawing/2014/main" id="{66FE8F82-6816-7F4F-9FE2-4E49FF74E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886"/>
                <a:ext cx="236" cy="23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sp>
            <p:nvSpPr>
              <p:cNvPr id="45187" name="Oval 131">
                <a:extLst>
                  <a:ext uri="{FF2B5EF4-FFF2-40B4-BE49-F238E27FC236}">
                    <a16:creationId xmlns:a16="http://schemas.microsoft.com/office/drawing/2014/main" id="{645F9CBC-1491-D84F-9340-836212015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" y="1344"/>
                <a:ext cx="388" cy="3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 sz="3000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  <a:endParaRPr lang="en-GB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cxnSp>
            <p:nvCxnSpPr>
              <p:cNvPr id="45188" name="AutoShape 132">
                <a:extLst>
                  <a:ext uri="{FF2B5EF4-FFF2-40B4-BE49-F238E27FC236}">
                    <a16:creationId xmlns:a16="http://schemas.microsoft.com/office/drawing/2014/main" id="{C10F1905-DBD3-4E40-8E84-A9FF944ECC15}"/>
                  </a:ext>
                </a:extLst>
              </p:cNvPr>
              <p:cNvCxnSpPr>
                <a:cxnSpLocks noChangeShapeType="1"/>
                <a:stCxn id="45124" idx="6"/>
                <a:endCxn id="45187" idx="3"/>
              </p:cNvCxnSpPr>
              <p:nvPr/>
            </p:nvCxnSpPr>
            <p:spPr bwMode="auto">
              <a:xfrm flipV="1">
                <a:off x="5218" y="1675"/>
                <a:ext cx="74" cy="17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189" name="AutoShape 133">
                <a:extLst>
                  <a:ext uri="{FF2B5EF4-FFF2-40B4-BE49-F238E27FC236}">
                    <a16:creationId xmlns:a16="http://schemas.microsoft.com/office/drawing/2014/main" id="{EE3FC710-30EE-E641-B4D5-D00AB06CB8EA}"/>
                  </a:ext>
                </a:extLst>
              </p:cNvPr>
              <p:cNvCxnSpPr>
                <a:cxnSpLocks noChangeShapeType="1"/>
                <a:stCxn id="45187" idx="1"/>
                <a:endCxn id="45121" idx="5"/>
              </p:cNvCxnSpPr>
              <p:nvPr/>
            </p:nvCxnSpPr>
            <p:spPr bwMode="auto">
              <a:xfrm flipV="1">
                <a:off x="5289" y="1292"/>
                <a:ext cx="4" cy="10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90" name="Oval 134">
                <a:extLst>
                  <a:ext uri="{FF2B5EF4-FFF2-40B4-BE49-F238E27FC236}">
                    <a16:creationId xmlns:a16="http://schemas.microsoft.com/office/drawing/2014/main" id="{5421A6EB-8D4E-F944-9044-DD0DE41B2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584"/>
                <a:ext cx="388" cy="3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 sz="3000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  <a:endParaRPr lang="en-GB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cxnSp>
            <p:nvCxnSpPr>
              <p:cNvPr id="45191" name="AutoShape 135">
                <a:extLst>
                  <a:ext uri="{FF2B5EF4-FFF2-40B4-BE49-F238E27FC236}">
                    <a16:creationId xmlns:a16="http://schemas.microsoft.com/office/drawing/2014/main" id="{ED769B24-6BF5-2D4E-AFDF-3FFB429E9030}"/>
                  </a:ext>
                </a:extLst>
              </p:cNvPr>
              <p:cNvCxnSpPr>
                <a:cxnSpLocks noChangeShapeType="1"/>
                <a:stCxn id="45136" idx="7"/>
                <a:endCxn id="45190" idx="3"/>
              </p:cNvCxnSpPr>
              <p:nvPr/>
            </p:nvCxnSpPr>
            <p:spPr bwMode="auto">
              <a:xfrm flipV="1">
                <a:off x="3564" y="1915"/>
                <a:ext cx="285" cy="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192" name="AutoShape 136">
                <a:extLst>
                  <a:ext uri="{FF2B5EF4-FFF2-40B4-BE49-F238E27FC236}">
                    <a16:creationId xmlns:a16="http://schemas.microsoft.com/office/drawing/2014/main" id="{629B3494-D9A5-FC49-B024-4A7EB3265A4D}"/>
                  </a:ext>
                </a:extLst>
              </p:cNvPr>
              <p:cNvCxnSpPr>
                <a:cxnSpLocks noChangeShapeType="1"/>
                <a:stCxn id="45133" idx="0"/>
                <a:endCxn id="45190" idx="4"/>
              </p:cNvCxnSpPr>
              <p:nvPr/>
            </p:nvCxnSpPr>
            <p:spPr bwMode="auto">
              <a:xfrm flipH="1" flipV="1">
                <a:off x="3986" y="1972"/>
                <a:ext cx="68" cy="11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93" name="Oval 137">
                <a:extLst>
                  <a:ext uri="{FF2B5EF4-FFF2-40B4-BE49-F238E27FC236}">
                    <a16:creationId xmlns:a16="http://schemas.microsoft.com/office/drawing/2014/main" id="{699E1C8A-7AA1-3342-9414-2396366D8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344"/>
                <a:ext cx="388" cy="3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 sz="3000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  <a:endParaRPr lang="en-GB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cxnSp>
            <p:nvCxnSpPr>
              <p:cNvPr id="45194" name="AutoShape 138">
                <a:extLst>
                  <a:ext uri="{FF2B5EF4-FFF2-40B4-BE49-F238E27FC236}">
                    <a16:creationId xmlns:a16="http://schemas.microsoft.com/office/drawing/2014/main" id="{57E5869D-0B84-AC42-AF79-391A2205BE97}"/>
                  </a:ext>
                </a:extLst>
              </p:cNvPr>
              <p:cNvCxnSpPr>
                <a:cxnSpLocks noChangeShapeType="1"/>
                <a:stCxn id="45117" idx="4"/>
                <a:endCxn id="45193" idx="1"/>
              </p:cNvCxnSpPr>
              <p:nvPr/>
            </p:nvCxnSpPr>
            <p:spPr bwMode="auto">
              <a:xfrm>
                <a:off x="4253" y="1247"/>
                <a:ext cx="124" cy="15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195" name="Freeform 139">
                <a:extLst>
                  <a:ext uri="{FF2B5EF4-FFF2-40B4-BE49-F238E27FC236}">
                    <a16:creationId xmlns:a16="http://schemas.microsoft.com/office/drawing/2014/main" id="{36528F20-84FF-7044-8724-37514BD39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1370"/>
                <a:ext cx="1137" cy="1104"/>
              </a:xfrm>
              <a:custGeom>
                <a:avLst/>
                <a:gdLst>
                  <a:gd name="T0" fmla="*/ 350 w 1137"/>
                  <a:gd name="T1" fmla="*/ 1076 h 1104"/>
                  <a:gd name="T2" fmla="*/ 267 w 1137"/>
                  <a:gd name="T3" fmla="*/ 1048 h 1104"/>
                  <a:gd name="T4" fmla="*/ 193 w 1137"/>
                  <a:gd name="T5" fmla="*/ 1030 h 1104"/>
                  <a:gd name="T6" fmla="*/ 129 w 1137"/>
                  <a:gd name="T7" fmla="*/ 984 h 1104"/>
                  <a:gd name="T8" fmla="*/ 82 w 1137"/>
                  <a:gd name="T9" fmla="*/ 938 h 1104"/>
                  <a:gd name="T10" fmla="*/ 73 w 1137"/>
                  <a:gd name="T11" fmla="*/ 245 h 1104"/>
                  <a:gd name="T12" fmla="*/ 175 w 1137"/>
                  <a:gd name="T13" fmla="*/ 61 h 1104"/>
                  <a:gd name="T14" fmla="*/ 212 w 1137"/>
                  <a:gd name="T15" fmla="*/ 24 h 1104"/>
                  <a:gd name="T16" fmla="*/ 433 w 1137"/>
                  <a:gd name="T17" fmla="*/ 15 h 1104"/>
                  <a:gd name="T18" fmla="*/ 636 w 1137"/>
                  <a:gd name="T19" fmla="*/ 15 h 1104"/>
                  <a:gd name="T20" fmla="*/ 719 w 1137"/>
                  <a:gd name="T21" fmla="*/ 61 h 1104"/>
                  <a:gd name="T22" fmla="*/ 839 w 1137"/>
                  <a:gd name="T23" fmla="*/ 107 h 1104"/>
                  <a:gd name="T24" fmla="*/ 895 w 1137"/>
                  <a:gd name="T25" fmla="*/ 172 h 1104"/>
                  <a:gd name="T26" fmla="*/ 969 w 1137"/>
                  <a:gd name="T27" fmla="*/ 292 h 1104"/>
                  <a:gd name="T28" fmla="*/ 1015 w 1137"/>
                  <a:gd name="T29" fmla="*/ 338 h 1104"/>
                  <a:gd name="T30" fmla="*/ 1042 w 1137"/>
                  <a:gd name="T31" fmla="*/ 365 h 1104"/>
                  <a:gd name="T32" fmla="*/ 1052 w 1137"/>
                  <a:gd name="T33" fmla="*/ 393 h 1104"/>
                  <a:gd name="T34" fmla="*/ 1070 w 1137"/>
                  <a:gd name="T35" fmla="*/ 448 h 1104"/>
                  <a:gd name="T36" fmla="*/ 849 w 1137"/>
                  <a:gd name="T37" fmla="*/ 1085 h 1104"/>
                  <a:gd name="T38" fmla="*/ 664 w 1137"/>
                  <a:gd name="T39" fmla="*/ 1095 h 1104"/>
                  <a:gd name="T40" fmla="*/ 369 w 1137"/>
                  <a:gd name="T41" fmla="*/ 1085 h 1104"/>
                  <a:gd name="T42" fmla="*/ 350 w 1137"/>
                  <a:gd name="T43" fmla="*/ 1076 h 110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37" h="1104">
                    <a:moveTo>
                      <a:pt x="350" y="1076"/>
                    </a:moveTo>
                    <a:cubicBezTo>
                      <a:pt x="215" y="1050"/>
                      <a:pt x="385" y="1087"/>
                      <a:pt x="267" y="1048"/>
                    </a:cubicBezTo>
                    <a:cubicBezTo>
                      <a:pt x="243" y="1040"/>
                      <a:pt x="193" y="1030"/>
                      <a:pt x="193" y="1030"/>
                    </a:cubicBezTo>
                    <a:cubicBezTo>
                      <a:pt x="172" y="1014"/>
                      <a:pt x="149" y="1001"/>
                      <a:pt x="129" y="984"/>
                    </a:cubicBezTo>
                    <a:cubicBezTo>
                      <a:pt x="112" y="970"/>
                      <a:pt x="82" y="938"/>
                      <a:pt x="82" y="938"/>
                    </a:cubicBezTo>
                    <a:cubicBezTo>
                      <a:pt x="0" y="682"/>
                      <a:pt x="57" y="879"/>
                      <a:pt x="73" y="245"/>
                    </a:cubicBezTo>
                    <a:cubicBezTo>
                      <a:pt x="75" y="168"/>
                      <a:pt x="119" y="106"/>
                      <a:pt x="175" y="61"/>
                    </a:cubicBezTo>
                    <a:cubicBezTo>
                      <a:pt x="177" y="59"/>
                      <a:pt x="209" y="24"/>
                      <a:pt x="212" y="24"/>
                    </a:cubicBezTo>
                    <a:cubicBezTo>
                      <a:pt x="285" y="16"/>
                      <a:pt x="359" y="18"/>
                      <a:pt x="433" y="15"/>
                    </a:cubicBezTo>
                    <a:cubicBezTo>
                      <a:pt x="532" y="0"/>
                      <a:pt x="501" y="0"/>
                      <a:pt x="636" y="15"/>
                    </a:cubicBezTo>
                    <a:cubicBezTo>
                      <a:pt x="677" y="20"/>
                      <a:pt x="674" y="44"/>
                      <a:pt x="719" y="61"/>
                    </a:cubicBezTo>
                    <a:cubicBezTo>
                      <a:pt x="759" y="77"/>
                      <a:pt x="799" y="91"/>
                      <a:pt x="839" y="107"/>
                    </a:cubicBezTo>
                    <a:cubicBezTo>
                      <a:pt x="861" y="128"/>
                      <a:pt x="878" y="147"/>
                      <a:pt x="895" y="172"/>
                    </a:cubicBezTo>
                    <a:cubicBezTo>
                      <a:pt x="908" y="211"/>
                      <a:pt x="941" y="260"/>
                      <a:pt x="969" y="292"/>
                    </a:cubicBezTo>
                    <a:cubicBezTo>
                      <a:pt x="983" y="308"/>
                      <a:pt x="1000" y="323"/>
                      <a:pt x="1015" y="338"/>
                    </a:cubicBezTo>
                    <a:cubicBezTo>
                      <a:pt x="1024" y="347"/>
                      <a:pt x="1042" y="365"/>
                      <a:pt x="1042" y="365"/>
                    </a:cubicBezTo>
                    <a:cubicBezTo>
                      <a:pt x="1045" y="374"/>
                      <a:pt x="1049" y="384"/>
                      <a:pt x="1052" y="393"/>
                    </a:cubicBezTo>
                    <a:cubicBezTo>
                      <a:pt x="1058" y="411"/>
                      <a:pt x="1070" y="448"/>
                      <a:pt x="1070" y="448"/>
                    </a:cubicBezTo>
                    <a:cubicBezTo>
                      <a:pt x="1095" y="702"/>
                      <a:pt x="1137" y="991"/>
                      <a:pt x="849" y="1085"/>
                    </a:cubicBezTo>
                    <a:cubicBezTo>
                      <a:pt x="790" y="1104"/>
                      <a:pt x="726" y="1092"/>
                      <a:pt x="664" y="1095"/>
                    </a:cubicBezTo>
                    <a:cubicBezTo>
                      <a:pt x="566" y="1092"/>
                      <a:pt x="467" y="1091"/>
                      <a:pt x="369" y="1085"/>
                    </a:cubicBezTo>
                    <a:cubicBezTo>
                      <a:pt x="362" y="1085"/>
                      <a:pt x="343" y="1076"/>
                      <a:pt x="350" y="1076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5196" name="Freeform 140">
                <a:extLst>
                  <a:ext uri="{FF2B5EF4-FFF2-40B4-BE49-F238E27FC236}">
                    <a16:creationId xmlns:a16="http://schemas.microsoft.com/office/drawing/2014/main" id="{87A2EBFF-7A36-DF4B-8BCF-760ED7329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951"/>
                <a:ext cx="1140" cy="858"/>
              </a:xfrm>
              <a:custGeom>
                <a:avLst/>
                <a:gdLst>
                  <a:gd name="T0" fmla="*/ 133 w 1140"/>
                  <a:gd name="T1" fmla="*/ 27 h 858"/>
                  <a:gd name="T2" fmla="*/ 13 w 1140"/>
                  <a:gd name="T3" fmla="*/ 166 h 858"/>
                  <a:gd name="T4" fmla="*/ 32 w 1140"/>
                  <a:gd name="T5" fmla="*/ 323 h 858"/>
                  <a:gd name="T6" fmla="*/ 59 w 1140"/>
                  <a:gd name="T7" fmla="*/ 341 h 858"/>
                  <a:gd name="T8" fmla="*/ 244 w 1140"/>
                  <a:gd name="T9" fmla="*/ 415 h 858"/>
                  <a:gd name="T10" fmla="*/ 318 w 1140"/>
                  <a:gd name="T11" fmla="*/ 434 h 858"/>
                  <a:gd name="T12" fmla="*/ 383 w 1140"/>
                  <a:gd name="T13" fmla="*/ 489 h 858"/>
                  <a:gd name="T14" fmla="*/ 447 w 1140"/>
                  <a:gd name="T15" fmla="*/ 507 h 858"/>
                  <a:gd name="T16" fmla="*/ 521 w 1140"/>
                  <a:gd name="T17" fmla="*/ 591 h 858"/>
                  <a:gd name="T18" fmla="*/ 623 w 1140"/>
                  <a:gd name="T19" fmla="*/ 664 h 858"/>
                  <a:gd name="T20" fmla="*/ 632 w 1140"/>
                  <a:gd name="T21" fmla="*/ 692 h 858"/>
                  <a:gd name="T22" fmla="*/ 650 w 1140"/>
                  <a:gd name="T23" fmla="*/ 720 h 858"/>
                  <a:gd name="T24" fmla="*/ 678 w 1140"/>
                  <a:gd name="T25" fmla="*/ 775 h 858"/>
                  <a:gd name="T26" fmla="*/ 733 w 1140"/>
                  <a:gd name="T27" fmla="*/ 840 h 858"/>
                  <a:gd name="T28" fmla="*/ 789 w 1140"/>
                  <a:gd name="T29" fmla="*/ 858 h 858"/>
                  <a:gd name="T30" fmla="*/ 1093 w 1140"/>
                  <a:gd name="T31" fmla="*/ 812 h 858"/>
                  <a:gd name="T32" fmla="*/ 1139 w 1140"/>
                  <a:gd name="T33" fmla="*/ 729 h 858"/>
                  <a:gd name="T34" fmla="*/ 1047 w 1140"/>
                  <a:gd name="T35" fmla="*/ 480 h 858"/>
                  <a:gd name="T36" fmla="*/ 863 w 1140"/>
                  <a:gd name="T37" fmla="*/ 314 h 858"/>
                  <a:gd name="T38" fmla="*/ 807 w 1140"/>
                  <a:gd name="T39" fmla="*/ 240 h 858"/>
                  <a:gd name="T40" fmla="*/ 779 w 1140"/>
                  <a:gd name="T41" fmla="*/ 184 h 858"/>
                  <a:gd name="T42" fmla="*/ 770 w 1140"/>
                  <a:gd name="T43" fmla="*/ 157 h 858"/>
                  <a:gd name="T44" fmla="*/ 604 w 1140"/>
                  <a:gd name="T45" fmla="*/ 9 h 858"/>
                  <a:gd name="T46" fmla="*/ 410 w 1140"/>
                  <a:gd name="T47" fmla="*/ 0 h 858"/>
                  <a:gd name="T48" fmla="*/ 198 w 1140"/>
                  <a:gd name="T49" fmla="*/ 9 h 858"/>
                  <a:gd name="T50" fmla="*/ 143 w 1140"/>
                  <a:gd name="T51" fmla="*/ 27 h 858"/>
                  <a:gd name="T52" fmla="*/ 133 w 1140"/>
                  <a:gd name="T53" fmla="*/ 27 h 8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40" h="858">
                    <a:moveTo>
                      <a:pt x="133" y="27"/>
                    </a:moveTo>
                    <a:cubicBezTo>
                      <a:pt x="70" y="50"/>
                      <a:pt x="35" y="105"/>
                      <a:pt x="13" y="166"/>
                    </a:cubicBezTo>
                    <a:cubicBezTo>
                      <a:pt x="17" y="219"/>
                      <a:pt x="0" y="281"/>
                      <a:pt x="32" y="323"/>
                    </a:cubicBezTo>
                    <a:cubicBezTo>
                      <a:pt x="39" y="332"/>
                      <a:pt x="51" y="334"/>
                      <a:pt x="59" y="341"/>
                    </a:cubicBezTo>
                    <a:cubicBezTo>
                      <a:pt x="137" y="408"/>
                      <a:pt x="129" y="403"/>
                      <a:pt x="244" y="415"/>
                    </a:cubicBezTo>
                    <a:cubicBezTo>
                      <a:pt x="268" y="423"/>
                      <a:pt x="294" y="425"/>
                      <a:pt x="318" y="434"/>
                    </a:cubicBezTo>
                    <a:cubicBezTo>
                      <a:pt x="348" y="445"/>
                      <a:pt x="357" y="476"/>
                      <a:pt x="383" y="489"/>
                    </a:cubicBezTo>
                    <a:cubicBezTo>
                      <a:pt x="403" y="499"/>
                      <a:pt x="426" y="500"/>
                      <a:pt x="447" y="507"/>
                    </a:cubicBezTo>
                    <a:cubicBezTo>
                      <a:pt x="473" y="533"/>
                      <a:pt x="491" y="568"/>
                      <a:pt x="521" y="591"/>
                    </a:cubicBezTo>
                    <a:cubicBezTo>
                      <a:pt x="556" y="617"/>
                      <a:pt x="592" y="634"/>
                      <a:pt x="623" y="664"/>
                    </a:cubicBezTo>
                    <a:cubicBezTo>
                      <a:pt x="626" y="673"/>
                      <a:pt x="628" y="683"/>
                      <a:pt x="632" y="692"/>
                    </a:cubicBezTo>
                    <a:cubicBezTo>
                      <a:pt x="637" y="702"/>
                      <a:pt x="646" y="710"/>
                      <a:pt x="650" y="720"/>
                    </a:cubicBezTo>
                    <a:cubicBezTo>
                      <a:pt x="674" y="778"/>
                      <a:pt x="641" y="740"/>
                      <a:pt x="678" y="775"/>
                    </a:cubicBezTo>
                    <a:cubicBezTo>
                      <a:pt x="688" y="805"/>
                      <a:pt x="702" y="826"/>
                      <a:pt x="733" y="840"/>
                    </a:cubicBezTo>
                    <a:cubicBezTo>
                      <a:pt x="751" y="848"/>
                      <a:pt x="789" y="858"/>
                      <a:pt x="789" y="858"/>
                    </a:cubicBezTo>
                    <a:cubicBezTo>
                      <a:pt x="905" y="852"/>
                      <a:pt x="988" y="847"/>
                      <a:pt x="1093" y="812"/>
                    </a:cubicBezTo>
                    <a:cubicBezTo>
                      <a:pt x="1135" y="749"/>
                      <a:pt x="1123" y="778"/>
                      <a:pt x="1139" y="729"/>
                    </a:cubicBezTo>
                    <a:cubicBezTo>
                      <a:pt x="1130" y="585"/>
                      <a:pt x="1140" y="569"/>
                      <a:pt x="1047" y="480"/>
                    </a:cubicBezTo>
                    <a:cubicBezTo>
                      <a:pt x="1022" y="402"/>
                      <a:pt x="924" y="363"/>
                      <a:pt x="863" y="314"/>
                    </a:cubicBezTo>
                    <a:cubicBezTo>
                      <a:pt x="839" y="295"/>
                      <a:pt x="807" y="240"/>
                      <a:pt x="807" y="240"/>
                    </a:cubicBezTo>
                    <a:cubicBezTo>
                      <a:pt x="786" y="152"/>
                      <a:pt x="814" y="242"/>
                      <a:pt x="779" y="184"/>
                    </a:cubicBezTo>
                    <a:cubicBezTo>
                      <a:pt x="774" y="176"/>
                      <a:pt x="775" y="165"/>
                      <a:pt x="770" y="157"/>
                    </a:cubicBezTo>
                    <a:cubicBezTo>
                      <a:pt x="733" y="90"/>
                      <a:pt x="678" y="33"/>
                      <a:pt x="604" y="9"/>
                    </a:cubicBezTo>
                    <a:cubicBezTo>
                      <a:pt x="542" y="29"/>
                      <a:pt x="474" y="9"/>
                      <a:pt x="410" y="0"/>
                    </a:cubicBezTo>
                    <a:cubicBezTo>
                      <a:pt x="339" y="3"/>
                      <a:pt x="268" y="2"/>
                      <a:pt x="198" y="9"/>
                    </a:cubicBezTo>
                    <a:cubicBezTo>
                      <a:pt x="179" y="11"/>
                      <a:pt x="162" y="27"/>
                      <a:pt x="143" y="27"/>
                    </a:cubicBezTo>
                    <a:cubicBezTo>
                      <a:pt x="140" y="27"/>
                      <a:pt x="136" y="27"/>
                      <a:pt x="133" y="2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5197" name="Freeform 141">
                <a:extLst>
                  <a:ext uri="{FF2B5EF4-FFF2-40B4-BE49-F238E27FC236}">
                    <a16:creationId xmlns:a16="http://schemas.microsoft.com/office/drawing/2014/main" id="{4757CC23-D494-EA40-AD22-167AB6A6F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1" y="831"/>
                <a:ext cx="1191" cy="1454"/>
              </a:xfrm>
              <a:custGeom>
                <a:avLst/>
                <a:gdLst>
                  <a:gd name="T0" fmla="*/ 27 w 1191"/>
                  <a:gd name="T1" fmla="*/ 387 h 1454"/>
                  <a:gd name="T2" fmla="*/ 74 w 1191"/>
                  <a:gd name="T3" fmla="*/ 461 h 1454"/>
                  <a:gd name="T4" fmla="*/ 212 w 1191"/>
                  <a:gd name="T5" fmla="*/ 480 h 1454"/>
                  <a:gd name="T6" fmla="*/ 231 w 1191"/>
                  <a:gd name="T7" fmla="*/ 498 h 1454"/>
                  <a:gd name="T8" fmla="*/ 258 w 1191"/>
                  <a:gd name="T9" fmla="*/ 507 h 1454"/>
                  <a:gd name="T10" fmla="*/ 267 w 1191"/>
                  <a:gd name="T11" fmla="*/ 535 h 1454"/>
                  <a:gd name="T12" fmla="*/ 314 w 1191"/>
                  <a:gd name="T13" fmla="*/ 609 h 1454"/>
                  <a:gd name="T14" fmla="*/ 341 w 1191"/>
                  <a:gd name="T15" fmla="*/ 692 h 1454"/>
                  <a:gd name="T16" fmla="*/ 351 w 1191"/>
                  <a:gd name="T17" fmla="*/ 720 h 1454"/>
                  <a:gd name="T18" fmla="*/ 360 w 1191"/>
                  <a:gd name="T19" fmla="*/ 1089 h 1454"/>
                  <a:gd name="T20" fmla="*/ 609 w 1191"/>
                  <a:gd name="T21" fmla="*/ 1320 h 1454"/>
                  <a:gd name="T22" fmla="*/ 701 w 1191"/>
                  <a:gd name="T23" fmla="*/ 1366 h 1454"/>
                  <a:gd name="T24" fmla="*/ 812 w 1191"/>
                  <a:gd name="T25" fmla="*/ 1403 h 1454"/>
                  <a:gd name="T26" fmla="*/ 1163 w 1191"/>
                  <a:gd name="T27" fmla="*/ 1357 h 1454"/>
                  <a:gd name="T28" fmla="*/ 1191 w 1191"/>
                  <a:gd name="T29" fmla="*/ 1274 h 1454"/>
                  <a:gd name="T30" fmla="*/ 1163 w 1191"/>
                  <a:gd name="T31" fmla="*/ 757 h 1454"/>
                  <a:gd name="T32" fmla="*/ 1135 w 1191"/>
                  <a:gd name="T33" fmla="*/ 627 h 1454"/>
                  <a:gd name="T34" fmla="*/ 1126 w 1191"/>
                  <a:gd name="T35" fmla="*/ 581 h 1454"/>
                  <a:gd name="T36" fmla="*/ 1107 w 1191"/>
                  <a:gd name="T37" fmla="*/ 563 h 1454"/>
                  <a:gd name="T38" fmla="*/ 997 w 1191"/>
                  <a:gd name="T39" fmla="*/ 443 h 1454"/>
                  <a:gd name="T40" fmla="*/ 914 w 1191"/>
                  <a:gd name="T41" fmla="*/ 360 h 1454"/>
                  <a:gd name="T42" fmla="*/ 858 w 1191"/>
                  <a:gd name="T43" fmla="*/ 267 h 1454"/>
                  <a:gd name="T44" fmla="*/ 664 w 1191"/>
                  <a:gd name="T45" fmla="*/ 138 h 1454"/>
                  <a:gd name="T46" fmla="*/ 563 w 1191"/>
                  <a:gd name="T47" fmla="*/ 92 h 1454"/>
                  <a:gd name="T48" fmla="*/ 434 w 1191"/>
                  <a:gd name="T49" fmla="*/ 37 h 1454"/>
                  <a:gd name="T50" fmla="*/ 332 w 1191"/>
                  <a:gd name="T51" fmla="*/ 0 h 1454"/>
                  <a:gd name="T52" fmla="*/ 138 w 1191"/>
                  <a:gd name="T53" fmla="*/ 9 h 1454"/>
                  <a:gd name="T54" fmla="*/ 64 w 1191"/>
                  <a:gd name="T55" fmla="*/ 27 h 1454"/>
                  <a:gd name="T56" fmla="*/ 18 w 1191"/>
                  <a:gd name="T57" fmla="*/ 64 h 1454"/>
                  <a:gd name="T58" fmla="*/ 0 w 1191"/>
                  <a:gd name="T59" fmla="*/ 120 h 1454"/>
                  <a:gd name="T60" fmla="*/ 9 w 1191"/>
                  <a:gd name="T61" fmla="*/ 267 h 1454"/>
                  <a:gd name="T62" fmla="*/ 27 w 1191"/>
                  <a:gd name="T63" fmla="*/ 387 h 145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191" h="1454">
                    <a:moveTo>
                      <a:pt x="27" y="387"/>
                    </a:moveTo>
                    <a:cubicBezTo>
                      <a:pt x="48" y="408"/>
                      <a:pt x="50" y="455"/>
                      <a:pt x="74" y="461"/>
                    </a:cubicBezTo>
                    <a:cubicBezTo>
                      <a:pt x="119" y="472"/>
                      <a:pt x="166" y="471"/>
                      <a:pt x="212" y="480"/>
                    </a:cubicBezTo>
                    <a:cubicBezTo>
                      <a:pt x="218" y="486"/>
                      <a:pt x="223" y="494"/>
                      <a:pt x="231" y="498"/>
                    </a:cubicBezTo>
                    <a:cubicBezTo>
                      <a:pt x="239" y="503"/>
                      <a:pt x="251" y="500"/>
                      <a:pt x="258" y="507"/>
                    </a:cubicBezTo>
                    <a:cubicBezTo>
                      <a:pt x="265" y="514"/>
                      <a:pt x="262" y="527"/>
                      <a:pt x="267" y="535"/>
                    </a:cubicBezTo>
                    <a:cubicBezTo>
                      <a:pt x="283" y="562"/>
                      <a:pt x="303" y="576"/>
                      <a:pt x="314" y="609"/>
                    </a:cubicBezTo>
                    <a:cubicBezTo>
                      <a:pt x="323" y="637"/>
                      <a:pt x="332" y="664"/>
                      <a:pt x="341" y="692"/>
                    </a:cubicBezTo>
                    <a:cubicBezTo>
                      <a:pt x="344" y="701"/>
                      <a:pt x="351" y="720"/>
                      <a:pt x="351" y="720"/>
                    </a:cubicBezTo>
                    <a:cubicBezTo>
                      <a:pt x="354" y="843"/>
                      <a:pt x="354" y="966"/>
                      <a:pt x="360" y="1089"/>
                    </a:cubicBezTo>
                    <a:cubicBezTo>
                      <a:pt x="365" y="1206"/>
                      <a:pt x="510" y="1296"/>
                      <a:pt x="609" y="1320"/>
                    </a:cubicBezTo>
                    <a:cubicBezTo>
                      <a:pt x="675" y="1364"/>
                      <a:pt x="643" y="1352"/>
                      <a:pt x="701" y="1366"/>
                    </a:cubicBezTo>
                    <a:cubicBezTo>
                      <a:pt x="740" y="1391"/>
                      <a:pt x="764" y="1395"/>
                      <a:pt x="812" y="1403"/>
                    </a:cubicBezTo>
                    <a:cubicBezTo>
                      <a:pt x="1026" y="1397"/>
                      <a:pt x="1061" y="1454"/>
                      <a:pt x="1163" y="1357"/>
                    </a:cubicBezTo>
                    <a:cubicBezTo>
                      <a:pt x="1184" y="1292"/>
                      <a:pt x="1174" y="1319"/>
                      <a:pt x="1191" y="1274"/>
                    </a:cubicBezTo>
                    <a:cubicBezTo>
                      <a:pt x="1185" y="1059"/>
                      <a:pt x="1179" y="945"/>
                      <a:pt x="1163" y="757"/>
                    </a:cubicBezTo>
                    <a:cubicBezTo>
                      <a:pt x="1154" y="653"/>
                      <a:pt x="1168" y="690"/>
                      <a:pt x="1135" y="627"/>
                    </a:cubicBezTo>
                    <a:cubicBezTo>
                      <a:pt x="1132" y="612"/>
                      <a:pt x="1132" y="595"/>
                      <a:pt x="1126" y="581"/>
                    </a:cubicBezTo>
                    <a:cubicBezTo>
                      <a:pt x="1123" y="573"/>
                      <a:pt x="1113" y="570"/>
                      <a:pt x="1107" y="563"/>
                    </a:cubicBezTo>
                    <a:cubicBezTo>
                      <a:pt x="1070" y="520"/>
                      <a:pt x="1038" y="480"/>
                      <a:pt x="997" y="443"/>
                    </a:cubicBezTo>
                    <a:cubicBezTo>
                      <a:pt x="968" y="417"/>
                      <a:pt x="936" y="393"/>
                      <a:pt x="914" y="360"/>
                    </a:cubicBezTo>
                    <a:cubicBezTo>
                      <a:pt x="894" y="330"/>
                      <a:pt x="880" y="295"/>
                      <a:pt x="858" y="267"/>
                    </a:cubicBezTo>
                    <a:cubicBezTo>
                      <a:pt x="815" y="212"/>
                      <a:pt x="729" y="159"/>
                      <a:pt x="664" y="138"/>
                    </a:cubicBezTo>
                    <a:cubicBezTo>
                      <a:pt x="631" y="116"/>
                      <a:pt x="602" y="102"/>
                      <a:pt x="563" y="92"/>
                    </a:cubicBezTo>
                    <a:cubicBezTo>
                      <a:pt x="522" y="61"/>
                      <a:pt x="484" y="49"/>
                      <a:pt x="434" y="37"/>
                    </a:cubicBezTo>
                    <a:cubicBezTo>
                      <a:pt x="400" y="19"/>
                      <a:pt x="368" y="12"/>
                      <a:pt x="332" y="0"/>
                    </a:cubicBezTo>
                    <a:cubicBezTo>
                      <a:pt x="267" y="3"/>
                      <a:pt x="202" y="3"/>
                      <a:pt x="138" y="9"/>
                    </a:cubicBezTo>
                    <a:cubicBezTo>
                      <a:pt x="113" y="12"/>
                      <a:pt x="64" y="27"/>
                      <a:pt x="64" y="27"/>
                    </a:cubicBezTo>
                    <a:cubicBezTo>
                      <a:pt x="58" y="32"/>
                      <a:pt x="23" y="54"/>
                      <a:pt x="18" y="64"/>
                    </a:cubicBezTo>
                    <a:cubicBezTo>
                      <a:pt x="9" y="82"/>
                      <a:pt x="0" y="120"/>
                      <a:pt x="0" y="120"/>
                    </a:cubicBezTo>
                    <a:cubicBezTo>
                      <a:pt x="3" y="169"/>
                      <a:pt x="3" y="218"/>
                      <a:pt x="9" y="267"/>
                    </a:cubicBezTo>
                    <a:cubicBezTo>
                      <a:pt x="18" y="331"/>
                      <a:pt x="43" y="329"/>
                      <a:pt x="27" y="38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sp>
          <p:nvSpPr>
            <p:cNvPr id="45230" name="Text Box 174">
              <a:extLst>
                <a:ext uri="{FF2B5EF4-FFF2-40B4-BE49-F238E27FC236}">
                  <a16:creationId xmlns:a16="http://schemas.microsoft.com/office/drawing/2014/main" id="{AF9235FF-688C-AB41-BF8C-F2256DD15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" y="2220"/>
              <a:ext cx="104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GB" sz="1800" i="1" dirty="0" err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Por</a:t>
              </a:r>
              <a:r>
                <a:rPr lang="en-GB" sz="1800" i="1" dirty="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 </a:t>
              </a:r>
              <a:r>
                <a:rPr lang="en-GB" sz="1800" i="1" dirty="0" err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dominios</a:t>
              </a:r>
              <a:endParaRPr lang="en-GB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5234" name="Group 178">
            <a:extLst>
              <a:ext uri="{FF2B5EF4-FFF2-40B4-BE49-F238E27FC236}">
                <a16:creationId xmlns:a16="http://schemas.microsoft.com/office/drawing/2014/main" id="{40B8E364-BDB6-3443-BF67-38DA42F4FBB8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4267200"/>
            <a:ext cx="3375025" cy="2082800"/>
            <a:chOff x="720" y="2688"/>
            <a:chExt cx="2304" cy="1312"/>
          </a:xfrm>
        </p:grpSpPr>
        <p:grpSp>
          <p:nvGrpSpPr>
            <p:cNvPr id="134161" name="Group 167">
              <a:extLst>
                <a:ext uri="{FF2B5EF4-FFF2-40B4-BE49-F238E27FC236}">
                  <a16:creationId xmlns:a16="http://schemas.microsoft.com/office/drawing/2014/main" id="{9BB591EE-3FE7-684F-A5EA-F4C4E3670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688"/>
              <a:ext cx="2304" cy="1312"/>
              <a:chOff x="3312" y="2640"/>
              <a:chExt cx="2304" cy="1312"/>
            </a:xfrm>
          </p:grpSpPr>
          <p:sp>
            <p:nvSpPr>
              <p:cNvPr id="45061" name="Oval 5">
                <a:extLst>
                  <a:ext uri="{FF2B5EF4-FFF2-40B4-BE49-F238E27FC236}">
                    <a16:creationId xmlns:a16="http://schemas.microsoft.com/office/drawing/2014/main" id="{CBC682F8-C3ED-284C-A441-763BAFFF5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120"/>
                <a:ext cx="388" cy="3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 sz="3000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  <a:endParaRPr lang="en-GB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63" name="Rectangle 7">
                <a:extLst>
                  <a:ext uri="{FF2B5EF4-FFF2-40B4-BE49-F238E27FC236}">
                    <a16:creationId xmlns:a16="http://schemas.microsoft.com/office/drawing/2014/main" id="{895F397A-45AF-A141-9470-4C72DB97A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4" y="3706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64" name="Rectangle 8">
                <a:extLst>
                  <a:ext uri="{FF2B5EF4-FFF2-40B4-BE49-F238E27FC236}">
                    <a16:creationId xmlns:a16="http://schemas.microsoft.com/office/drawing/2014/main" id="{C5799A95-D80A-2345-AE9D-630FDE609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" y="3552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65" name="Rectangle 9">
                <a:extLst>
                  <a:ext uri="{FF2B5EF4-FFF2-40B4-BE49-F238E27FC236}">
                    <a16:creationId xmlns:a16="http://schemas.microsoft.com/office/drawing/2014/main" id="{EB56692C-22F3-3840-8E5E-8EF671C3F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091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66" name="Rectangle 10">
                <a:extLst>
                  <a:ext uri="{FF2B5EF4-FFF2-40B4-BE49-F238E27FC236}">
                    <a16:creationId xmlns:a16="http://schemas.microsoft.com/office/drawing/2014/main" id="{CD2571EB-D663-1E43-8F5C-8F7B975EC0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8" y="2640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67" name="Rectangle 11">
                <a:extLst>
                  <a:ext uri="{FF2B5EF4-FFF2-40B4-BE49-F238E27FC236}">
                    <a16:creationId xmlns:a16="http://schemas.microsoft.com/office/drawing/2014/main" id="{DAEF30BE-12DF-9342-A971-8BCEC187C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3" y="3700"/>
                <a:ext cx="245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68" name="Rectangle 12">
                <a:extLst>
                  <a:ext uri="{FF2B5EF4-FFF2-40B4-BE49-F238E27FC236}">
                    <a16:creationId xmlns:a16="http://schemas.microsoft.com/office/drawing/2014/main" id="{6552716D-492F-5A48-A489-7E0CFBCE4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0" y="2681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69" name="Rectangle 13">
                <a:extLst>
                  <a:ext uri="{FF2B5EF4-FFF2-40B4-BE49-F238E27FC236}">
                    <a16:creationId xmlns:a16="http://schemas.microsoft.com/office/drawing/2014/main" id="{4AFE4928-E45D-9C47-A87A-8EB309165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0" y="3168"/>
                <a:ext cx="246" cy="246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cxnSp>
            <p:nvCxnSpPr>
              <p:cNvPr id="45071" name="AutoShape 15">
                <a:extLst>
                  <a:ext uri="{FF2B5EF4-FFF2-40B4-BE49-F238E27FC236}">
                    <a16:creationId xmlns:a16="http://schemas.microsoft.com/office/drawing/2014/main" id="{B6276013-4DAB-BA4E-AE22-59A923838246}"/>
                  </a:ext>
                </a:extLst>
              </p:cNvPr>
              <p:cNvCxnSpPr>
                <a:cxnSpLocks noChangeShapeType="1"/>
                <a:stCxn id="45068" idx="2"/>
                <a:endCxn id="45061" idx="0"/>
              </p:cNvCxnSpPr>
              <p:nvPr/>
            </p:nvCxnSpPr>
            <p:spPr bwMode="auto">
              <a:xfrm>
                <a:off x="3763" y="2927"/>
                <a:ext cx="127" cy="19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072" name="AutoShape 16">
                <a:extLst>
                  <a:ext uri="{FF2B5EF4-FFF2-40B4-BE49-F238E27FC236}">
                    <a16:creationId xmlns:a16="http://schemas.microsoft.com/office/drawing/2014/main" id="{21A514C0-1457-9E45-B6F6-39ACC08635C4}"/>
                  </a:ext>
                </a:extLst>
              </p:cNvPr>
              <p:cNvCxnSpPr>
                <a:cxnSpLocks noChangeShapeType="1"/>
                <a:stCxn id="45065" idx="3"/>
                <a:endCxn id="45061" idx="2"/>
              </p:cNvCxnSpPr>
              <p:nvPr/>
            </p:nvCxnSpPr>
            <p:spPr bwMode="auto">
              <a:xfrm>
                <a:off x="3558" y="3214"/>
                <a:ext cx="138" cy="1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073" name="AutoShape 17">
                <a:extLst>
                  <a:ext uri="{FF2B5EF4-FFF2-40B4-BE49-F238E27FC236}">
                    <a16:creationId xmlns:a16="http://schemas.microsoft.com/office/drawing/2014/main" id="{88ED4182-1963-AE40-9A09-55799C7DFCB2}"/>
                  </a:ext>
                </a:extLst>
              </p:cNvPr>
              <p:cNvCxnSpPr>
                <a:cxnSpLocks noChangeShapeType="1"/>
                <a:stCxn id="45063" idx="3"/>
                <a:endCxn id="45061" idx="4"/>
              </p:cNvCxnSpPr>
              <p:nvPr/>
            </p:nvCxnSpPr>
            <p:spPr bwMode="auto">
              <a:xfrm flipV="1">
                <a:off x="3680" y="3508"/>
                <a:ext cx="208" cy="32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074" name="AutoShape 18">
                <a:extLst>
                  <a:ext uri="{FF2B5EF4-FFF2-40B4-BE49-F238E27FC236}">
                    <a16:creationId xmlns:a16="http://schemas.microsoft.com/office/drawing/2014/main" id="{B205BFE9-4C96-CF4D-AA11-758ABBA0142F}"/>
                  </a:ext>
                </a:extLst>
              </p:cNvPr>
              <p:cNvCxnSpPr>
                <a:cxnSpLocks noChangeShapeType="1"/>
                <a:stCxn id="45067" idx="0"/>
                <a:endCxn id="45207" idx="3"/>
              </p:cNvCxnSpPr>
              <p:nvPr/>
            </p:nvCxnSpPr>
            <p:spPr bwMode="auto">
              <a:xfrm flipV="1">
                <a:off x="4656" y="3609"/>
                <a:ext cx="183" cy="9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075" name="AutoShape 19">
                <a:extLst>
                  <a:ext uri="{FF2B5EF4-FFF2-40B4-BE49-F238E27FC236}">
                    <a16:creationId xmlns:a16="http://schemas.microsoft.com/office/drawing/2014/main" id="{531B7C4C-2127-6948-8B0C-8C531BB30A09}"/>
                  </a:ext>
                </a:extLst>
              </p:cNvPr>
              <p:cNvCxnSpPr>
                <a:cxnSpLocks noChangeShapeType="1"/>
                <a:stCxn id="45064" idx="1"/>
                <a:endCxn id="45207" idx="6"/>
              </p:cNvCxnSpPr>
              <p:nvPr/>
            </p:nvCxnSpPr>
            <p:spPr bwMode="auto">
              <a:xfrm flipH="1" flipV="1">
                <a:off x="5041" y="3526"/>
                <a:ext cx="194" cy="14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076" name="AutoShape 20">
                <a:extLst>
                  <a:ext uri="{FF2B5EF4-FFF2-40B4-BE49-F238E27FC236}">
                    <a16:creationId xmlns:a16="http://schemas.microsoft.com/office/drawing/2014/main" id="{1D766A09-2EBE-C647-9874-E4824770A5F4}"/>
                  </a:ext>
                </a:extLst>
              </p:cNvPr>
              <p:cNvCxnSpPr>
                <a:cxnSpLocks noChangeShapeType="1"/>
                <a:stCxn id="45069" idx="1"/>
                <a:endCxn id="45220" idx="6"/>
              </p:cNvCxnSpPr>
              <p:nvPr/>
            </p:nvCxnSpPr>
            <p:spPr bwMode="auto">
              <a:xfrm flipH="1" flipV="1">
                <a:off x="5184" y="3146"/>
                <a:ext cx="186" cy="14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207" name="Oval 151">
                <a:extLst>
                  <a:ext uri="{FF2B5EF4-FFF2-40B4-BE49-F238E27FC236}">
                    <a16:creationId xmlns:a16="http://schemas.microsoft.com/office/drawing/2014/main" id="{6F723663-2B8B-0E4E-AC73-A99F30E33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" y="3408"/>
                <a:ext cx="236" cy="2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sp>
            <p:nvSpPr>
              <p:cNvPr id="45208" name="AutoShape 152">
                <a:extLst>
                  <a:ext uri="{FF2B5EF4-FFF2-40B4-BE49-F238E27FC236}">
                    <a16:creationId xmlns:a16="http://schemas.microsoft.com/office/drawing/2014/main" id="{949CB7EE-5D3D-3944-A4C8-6928F3BE6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072"/>
                <a:ext cx="479" cy="480"/>
              </a:xfrm>
              <a:prstGeom prst="diamond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M</a:t>
                </a:r>
              </a:p>
            </p:txBody>
          </p:sp>
          <p:cxnSp>
            <p:nvCxnSpPr>
              <p:cNvPr id="45210" name="AutoShape 154">
                <a:extLst>
                  <a:ext uri="{FF2B5EF4-FFF2-40B4-BE49-F238E27FC236}">
                    <a16:creationId xmlns:a16="http://schemas.microsoft.com/office/drawing/2014/main" id="{E0AEFA0A-FA62-AC4C-AF05-812A3072745C}"/>
                  </a:ext>
                </a:extLst>
              </p:cNvPr>
              <p:cNvCxnSpPr>
                <a:cxnSpLocks noChangeShapeType="1"/>
                <a:stCxn id="45061" idx="6"/>
                <a:endCxn id="45208" idx="1"/>
              </p:cNvCxnSpPr>
              <p:nvPr/>
            </p:nvCxnSpPr>
            <p:spPr bwMode="auto">
              <a:xfrm flipV="1">
                <a:off x="4084" y="3312"/>
                <a:ext cx="141" cy="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211" name="AutoShape 155">
                <a:extLst>
                  <a:ext uri="{FF2B5EF4-FFF2-40B4-BE49-F238E27FC236}">
                    <a16:creationId xmlns:a16="http://schemas.microsoft.com/office/drawing/2014/main" id="{7F738CEE-47AB-E446-ADCA-BFA82D18F527}"/>
                  </a:ext>
                </a:extLst>
              </p:cNvPr>
              <p:cNvCxnSpPr>
                <a:cxnSpLocks noChangeShapeType="1"/>
                <a:stCxn id="45207" idx="1"/>
                <a:endCxn id="45208" idx="3"/>
              </p:cNvCxnSpPr>
              <p:nvPr/>
            </p:nvCxnSpPr>
            <p:spPr bwMode="auto">
              <a:xfrm flipH="1" flipV="1">
                <a:off x="4704" y="3312"/>
                <a:ext cx="135" cy="13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5220" name="Oval 164">
                <a:extLst>
                  <a:ext uri="{FF2B5EF4-FFF2-40B4-BE49-F238E27FC236}">
                    <a16:creationId xmlns:a16="http://schemas.microsoft.com/office/drawing/2014/main" id="{12F875CF-993A-C342-A16F-C136FD366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3028"/>
                <a:ext cx="240" cy="2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O</a:t>
                </a:r>
              </a:p>
            </p:txBody>
          </p:sp>
          <p:cxnSp>
            <p:nvCxnSpPr>
              <p:cNvPr id="45221" name="AutoShape 165">
                <a:extLst>
                  <a:ext uri="{FF2B5EF4-FFF2-40B4-BE49-F238E27FC236}">
                    <a16:creationId xmlns:a16="http://schemas.microsoft.com/office/drawing/2014/main" id="{951013A2-CB53-114F-8B2A-DD54E749027F}"/>
                  </a:ext>
                </a:extLst>
              </p:cNvPr>
              <p:cNvCxnSpPr>
                <a:cxnSpLocks noChangeShapeType="1"/>
                <a:stCxn id="45220" idx="7"/>
                <a:endCxn id="45066" idx="2"/>
              </p:cNvCxnSpPr>
              <p:nvPr/>
            </p:nvCxnSpPr>
            <p:spPr bwMode="auto">
              <a:xfrm flipV="1">
                <a:off x="5149" y="2886"/>
                <a:ext cx="2" cy="17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222" name="AutoShape 166">
                <a:extLst>
                  <a:ext uri="{FF2B5EF4-FFF2-40B4-BE49-F238E27FC236}">
                    <a16:creationId xmlns:a16="http://schemas.microsoft.com/office/drawing/2014/main" id="{27AF97C9-DBE5-AA47-9C7E-10D00D269A2B}"/>
                  </a:ext>
                </a:extLst>
              </p:cNvPr>
              <p:cNvCxnSpPr>
                <a:cxnSpLocks noChangeShapeType="1"/>
                <a:stCxn id="45220" idx="2"/>
                <a:endCxn id="45208" idx="3"/>
              </p:cNvCxnSpPr>
              <p:nvPr/>
            </p:nvCxnSpPr>
            <p:spPr bwMode="auto">
              <a:xfrm flipH="1">
                <a:off x="4704" y="3146"/>
                <a:ext cx="243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5231" name="Text Box 175">
              <a:extLst>
                <a:ext uri="{FF2B5EF4-FFF2-40B4-BE49-F238E27FC236}">
                  <a16:creationId xmlns:a16="http://schemas.microsoft.com/office/drawing/2014/main" id="{2F431176-F7B3-394D-815D-08EF8E625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688"/>
              <a:ext cx="81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GB" sz="1800" i="1" dirty="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Software </a:t>
              </a:r>
              <a:r>
                <a:rPr lang="en-GB" sz="1800" i="1" dirty="0" err="1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mediador</a:t>
              </a:r>
              <a:endParaRPr lang="en-GB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5235" name="Group 179">
            <a:extLst>
              <a:ext uri="{FF2B5EF4-FFF2-40B4-BE49-F238E27FC236}">
                <a16:creationId xmlns:a16="http://schemas.microsoft.com/office/drawing/2014/main" id="{A0F83010-CA37-0C4C-B046-6BFD575BD82E}"/>
              </a:ext>
            </a:extLst>
          </p:cNvPr>
          <p:cNvGrpSpPr>
            <a:grpSpLocks/>
          </p:cNvGrpSpPr>
          <p:nvPr/>
        </p:nvGrpSpPr>
        <p:grpSpPr bwMode="auto">
          <a:xfrm>
            <a:off x="5345111" y="4330700"/>
            <a:ext cx="3018811" cy="1958975"/>
            <a:chOff x="3648" y="2728"/>
            <a:chExt cx="2060" cy="1234"/>
          </a:xfrm>
        </p:grpSpPr>
        <p:grpSp>
          <p:nvGrpSpPr>
            <p:cNvPr id="134152" name="Group 171">
              <a:extLst>
                <a:ext uri="{FF2B5EF4-FFF2-40B4-BE49-F238E27FC236}">
                  <a16:creationId xmlns:a16="http://schemas.microsoft.com/office/drawing/2014/main" id="{BA3B4242-1F4A-F04E-A041-ED4D97645B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728"/>
              <a:ext cx="2016" cy="1234"/>
              <a:chOff x="3648" y="2728"/>
              <a:chExt cx="2016" cy="1234"/>
            </a:xfrm>
          </p:grpSpPr>
          <p:sp>
            <p:nvSpPr>
              <p:cNvPr id="45078" name="Rectangle 22">
                <a:extLst>
                  <a:ext uri="{FF2B5EF4-FFF2-40B4-BE49-F238E27FC236}">
                    <a16:creationId xmlns:a16="http://schemas.microsoft.com/office/drawing/2014/main" id="{2E7FCBEB-6329-014A-8CEB-E003E01B9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7" y="3723"/>
                <a:ext cx="238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0" name="Rectangle 24">
                <a:extLst>
                  <a:ext uri="{FF2B5EF4-FFF2-40B4-BE49-F238E27FC236}">
                    <a16:creationId xmlns:a16="http://schemas.microsoft.com/office/drawing/2014/main" id="{2D04B2DD-582C-0346-B851-7CA955BBC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6"/>
                <a:ext cx="239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3" name="Rectangle 27">
                <a:extLst>
                  <a:ext uri="{FF2B5EF4-FFF2-40B4-BE49-F238E27FC236}">
                    <a16:creationId xmlns:a16="http://schemas.microsoft.com/office/drawing/2014/main" id="{2FFFC090-A028-F644-A747-0FB32367A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2728"/>
                <a:ext cx="237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4" name="Rectangle 28">
                <a:extLst>
                  <a:ext uri="{FF2B5EF4-FFF2-40B4-BE49-F238E27FC236}">
                    <a16:creationId xmlns:a16="http://schemas.microsoft.com/office/drawing/2014/main" id="{B3B6D7CF-4AF2-E94E-AC8F-5E2402CF5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5" y="3553"/>
                <a:ext cx="239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24" name="Rectangle 168">
                <a:extLst>
                  <a:ext uri="{FF2B5EF4-FFF2-40B4-BE49-F238E27FC236}">
                    <a16:creationId xmlns:a16="http://schemas.microsoft.com/office/drawing/2014/main" id="{218020AA-8C36-DD42-B598-7FD4003D4B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456"/>
                <a:ext cx="239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25" name="Rectangle 169">
                <a:extLst>
                  <a:ext uri="{FF2B5EF4-FFF2-40B4-BE49-F238E27FC236}">
                    <a16:creationId xmlns:a16="http://schemas.microsoft.com/office/drawing/2014/main" id="{0773B472-73BD-284A-9010-67D66356D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976"/>
                <a:ext cx="239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26" name="Rectangle 170">
                <a:extLst>
                  <a:ext uri="{FF2B5EF4-FFF2-40B4-BE49-F238E27FC236}">
                    <a16:creationId xmlns:a16="http://schemas.microsoft.com/office/drawing/2014/main" id="{8FB2523D-0961-C143-957B-48B2B7764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360"/>
                <a:ext cx="236" cy="239"/>
              </a:xfrm>
              <a:prstGeom prst="rect">
                <a:avLst/>
              </a:prstGeom>
              <a:solidFill>
                <a:srgbClr val="77EB0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buFont typeface="Times New Roman" charset="0"/>
                  <a:buNone/>
                  <a:defRPr/>
                </a:pPr>
                <a:r>
                  <a:rPr lang="en-GB">
                    <a:latin typeface="Arial" charset="0"/>
                    <a:ea typeface="ＭＳ Ｐゴシック" charset="0"/>
                    <a:cs typeface="ＭＳ Ｐゴシック" charset="0"/>
                  </a:rPr>
                  <a:t>A</a:t>
                </a:r>
                <a:endParaRPr lang="en-GB" sz="3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5232" name="Text Box 176">
              <a:extLst>
                <a:ext uri="{FF2B5EF4-FFF2-40B4-BE49-F238E27FC236}">
                  <a16:creationId xmlns:a16="http://schemas.microsoft.com/office/drawing/2014/main" id="{69799AC5-5154-4F45-8821-92C3602A4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736"/>
              <a:ext cx="4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GB" sz="1800" i="1" dirty="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nada</a:t>
              </a:r>
              <a:endParaRPr lang="en-GB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888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17B2-0CA3-C940-8983-0380B315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Algunos consejos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E1D6-E0A9-9944-85C2-4DF60F8F6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ontología no necesita tener toda la información posible sobre el dominio</a:t>
            </a:r>
          </a:p>
          <a:p>
            <a:pPr lvl="1"/>
            <a:r>
              <a:rPr lang="es-ES" dirty="0"/>
              <a:t>No es necesario especializar ni generalizar más que lo que la aplicación necesite</a:t>
            </a:r>
          </a:p>
          <a:p>
            <a:pPr lvl="1"/>
            <a:r>
              <a:rPr lang="es-ES" dirty="0"/>
              <a:t>No hace falta incluir todas las posibles propiedades de una clase</a:t>
            </a:r>
          </a:p>
          <a:p>
            <a:pPr lvl="2"/>
            <a:r>
              <a:rPr lang="es-ES" dirty="0"/>
              <a:t>Solo las más relevantes</a:t>
            </a:r>
          </a:p>
          <a:p>
            <a:pPr lvl="2"/>
            <a:r>
              <a:rPr lang="es-ES" dirty="0"/>
              <a:t>Solo las que la aplicación necesite</a:t>
            </a:r>
          </a:p>
          <a:p>
            <a:r>
              <a:rPr lang="es-ES" dirty="0"/>
              <a:t>Separa </a:t>
            </a:r>
            <a:r>
              <a:rPr lang="es-ES" dirty="0" err="1"/>
              <a:t>Tbox</a:t>
            </a:r>
            <a:r>
              <a:rPr lang="es-ES" dirty="0"/>
              <a:t> del </a:t>
            </a:r>
            <a:r>
              <a:rPr lang="es-ES" dirty="0" err="1"/>
              <a:t>Abox</a:t>
            </a:r>
            <a:r>
              <a:rPr lang="es-ES" dirty="0"/>
              <a:t>. Separa conceptos de alto nivel de los de dominio </a:t>
            </a:r>
            <a:r>
              <a:rPr lang="es-ES" dirty="0" err="1"/>
              <a:t>modularizando</a:t>
            </a:r>
            <a:r>
              <a:rPr lang="es-ES" dirty="0"/>
              <a:t>. Importa las </a:t>
            </a:r>
            <a:r>
              <a:rPr lang="es-ES"/>
              <a:t>diferentes partes para unir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A24BA-9051-5F42-9BE3-C133639A9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76348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>
            <a:extLst>
              <a:ext uri="{FF2B5EF4-FFF2-40B4-BE49-F238E27FC236}">
                <a16:creationId xmlns:a16="http://schemas.microsoft.com/office/drawing/2014/main" id="{F3B10B6D-7936-F549-B3EF-1FC36DDD3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Algunos consejos</a:t>
            </a:r>
          </a:p>
        </p:txBody>
      </p:sp>
      <p:sp>
        <p:nvSpPr>
          <p:cNvPr id="47106" name="Text Box 2">
            <a:extLst>
              <a:ext uri="{FF2B5EF4-FFF2-40B4-BE49-F238E27FC236}">
                <a16:creationId xmlns:a16="http://schemas.microsoft.com/office/drawing/2014/main" id="{F312EC65-9634-B847-8214-59DFE5B55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/>
              <a:t>No </a:t>
            </a:r>
            <a:r>
              <a:rPr lang="en-US" sz="2200" b="0" dirty="0" err="1"/>
              <a:t>incluir</a:t>
            </a:r>
            <a:r>
              <a:rPr lang="en-US" sz="2200" b="0" dirty="0"/>
              <a:t> versions </a:t>
            </a:r>
            <a:r>
              <a:rPr lang="en-US" sz="2200" b="0" dirty="0" err="1"/>
              <a:t>en</a:t>
            </a:r>
            <a:r>
              <a:rPr lang="en-US" sz="2200" b="0" dirty="0"/>
              <a:t> singular y </a:t>
            </a:r>
            <a:r>
              <a:rPr lang="en-US" sz="2200" b="0" dirty="0" err="1"/>
              <a:t>en</a:t>
            </a:r>
            <a:r>
              <a:rPr lang="en-US" sz="2200" b="0" dirty="0"/>
              <a:t> plural de </a:t>
            </a:r>
            <a:r>
              <a:rPr lang="en-US" sz="2200" b="0" dirty="0" err="1"/>
              <a:t>una</a:t>
            </a:r>
            <a:r>
              <a:rPr lang="en-US" sz="2200" b="0" dirty="0"/>
              <a:t> palabra (</a:t>
            </a:r>
            <a:r>
              <a:rPr lang="en-US" sz="2200" b="0" dirty="0" err="1"/>
              <a:t>usa</a:t>
            </a:r>
            <a:r>
              <a:rPr lang="en-US" sz="2200" b="0" dirty="0"/>
              <a:t> solo </a:t>
            </a:r>
            <a:r>
              <a:rPr lang="en-US" sz="2200" b="0" dirty="0" err="1"/>
              <a:t>una</a:t>
            </a:r>
            <a:r>
              <a:rPr lang="en-US" sz="2200" b="0" dirty="0"/>
              <a:t> </a:t>
            </a:r>
            <a:r>
              <a:rPr lang="en-US" sz="2200" b="0" dirty="0" err="1"/>
              <a:t>manera</a:t>
            </a:r>
            <a:r>
              <a:rPr lang="en-US" sz="2200" b="0" dirty="0"/>
              <a:t> de forma </a:t>
            </a:r>
            <a:r>
              <a:rPr lang="en-US" sz="2200" b="0" dirty="0" err="1"/>
              <a:t>consistente</a:t>
            </a:r>
            <a:r>
              <a:rPr lang="en-US" sz="2200" b="0" dirty="0"/>
              <a:t>). </a:t>
            </a:r>
          </a:p>
          <a:p>
            <a:pPr algn="just">
              <a:spcBef>
                <a:spcPts val="550"/>
              </a:spcBef>
              <a:buClrTx/>
              <a:buSzPct val="75000"/>
              <a:buFontTx/>
              <a:buNone/>
              <a:defRPr/>
            </a:pP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/>
              <a:t>Los </a:t>
            </a:r>
            <a:r>
              <a:rPr lang="en-US" sz="2200" b="0" dirty="0" err="1"/>
              <a:t>nombres</a:t>
            </a:r>
            <a:r>
              <a:rPr lang="en-US" sz="2200" b="0" dirty="0"/>
              <a:t> no son </a:t>
            </a:r>
            <a:r>
              <a:rPr lang="en-US" sz="2200" b="0" dirty="0" err="1"/>
              <a:t>clases</a:t>
            </a:r>
            <a:endParaRPr lang="en-US" sz="2200" b="0" dirty="0"/>
          </a:p>
          <a:p>
            <a:pPr lvl="1"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000" b="0" dirty="0" err="1"/>
              <a:t>Pueden</a:t>
            </a:r>
            <a:r>
              <a:rPr lang="en-US" sz="2000" b="0" dirty="0"/>
              <a:t> </a:t>
            </a:r>
            <a:r>
              <a:rPr lang="en-US" sz="2000" b="0" dirty="0" err="1"/>
              <a:t>haber</a:t>
            </a:r>
            <a:r>
              <a:rPr lang="en-US" sz="2000" b="0" dirty="0"/>
              <a:t> sin</a:t>
            </a:r>
            <a:r>
              <a:rPr lang="es-ES" sz="2000" b="0" dirty="0" err="1"/>
              <a:t>ónimos</a:t>
            </a:r>
            <a:r>
              <a:rPr lang="es-ES" sz="2000" b="0" dirty="0"/>
              <a:t>, pero todas representar la misma clase</a:t>
            </a:r>
            <a:endParaRPr lang="en-US" sz="2000" b="0" dirty="0"/>
          </a:p>
          <a:p>
            <a:pPr algn="just">
              <a:spcBef>
                <a:spcPts val="550"/>
              </a:spcBef>
              <a:buClrTx/>
              <a:buSzPct val="75000"/>
              <a:buFontTx/>
              <a:buNone/>
              <a:defRPr/>
            </a:pP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 err="1"/>
              <a:t>Aseg</a:t>
            </a:r>
            <a:r>
              <a:rPr lang="es-ES" sz="2200" b="0" dirty="0" err="1"/>
              <a:t>úrate</a:t>
            </a:r>
            <a:r>
              <a:rPr lang="es-ES" sz="2200" b="0" dirty="0"/>
              <a:t> de que la jerarquía es consistente</a:t>
            </a:r>
            <a:endParaRPr lang="en-US" sz="2200" b="0" dirty="0"/>
          </a:p>
          <a:p>
            <a:pPr algn="just">
              <a:spcBef>
                <a:spcPts val="550"/>
              </a:spcBef>
              <a:buClrTx/>
              <a:buSzPct val="75000"/>
              <a:buFontTx/>
              <a:buNone/>
              <a:defRPr/>
            </a:pP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 err="1"/>
              <a:t>Vigila</a:t>
            </a:r>
            <a:r>
              <a:rPr lang="en-US" sz="2200" b="0" dirty="0"/>
              <a:t> con las </a:t>
            </a:r>
            <a:r>
              <a:rPr lang="en-US" sz="2200" b="0" dirty="0" err="1"/>
              <a:t>relaciones</a:t>
            </a:r>
            <a:r>
              <a:rPr lang="en-US" sz="2200" b="0" dirty="0"/>
              <a:t> </a:t>
            </a:r>
            <a:r>
              <a:rPr lang="en-US" sz="2200" b="0" dirty="0" err="1"/>
              <a:t>transistivas</a:t>
            </a:r>
            <a:r>
              <a:rPr lang="en-US" sz="2200" b="0" dirty="0"/>
              <a:t> y </a:t>
            </a:r>
            <a:r>
              <a:rPr lang="en-US" sz="2200" b="0" dirty="0" err="1"/>
              <a:t>verifica</a:t>
            </a:r>
            <a:r>
              <a:rPr lang="en-US" sz="2200" b="0" dirty="0"/>
              <a:t> que </a:t>
            </a:r>
            <a:r>
              <a:rPr lang="en-US" sz="2200" b="0" dirty="0" err="1"/>
              <a:t>sean</a:t>
            </a:r>
            <a:r>
              <a:rPr lang="en-US" sz="2200" b="0" dirty="0"/>
              <a:t> </a:t>
            </a:r>
            <a:r>
              <a:rPr lang="en-US" sz="2200" b="0" dirty="0" err="1"/>
              <a:t>correctas</a:t>
            </a:r>
            <a:endParaRPr lang="en-US" sz="2200" b="0" dirty="0"/>
          </a:p>
          <a:p>
            <a:pPr algn="just">
              <a:spcBef>
                <a:spcPts val="550"/>
              </a:spcBef>
              <a:buClrTx/>
              <a:buSzPct val="75000"/>
              <a:buFontTx/>
              <a:buNone/>
              <a:defRPr/>
            </a:pP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/>
              <a:t>Evita </a:t>
            </a:r>
            <a:r>
              <a:rPr lang="en-US" sz="2200" b="0" dirty="0" err="1"/>
              <a:t>ciclos</a:t>
            </a:r>
            <a:r>
              <a:rPr lang="en-US" sz="2200" b="0" dirty="0"/>
              <a:t> </a:t>
            </a:r>
            <a:r>
              <a:rPr lang="en-US" sz="2200" b="0" dirty="0" err="1"/>
              <a:t>en</a:t>
            </a:r>
            <a:r>
              <a:rPr lang="en-US" sz="2200" b="0" dirty="0"/>
              <a:t> la </a:t>
            </a:r>
            <a:r>
              <a:rPr lang="en-US" sz="2200" b="0" dirty="0" err="1"/>
              <a:t>jerarqu</a:t>
            </a:r>
            <a:r>
              <a:rPr lang="es-ES" sz="2200" b="0" dirty="0" err="1"/>
              <a:t>ía</a:t>
            </a:r>
            <a:endParaRPr lang="en-US" sz="2200" b="0" dirty="0"/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8F267302-3CBD-8141-BBDE-05BC048BE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BF16DD11-C748-A64E-A470-BDB1FB121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FA503721-FEF1-AE4E-85F6-32FAA87D833B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9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30149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>
            <a:extLst>
              <a:ext uri="{FF2B5EF4-FFF2-40B4-BE49-F238E27FC236}">
                <a16:creationId xmlns:a16="http://schemas.microsoft.com/office/drawing/2014/main" id="{7C61A273-F79A-2046-95A9-2D0A1AE32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Algunos consejos</a:t>
            </a:r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5A36D876-FB03-BD41-AC5C-465B08C78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43000"/>
            <a:ext cx="7391400" cy="480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 err="1"/>
              <a:t>Todas</a:t>
            </a:r>
            <a:r>
              <a:rPr lang="en-US" sz="2200" b="0" dirty="0"/>
              <a:t> las </a:t>
            </a:r>
            <a:r>
              <a:rPr lang="en-US" sz="2200" b="0" dirty="0" err="1"/>
              <a:t>subclases</a:t>
            </a:r>
            <a:r>
              <a:rPr lang="en-US" sz="2200" b="0" dirty="0"/>
              <a:t> de </a:t>
            </a:r>
            <a:r>
              <a:rPr lang="en-US" sz="2200" b="0" dirty="0" err="1"/>
              <a:t>una</a:t>
            </a:r>
            <a:r>
              <a:rPr lang="en-US" sz="2200" b="0" dirty="0"/>
              <a:t> </a:t>
            </a:r>
            <a:r>
              <a:rPr lang="en-US" sz="2200" b="0" dirty="0" err="1"/>
              <a:t>clase</a:t>
            </a:r>
            <a:r>
              <a:rPr lang="en-US" sz="2200" b="0" dirty="0"/>
              <a:t> </a:t>
            </a:r>
            <a:r>
              <a:rPr lang="en-US" sz="2200" b="0" dirty="0" err="1"/>
              <a:t>deber</a:t>
            </a:r>
            <a:r>
              <a:rPr lang="es-ES" sz="2200" b="0" dirty="0" err="1"/>
              <a:t>ían</a:t>
            </a:r>
            <a:r>
              <a:rPr lang="es-ES" sz="2200" b="0" dirty="0"/>
              <a:t> tener el mismo nivel de generalidad</a:t>
            </a: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/>
              <a:t>No hay un </a:t>
            </a:r>
            <a:r>
              <a:rPr lang="en-US" sz="2200" b="0" dirty="0" err="1"/>
              <a:t>criterio</a:t>
            </a:r>
            <a:r>
              <a:rPr lang="en-US" sz="2200" b="0" dirty="0"/>
              <a:t> con </a:t>
            </a:r>
            <a:r>
              <a:rPr lang="en-US" sz="2200" b="0" dirty="0" err="1"/>
              <a:t>respecto</a:t>
            </a:r>
            <a:r>
              <a:rPr lang="en-US" sz="2200" b="0" dirty="0"/>
              <a:t> a la </a:t>
            </a:r>
            <a:r>
              <a:rPr lang="en-US" sz="2200" b="0" dirty="0" err="1"/>
              <a:t>cantidad</a:t>
            </a:r>
            <a:r>
              <a:rPr lang="en-US" sz="2200" b="0" dirty="0"/>
              <a:t> de </a:t>
            </a:r>
            <a:r>
              <a:rPr lang="en-US" sz="2200" b="0" dirty="0" err="1"/>
              <a:t>clases</a:t>
            </a:r>
            <a:r>
              <a:rPr lang="en-US" sz="2200" b="0" dirty="0"/>
              <a:t>. La </a:t>
            </a:r>
            <a:r>
              <a:rPr lang="en-US" sz="2200" b="0" dirty="0" err="1"/>
              <a:t>experiencia</a:t>
            </a:r>
            <a:r>
              <a:rPr lang="en-US" sz="2200" b="0" dirty="0"/>
              <a:t> dice que entre 2 y 12, </a:t>
            </a:r>
            <a:r>
              <a:rPr lang="en-US" sz="2200" b="0" dirty="0" err="1"/>
              <a:t>momento</a:t>
            </a:r>
            <a:r>
              <a:rPr lang="en-US" sz="2200" b="0" dirty="0"/>
              <a:t> </a:t>
            </a:r>
            <a:r>
              <a:rPr lang="en-US" sz="2200" b="0" dirty="0" err="1"/>
              <a:t>en</a:t>
            </a:r>
            <a:r>
              <a:rPr lang="en-US" sz="2200" b="0" dirty="0"/>
              <a:t> que </a:t>
            </a:r>
            <a:r>
              <a:rPr lang="en-US" sz="2200" b="0" dirty="0" err="1"/>
              <a:t>estructurar</a:t>
            </a:r>
            <a:r>
              <a:rPr lang="es-ES" sz="2200" b="0" dirty="0" err="1"/>
              <a:t>ía</a:t>
            </a:r>
            <a:r>
              <a:rPr lang="es-ES" sz="2200" b="0" dirty="0"/>
              <a:t> añadiendo subclases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s-ES" sz="2000" b="0" dirty="0"/>
              <a:t>¿Cuándo introducimos nuevas clases?</a:t>
            </a:r>
            <a:endParaRPr lang="en-US" sz="20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 err="1"/>
              <a:t>Normalmente</a:t>
            </a:r>
            <a:r>
              <a:rPr lang="en-US" sz="2200" b="0" dirty="0"/>
              <a:t> </a:t>
            </a:r>
            <a:r>
              <a:rPr lang="en-US" sz="2200" b="0" dirty="0" err="1"/>
              <a:t>es</a:t>
            </a:r>
            <a:r>
              <a:rPr lang="en-US" sz="2200" b="0" dirty="0"/>
              <a:t> </a:t>
            </a:r>
            <a:r>
              <a:rPr lang="en-US" sz="2200" b="0" dirty="0" err="1"/>
              <a:t>inc</a:t>
            </a:r>
            <a:r>
              <a:rPr lang="es-ES" sz="2200" b="0" dirty="0" err="1"/>
              <a:t>ómodo</a:t>
            </a:r>
            <a:r>
              <a:rPr lang="es-ES" sz="2200" b="0" dirty="0"/>
              <a:t> navegar con jerarquías muy planas o muy profundas; elegid un término medio. Algunas indicaciones: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s-ES" sz="2000" b="0" dirty="0"/>
              <a:t>Las nuevas clases deberían tener propiedades adicionales que no tiene la superclase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s-ES" sz="2000" b="0" dirty="0"/>
              <a:t>Tienen diferentes restricciones. Participan en relaciones diferentes</a:t>
            </a:r>
            <a:endParaRPr lang="en-US" sz="2000" dirty="0"/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295B8C61-628D-8045-9467-C29B74754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CBBB8C85-6E35-DF44-9B2C-C9D481005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FF0F83DA-C46D-9B47-98EE-19D8D9120515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10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117911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7B8517B0-F8F8-A443-8B37-28C6FE5F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Algunos consejos</a:t>
            </a:r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11C0DA47-E43A-044F-8E73-D6FF4BEB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/>
              <a:t>¿Cu</a:t>
            </a:r>
            <a:r>
              <a:rPr lang="es-ES" sz="2200" b="0" dirty="0" err="1"/>
              <a:t>ándo</a:t>
            </a:r>
            <a:r>
              <a:rPr lang="es-ES" sz="2200" b="0" dirty="0"/>
              <a:t> deberíamos usar una propiedad o crear una clase?</a:t>
            </a:r>
            <a:endParaRPr lang="en-US" sz="2200" b="0" dirty="0"/>
          </a:p>
          <a:p>
            <a:pPr lvl="1" algn="just">
              <a:buClr>
                <a:srgbClr val="006699"/>
              </a:buClr>
              <a:buSzPct val="50000"/>
              <a:buFont typeface="Wingdings" charset="0"/>
              <a:buChar char=""/>
              <a:defRPr/>
            </a:pPr>
            <a:r>
              <a:rPr lang="en-US" sz="2000" b="0" dirty="0"/>
              <a:t>A </a:t>
            </a:r>
            <a:r>
              <a:rPr lang="en-US" sz="2000" b="0" dirty="0" err="1"/>
              <a:t>veces</a:t>
            </a:r>
            <a:r>
              <a:rPr lang="en-US" sz="2000" b="0" dirty="0"/>
              <a:t> un </a:t>
            </a:r>
            <a:r>
              <a:rPr lang="en-US" sz="2000" b="0" dirty="0" err="1"/>
              <a:t>atributo</a:t>
            </a:r>
            <a:r>
              <a:rPr lang="en-US" sz="2000" b="0" dirty="0"/>
              <a:t> </a:t>
            </a:r>
            <a:r>
              <a:rPr lang="en-US" sz="2000" b="0" dirty="0" err="1"/>
              <a:t>es</a:t>
            </a:r>
            <a:r>
              <a:rPr lang="en-US" sz="2000" b="0" dirty="0"/>
              <a:t> lo </a:t>
            </a:r>
            <a:r>
              <a:rPr lang="en-US" sz="2000" b="0" dirty="0" err="1"/>
              <a:t>suficientemente</a:t>
            </a:r>
            <a:r>
              <a:rPr lang="en-US" sz="2000" b="0" dirty="0"/>
              <a:t> </a:t>
            </a:r>
            <a:r>
              <a:rPr lang="en-US" sz="2000" b="0" dirty="0" err="1"/>
              <a:t>importante</a:t>
            </a:r>
            <a:r>
              <a:rPr lang="en-US" sz="2000" b="0" dirty="0"/>
              <a:t> para considerer que </a:t>
            </a:r>
            <a:r>
              <a:rPr lang="en-US" sz="2000" b="0" dirty="0" err="1"/>
              <a:t>sus</a:t>
            </a:r>
            <a:r>
              <a:rPr lang="en-US" sz="2000" b="0" dirty="0"/>
              <a:t> </a:t>
            </a:r>
            <a:r>
              <a:rPr lang="en-US" sz="2000" b="0" dirty="0" err="1"/>
              <a:t>diferentes</a:t>
            </a:r>
            <a:r>
              <a:rPr lang="en-US" sz="2000" b="0" dirty="0"/>
              <a:t> </a:t>
            </a:r>
            <a:r>
              <a:rPr lang="en-US" sz="2000" b="0" dirty="0" err="1"/>
              <a:t>valores</a:t>
            </a:r>
            <a:r>
              <a:rPr lang="en-US" sz="2000" b="0" dirty="0"/>
              <a:t> se </a:t>
            </a:r>
            <a:r>
              <a:rPr lang="en-US" sz="2000" b="0" dirty="0" err="1"/>
              <a:t>corresponden</a:t>
            </a:r>
            <a:r>
              <a:rPr lang="en-US" sz="2000" b="0" dirty="0"/>
              <a:t> con </a:t>
            </a:r>
            <a:r>
              <a:rPr lang="en-US" sz="2000" b="0" dirty="0" err="1"/>
              <a:t>diferentes</a:t>
            </a:r>
            <a:r>
              <a:rPr lang="en-US" sz="2000" b="0" dirty="0"/>
              <a:t> </a:t>
            </a:r>
            <a:r>
              <a:rPr lang="en-US" sz="2000" b="0" dirty="0" err="1"/>
              <a:t>objetos</a:t>
            </a:r>
            <a:r>
              <a:rPr lang="en-US" sz="2000" b="0" dirty="0"/>
              <a:t>	</a:t>
            </a: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/>
              <a:t>Decide </a:t>
            </a:r>
            <a:r>
              <a:rPr lang="en-US" sz="2200" b="0" dirty="0" err="1"/>
              <a:t>en</a:t>
            </a:r>
            <a:r>
              <a:rPr lang="en-US" sz="2200" b="0" dirty="0"/>
              <a:t> </a:t>
            </a:r>
            <a:r>
              <a:rPr lang="en-US" sz="2200" b="0" dirty="0" err="1"/>
              <a:t>qu</a:t>
            </a:r>
            <a:r>
              <a:rPr lang="es-ES" sz="2200" b="0" dirty="0"/>
              <a:t>é nivel estarán las instancias</a:t>
            </a: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 err="1"/>
              <a:t>Piensa</a:t>
            </a:r>
            <a:r>
              <a:rPr lang="en-US" sz="2200" b="0" dirty="0"/>
              <a:t> el m</a:t>
            </a:r>
            <a:r>
              <a:rPr lang="es-ES" sz="2200" b="0" dirty="0" err="1"/>
              <a:t>ínimo</a:t>
            </a:r>
            <a:r>
              <a:rPr lang="es-ES" sz="2200" b="0" dirty="0"/>
              <a:t> nivel de granularidad que necesitarás</a:t>
            </a:r>
            <a:endParaRPr lang="en-US" sz="22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SzPct val="75000"/>
              <a:buFont typeface="Wingdings" charset="0"/>
              <a:buChar char=""/>
              <a:defRPr/>
            </a:pPr>
            <a:r>
              <a:rPr lang="en-US" sz="2200" b="0" dirty="0" err="1"/>
              <a:t>Limita</a:t>
            </a:r>
            <a:r>
              <a:rPr lang="en-US" sz="2200" b="0" dirty="0"/>
              <a:t> el </a:t>
            </a:r>
            <a:r>
              <a:rPr lang="en-US" sz="2200" b="0" dirty="0" err="1"/>
              <a:t>alcance</a:t>
            </a:r>
            <a:r>
              <a:rPr lang="en-US" sz="2200" b="0" dirty="0"/>
              <a:t> de la </a:t>
            </a:r>
            <a:r>
              <a:rPr lang="en-US" sz="2200" b="0" dirty="0" err="1"/>
              <a:t>ontolog</a:t>
            </a:r>
            <a:r>
              <a:rPr lang="es-ES" sz="2200" b="0" dirty="0" err="1"/>
              <a:t>ía</a:t>
            </a:r>
            <a:endParaRPr lang="en-US" sz="2200" b="0" dirty="0"/>
          </a:p>
          <a:p>
            <a:pPr lvl="1" algn="just">
              <a:buClr>
                <a:srgbClr val="006699"/>
              </a:buClr>
              <a:buSzPct val="50000"/>
              <a:buFont typeface="Wingdings" charset="0"/>
              <a:buChar char=""/>
              <a:defRPr/>
            </a:pPr>
            <a:r>
              <a:rPr lang="en-US" sz="2000" b="0" dirty="0"/>
              <a:t>No </a:t>
            </a:r>
            <a:r>
              <a:rPr lang="en-US" sz="2000" b="0" dirty="0" err="1"/>
              <a:t>es</a:t>
            </a:r>
            <a:r>
              <a:rPr lang="en-US" sz="2000" b="0" dirty="0"/>
              <a:t> </a:t>
            </a:r>
            <a:r>
              <a:rPr lang="en-US" sz="2000" b="0" dirty="0" err="1"/>
              <a:t>necesario</a:t>
            </a:r>
            <a:r>
              <a:rPr lang="en-US" sz="2000" b="0" dirty="0"/>
              <a:t> </a:t>
            </a:r>
            <a:r>
              <a:rPr lang="en-US" sz="2000" b="0" dirty="0" err="1"/>
              <a:t>incluir</a:t>
            </a:r>
            <a:r>
              <a:rPr lang="en-US" sz="2000" b="0" dirty="0"/>
              <a:t> </a:t>
            </a:r>
            <a:r>
              <a:rPr lang="en-US" sz="2000" b="0" dirty="0" err="1"/>
              <a:t>toda</a:t>
            </a:r>
            <a:r>
              <a:rPr lang="en-US" sz="2000" b="0" dirty="0"/>
              <a:t> possible </a:t>
            </a:r>
            <a:r>
              <a:rPr lang="en-US" sz="2000" b="0" dirty="0" err="1"/>
              <a:t>clase</a:t>
            </a:r>
            <a:r>
              <a:rPr lang="en-US" sz="2000" b="0" dirty="0"/>
              <a:t> del </a:t>
            </a:r>
            <a:r>
              <a:rPr lang="en-US" sz="2000" b="0" dirty="0" err="1"/>
              <a:t>dominio</a:t>
            </a:r>
            <a:r>
              <a:rPr lang="en-US" sz="2000" b="0" dirty="0"/>
              <a:t>, solo las que la </a:t>
            </a:r>
            <a:r>
              <a:rPr lang="en-US" sz="2000" b="0" dirty="0" err="1"/>
              <a:t>aplicaci</a:t>
            </a:r>
            <a:r>
              <a:rPr lang="es-ES" sz="2000" b="0" dirty="0" err="1"/>
              <a:t>ón</a:t>
            </a:r>
            <a:r>
              <a:rPr lang="es-ES" sz="2000" b="0" dirty="0"/>
              <a:t> necesitará</a:t>
            </a:r>
          </a:p>
          <a:p>
            <a:pPr lvl="1" algn="just">
              <a:buClr>
                <a:srgbClr val="006699"/>
              </a:buClr>
              <a:buSzPct val="50000"/>
              <a:buFont typeface="Wingdings" charset="0"/>
              <a:buChar char=""/>
              <a:defRPr/>
            </a:pPr>
            <a:r>
              <a:rPr lang="es-ES" sz="2000" b="0" dirty="0"/>
              <a:t>Lo mismo se aplica para todos los atributos/restricciones/relaciones posibles</a:t>
            </a:r>
            <a:endParaRPr lang="en-US" sz="2000" b="0" dirty="0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AFA99974-0BBC-0D44-BE40-CA8D37CDA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F25A7586-B12B-8147-AB91-62E0E1C41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B95ACFB-604E-0640-AC5F-A2273BCF94A2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11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300375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7B8517B0-F8F8-A443-8B37-28C6FE5F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Ejercicios</a:t>
            </a:r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11C0DA47-E43A-044F-8E73-D6FF4BEB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000" b="0" dirty="0"/>
              <a:t>Uso del razonador para comprobar la consistencia y clasificar.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000" b="0" dirty="0"/>
              <a:t>¿Es consistente?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000" b="0" dirty="0"/>
              <a:t>¿Se ha clasificado algo?</a:t>
            </a:r>
          </a:p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000" b="0" dirty="0"/>
              <a:t>Crea una instancia que se clasifique como </a:t>
            </a:r>
            <a:r>
              <a:rPr lang="es-ES_tradnl" altLang="es-ES" sz="2000" b="0" dirty="0" err="1"/>
              <a:t>ChessyPizza</a:t>
            </a:r>
            <a:endParaRPr lang="es-ES_tradnl" altLang="es-ES" sz="2000" b="0" dirty="0"/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000" b="0" dirty="0"/>
              <a:t>¿</a:t>
            </a:r>
            <a:r>
              <a:rPr lang="es-ES_tradnl" altLang="es-ES" sz="2000" b="0" dirty="0" err="1"/>
              <a:t>Qu</a:t>
            </a:r>
            <a:r>
              <a:rPr lang="es-ES" altLang="es-ES" sz="2000" b="0" dirty="0"/>
              <a:t>é se ha inferido?</a:t>
            </a:r>
          </a:p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000" b="0" dirty="0"/>
              <a:t>Crea una nueva instancia para demostrar el uso del queso de cabra</a:t>
            </a:r>
            <a:endParaRPr lang="es-ES_tradnl" altLang="es-ES" sz="2000" b="0" dirty="0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AFA99974-0BBC-0D44-BE40-CA8D37CDA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F25A7586-B12B-8147-AB91-62E0E1C41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B95ACFB-604E-0640-AC5F-A2273BCF94A2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12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509369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7B8517B0-F8F8-A443-8B37-28C6FE5F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Ejercicios</a:t>
            </a:r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11C0DA47-E43A-044F-8E73-D6FF4BEB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400" b="0" dirty="0" err="1"/>
              <a:t>Super</a:t>
            </a:r>
            <a:r>
              <a:rPr lang="es-ES_tradnl" altLang="es-ES" sz="2400" b="0" dirty="0"/>
              <a:t> Mario pizza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400" b="0" dirty="0"/>
              <a:t>Crear el </a:t>
            </a:r>
            <a:r>
              <a:rPr lang="es-ES_tradnl" altLang="es-ES" sz="2400" b="0" dirty="0" err="1"/>
              <a:t>topping</a:t>
            </a:r>
            <a:r>
              <a:rPr lang="es-ES_tradnl" altLang="es-ES" sz="2400" b="0" dirty="0"/>
              <a:t> tortuga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_tradnl" altLang="es-ES" sz="2400" b="0" dirty="0"/>
              <a:t>Crear una </a:t>
            </a:r>
            <a:r>
              <a:rPr lang="es-ES_tradnl" altLang="es-ES" sz="2400" b="0" dirty="0" err="1"/>
              <a:t>named</a:t>
            </a:r>
            <a:r>
              <a:rPr lang="es-ES_tradnl" altLang="es-ES" sz="2400" b="0" dirty="0"/>
              <a:t> pizza "SUPER MARIO PIZZA" que tiene como ingredientes champiñones y tortugas pero </a:t>
            </a:r>
            <a:r>
              <a:rPr lang="es-ES_tradnl" altLang="es-ES" sz="2400" b="0" dirty="0" err="1"/>
              <a:t>jam</a:t>
            </a:r>
            <a:r>
              <a:rPr lang="es-ES" altLang="es-ES" sz="2400" b="0" dirty="0" err="1"/>
              <a:t>ás</a:t>
            </a:r>
            <a:r>
              <a:rPr lang="es-ES" altLang="es-ES" sz="2400" b="0" dirty="0"/>
              <a:t> fruta</a:t>
            </a:r>
            <a:r>
              <a:rPr lang="es-ES_tradnl" altLang="es-ES" sz="2400" b="0" dirty="0"/>
              <a:t>. Especificar como </a:t>
            </a:r>
            <a:r>
              <a:rPr lang="es-ES_tradnl" altLang="es-ES" sz="2400" b="0" dirty="0" err="1"/>
              <a:t>necessary</a:t>
            </a:r>
            <a:r>
              <a:rPr lang="es-ES_tradnl" altLang="es-ES" sz="2400" b="0" dirty="0"/>
              <a:t> and </a:t>
            </a:r>
            <a:r>
              <a:rPr lang="es-ES_tradnl" altLang="es-ES" sz="2400" b="0" dirty="0" err="1"/>
              <a:t>sufficient</a:t>
            </a:r>
            <a:r>
              <a:rPr lang="es-ES_tradnl" altLang="es-ES" sz="2400" b="0" dirty="0"/>
              <a:t> </a:t>
            </a:r>
            <a:r>
              <a:rPr lang="es-ES_tradnl" altLang="es-ES" sz="2400" b="0" dirty="0" err="1"/>
              <a:t>condition</a:t>
            </a:r>
            <a:r>
              <a:rPr lang="es-ES_tradnl" altLang="es-ES" sz="2400" b="0" dirty="0"/>
              <a:t>. Crear instancias de la pizza ejecutar el razonador y ver como se clasifica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F25A7586-B12B-8147-AB91-62E0E1C41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B95ACFB-604E-0640-AC5F-A2273BCF94A2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13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261400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7B8517B0-F8F8-A443-8B37-28C6FE5F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Ejercicios</a:t>
            </a:r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11C0DA47-E43A-044F-8E73-D6FF4BEB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Crear una condición necesaria para indicar que una pizza solo puede tener únicamente una base de pizza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¿Qué significa esto?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¿Qué ocurre si creamos un individuo con dos bases?</a:t>
            </a:r>
            <a:endParaRPr lang="es-ES_tradnl" altLang="es-ES" sz="2400" b="0" dirty="0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AFA99974-0BBC-0D44-BE40-CA8D37CDA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F25A7586-B12B-8147-AB91-62E0E1C41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B95ACFB-604E-0640-AC5F-A2273BCF94A2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14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249338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7B8517B0-F8F8-A443-8B37-28C6FE5F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Ejercicios</a:t>
            </a:r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11C0DA47-E43A-044F-8E73-D6FF4BEB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Guarda la ontología en diferentes formatos: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RDF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OWL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 err="1"/>
              <a:t>Turtle</a:t>
            </a:r>
            <a:endParaRPr lang="es-ES" altLang="es-ES" sz="2400" b="0" dirty="0"/>
          </a:p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Ábrelos con un editor de texto y comprueba las diferencias</a:t>
            </a:r>
          </a:p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Edita a mano para añadir instancias y compruébalo en </a:t>
            </a:r>
            <a:r>
              <a:rPr lang="es-ES" altLang="es-ES" sz="2400" b="0" dirty="0" err="1"/>
              <a:t>Protégé</a:t>
            </a:r>
            <a:endParaRPr lang="es-ES_tradnl" altLang="es-ES" sz="2400" b="0" dirty="0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AFA99974-0BBC-0D44-BE40-CA8D37CDA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F25A7586-B12B-8147-AB91-62E0E1C41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B95ACFB-604E-0640-AC5F-A2273BCF94A2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15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51259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7B8517B0-F8F8-A443-8B37-28C6FE5F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Ejercicios</a:t>
            </a:r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11C0DA47-E43A-044F-8E73-D6FF4BEB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Crea una ontología sobre la Familia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Incluye tres niveles de parentesco:</a:t>
            </a:r>
          </a:p>
          <a:p>
            <a:pPr lvl="2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Abuela, Madre, Hija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Distingue género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¿Cómo definirías un tío?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¿Cómo definirías a una suegra?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¿Y a una bisabuela?</a:t>
            </a:r>
          </a:p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 err="1"/>
              <a:t>Bonus</a:t>
            </a:r>
            <a:r>
              <a:rPr lang="es-ES" altLang="es-ES" sz="2400" b="0" dirty="0"/>
              <a:t> extra: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Incluye a las mascotas y define la clase abuela adorable que tiene al menos un gato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Incluye la clase cuñado que tiene solamente un perro y un gato (uno de cada)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endParaRPr lang="es-ES_tradnl" altLang="es-ES" sz="2400" b="0" dirty="0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AFA99974-0BBC-0D44-BE40-CA8D37CDA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F25A7586-B12B-8147-AB91-62E0E1C41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B95ACFB-604E-0640-AC5F-A2273BCF94A2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16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494904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7B8517B0-F8F8-A443-8B37-28C6FE5F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s-ES" sz="2800" b="0" dirty="0">
                <a:solidFill>
                  <a:srgbClr val="000066"/>
                </a:solidFill>
              </a:rPr>
              <a:t>Ejercicios</a:t>
            </a:r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11C0DA47-E43A-044F-8E73-D6FF4BEB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4438"/>
            <a:ext cx="73914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Más </a:t>
            </a:r>
            <a:r>
              <a:rPr lang="es-ES" altLang="es-ES" sz="2400" b="0" dirty="0" err="1"/>
              <a:t>bonus</a:t>
            </a:r>
            <a:r>
              <a:rPr lang="es-ES" altLang="es-ES" sz="2400" b="0" dirty="0"/>
              <a:t>: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Importa la ontología de pizzas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Crea la clase de pizzas que tiene exactamente 4 </a:t>
            </a:r>
            <a:r>
              <a:rPr lang="es-ES" altLang="es-ES" sz="2400" b="0" dirty="0" err="1"/>
              <a:t>toppings</a:t>
            </a:r>
            <a:r>
              <a:rPr lang="es-ES" altLang="es-ES" sz="2400" b="0" dirty="0"/>
              <a:t> de queso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Define una clase de madre de Italia que sabe cocinar al menos 5 tipos diferentes de pizza</a:t>
            </a:r>
          </a:p>
          <a:p>
            <a:pPr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Esto ya va para empezar con la práctica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Busca una ontología de unidades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Define una clase masa de agua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Distingue al menos: contaminada, potable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r>
              <a:rPr lang="es-ES" altLang="es-ES" sz="2400" b="0" dirty="0"/>
              <a:t>Crea lo necesario para crear instancias de masas de agua donde se defina su volumen</a:t>
            </a:r>
          </a:p>
          <a:p>
            <a:pPr lvl="1" algn="just">
              <a:spcBef>
                <a:spcPts val="550"/>
              </a:spcBef>
              <a:buClr>
                <a:srgbClr val="990033"/>
              </a:buClr>
              <a:buFont typeface="Wingdings" pitchFamily="2" charset="2"/>
              <a:buChar char=""/>
              <a:defRPr/>
            </a:pPr>
            <a:endParaRPr lang="es-ES_tradnl" altLang="es-ES" sz="2400" b="0" dirty="0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AFA99974-0BBC-0D44-BE40-CA8D37CDA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b="0"/>
              <a:t>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F25A7586-B12B-8147-AB91-62E0E1C41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B95ACFB-604E-0640-AC5F-A2273BCF94A2}" type="slidenum">
              <a:rPr lang="en-GB" altLang="es-ES" b="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17</a:t>
            </a:fld>
            <a:endParaRPr lang="en-GB" altLang="es-E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522956"/>
      </p:ext>
    </p:extLst>
  </p:cSld>
  <p:clrMapOvr>
    <a:masterClrMapping/>
  </p:clrMapOvr>
  <p:transition advTm="53248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FB2B51-DCE5-FF4A-AE24-D515E37E97E0}" type="slidenum">
              <a:rPr lang="en-GB"/>
              <a:pPr/>
              <a:t>18</a:t>
            </a:fld>
            <a:endParaRPr lang="en-GB"/>
          </a:p>
        </p:txBody>
      </p:sp>
      <p:pic>
        <p:nvPicPr>
          <p:cNvPr id="451595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1516063"/>
            <a:ext cx="7058025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691680" y="4221088"/>
            <a:ext cx="6369050" cy="1743075"/>
          </a:xfrm>
          <a:prstGeom prst="rect">
            <a:avLst/>
          </a:prstGeom>
        </p:spPr>
        <p:txBody>
          <a:bodyPr/>
          <a:lstStyle>
            <a:lvl1pPr marL="342900" indent="-342900" algn="l" defTabSz="7620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90033"/>
              </a:buClr>
              <a:buSzPct val="75000"/>
              <a:buFont typeface="Wingdings" charset="0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SzPct val="65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2pPr>
            <a:lvl3pPr marL="1143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Monotype Sorts" charset="0"/>
              <a:buChar char="u"/>
              <a:defRPr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3pPr>
            <a:lvl4pPr marL="1600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60000"/>
              <a:buFont typeface="Monotype Sorts" charset="0"/>
              <a:buChar char="t"/>
              <a:defRPr sz="16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4pPr>
            <a:lvl5pPr marL="20574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5pPr>
            <a:lvl6pPr marL="25146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6pPr>
            <a:lvl7pPr marL="29718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7pPr>
            <a:lvl8pPr marL="3429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8pPr>
            <a:lvl9pPr marL="3886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2000" dirty="0"/>
              <a:t>Ulises Cortés, Luis Oliva Felipe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{</a:t>
            </a:r>
            <a:r>
              <a:rPr lang="es-ES" sz="1600" dirty="0" err="1"/>
              <a:t>ia,loliva</a:t>
            </a:r>
            <a:r>
              <a:rPr lang="es-ES" sz="1600" dirty="0"/>
              <a:t>}@</a:t>
            </a:r>
            <a:r>
              <a:rPr lang="es-ES" sz="1600" dirty="0" err="1"/>
              <a:t>lsi.upc.edu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http://</a:t>
            </a:r>
            <a:r>
              <a:rPr lang="es-ES" sz="1600" dirty="0" err="1"/>
              <a:t>www.lsi.upc.edu</a:t>
            </a:r>
            <a:r>
              <a:rPr lang="es-ES" sz="1600" dirty="0"/>
              <a:t>/</a:t>
            </a:r>
            <a:r>
              <a:rPr lang="es-ES_tradnl" sz="1400" b="1" noProof="1"/>
              <a:t>{ia,loliva}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2017</a:t>
            </a:r>
            <a:endParaRPr lang="es-ES_tradnl" sz="1600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KEMLg">
  <a:themeElements>
    <a:clrScheme name="KEMLg 8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0000FF"/>
      </a:hlink>
      <a:folHlink>
        <a:srgbClr val="CECECE"/>
      </a:folHlink>
    </a:clrScheme>
    <a:fontScheme name="KEMLg">
      <a:majorFont>
        <a:latin typeface="Tahoma"/>
        <a:ea typeface="ＭＳ Ｐゴシック"/>
        <a:cs typeface="Tahoma"/>
      </a:majorFont>
      <a:minorFont>
        <a:latin typeface="Tahoma"/>
        <a:ea typeface="ＭＳ Ｐゴシック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KEML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ML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8">
        <a:dk1>
          <a:srgbClr val="000000"/>
        </a:dk1>
        <a:lt1>
          <a:srgbClr val="FFFFFF"/>
        </a:lt1>
        <a:dk2>
          <a:srgbClr val="000000"/>
        </a:dk2>
        <a:lt2>
          <a:srgbClr val="919191"/>
        </a:lt2>
        <a:accent1>
          <a:srgbClr val="618FFD"/>
        </a:accent1>
        <a:accent2>
          <a:srgbClr val="00AE00"/>
        </a:accent2>
        <a:accent3>
          <a:srgbClr val="FFFFFF"/>
        </a:accent3>
        <a:accent4>
          <a:srgbClr val="000000"/>
        </a:accent4>
        <a:accent5>
          <a:srgbClr val="B7C6FE"/>
        </a:accent5>
        <a:accent6>
          <a:srgbClr val="009D00"/>
        </a:accent6>
        <a:hlink>
          <a:srgbClr val="0000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11285</TotalTime>
  <Pages>63</Pages>
  <Words>1077</Words>
  <Application>Microsoft Macintosh PowerPoint</Application>
  <PresentationFormat>On-screen Show (4:3)</PresentationFormat>
  <Paragraphs>228</Paragraphs>
  <Slides>18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ＭＳ Ｐゴシック</vt:lpstr>
      <vt:lpstr>Arial</vt:lpstr>
      <vt:lpstr>DejaVu Sans</vt:lpstr>
      <vt:lpstr>Monotype Sorts</vt:lpstr>
      <vt:lpstr>Tahoma</vt:lpstr>
      <vt:lpstr>Times New Roman</vt:lpstr>
      <vt:lpstr>Wingdings</vt:lpstr>
      <vt:lpstr>KEMLg</vt:lpstr>
      <vt:lpstr>Image</vt:lpstr>
      <vt:lpstr>Diseño de ontologías y Protégé </vt:lpstr>
      <vt:lpstr>Principios de desarrollo de una ontología (I)</vt:lpstr>
      <vt:lpstr>Principios de desarrollo de una ontología (II)</vt:lpstr>
      <vt:lpstr>Tamaño y alcance de una ontología</vt:lpstr>
      <vt:lpstr>”Ontología grande"</vt:lpstr>
      <vt:lpstr>”Pequeñas ontologías"</vt:lpstr>
      <vt:lpstr>Mix / Otras maneras</vt:lpstr>
      <vt:lpstr>Algunos consejos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KEMLG-UPC</Company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título de diapositiva</dc:title>
  <dc:subject>Curs-Doctorat- SISPD</dc:subject>
  <dc:creator>Miquel Sànchez i Marrè</dc:creator>
  <dc:description>2003</dc:description>
  <cp:lastModifiedBy>Microsoft Office User</cp:lastModifiedBy>
  <cp:revision>435</cp:revision>
  <cp:lastPrinted>2003-07-21T14:29:41Z</cp:lastPrinted>
  <dcterms:created xsi:type="dcterms:W3CDTF">2002-03-05T14:15:09Z</dcterms:created>
  <dcterms:modified xsi:type="dcterms:W3CDTF">2018-03-17T17:44:11Z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C:\temp\pre</vt:lpwstr>
  </property>
</Properties>
</file>